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Title Slide</a:t>
            </a:r>
          </a:p>
          <a:p/>
          <a:p>
            <a:r>
              <a:t>Welcome everyone. Today we're going to walk through Microsoft's approach to detecting, validating, and responding to Cross-Prompt Injection Attacks — or XPIA — in Agent 365 environments.</a:t>
            </a:r>
          </a:p>
          <a:p/>
          <a:p>
            <a:r>
              <a:t>This is specifically tailored for your the customer deployment in a regulated financial services context. We'll be transparent about what works today, what requires configuration, and where genuine gaps exist.</a:t>
            </a:r>
          </a:p>
          <a:p/>
          <a:p>
            <a:r>
              <a:t>Our goal: give you the confidence that AI agents in your environment are governed, auditable, and defensible to regulators.</a:t>
            </a:r>
          </a:p>
          <a:p/>
          <a:p>
            <a:r>
              <a:t>Open with a real scenario: "Your finance team gets an email from what looks like HR asking to bulk-update employee master data. The agent accepts the request, validates it against a policy, and flags it. That's XPIA detection in action."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Executive Summary</a:t>
            </a:r>
          </a:p>
          <a:p/>
          <a:p>
            <a:r>
              <a:t>Start here: "XPIA is not a hypothetical risk. CVE-2025-32711 — EchoLeak — demonstrated that a single crafted email could exfiltrate data via Copilot without any user interaction. This is the exact attack pattern your team identified."</a:t>
            </a:r>
          </a:p>
          <a:p/>
          <a:p>
            <a:r>
              <a:t>Key framing: This is about control, auditability, and regulatory confidence — not preventing every attack, but making every attack detectable and logged.</a:t>
            </a:r>
          </a:p>
          <a:p/>
          <a:p>
            <a:r>
              <a:t>Reference FSI regulatory context: OCC guidance on AI governance, FCA's AI Bill of Rights framing, and the emerging expectation that AI systems must be "explainable and auditable" inside regulated financial processes.</a:t>
            </a:r>
          </a:p>
          <a:p/>
          <a:p>
            <a:r>
              <a:t>Be honest: "We don't claim 100% detection. We claim the most comprehensive governance-layer approach available, and we're transparent about the gaps."</a:t>
            </a:r>
          </a:p>
          <a:p/>
          <a:p>
            <a:r>
              <a:t>Position Agent 365 as a control layer, not a silver bullet.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Understanding XPIA</a:t>
            </a:r>
          </a:p>
          <a:p/>
          <a:p>
            <a:r>
              <a:t>Walk through one email scenario: Show how an attacker's email reaches an agent, what the injection payload looks like, and how Agent 365's governance policies detect it.</a:t>
            </a:r>
          </a:p>
          <a:p/>
          <a:p>
            <a:r>
              <a:t>Key message: "These aren't hypothetical — we've seen these patterns in customer environments."</a:t>
            </a:r>
          </a:p>
          <a:p/>
          <a:p>
            <a:r>
              <a:t>Emphasize: "XDR doesn't see this because from the network layer, it's normal traffic. There are no URLs, no attachments, no malware signatures. The email passes every traditional security check."</a:t>
            </a:r>
          </a:p>
          <a:p/>
          <a:p>
            <a:r>
              <a:t>Highlight regulatory pressure: "Regulators expect you to detect threats inside your AI workflows. XPIA is now a compliance risk, not just a security risk."</a:t>
            </a:r>
          </a:p>
          <a:p/>
          <a:p>
            <a:r>
              <a:t>Grounded, real-world examples — no sci-fi hype. Position Agent 365 as the "agent layer observability" tool, not the entire solution.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Attack Vectors &amp; Flow</a:t>
            </a:r>
          </a:p>
          <a:p/>
          <a:p>
            <a:r>
              <a:t>Walk through the signal flow diagram: "An email arrives in M365. Agent 365's orchestrator retrieves it as grounding data. Before the LLM ever sees the content, Prompt Shields API scans it for injection patterns."</a:t>
            </a:r>
          </a:p>
          <a:p/>
          <a:p>
            <a:r>
              <a:t>Two outcomes: If XPIA is detected → block, log to Defender XDR, generate alert. If clean → process with Spotlighting applied (content marked as data, not instructions), then post-processing check validates the output.</a:t>
            </a:r>
          </a:p>
          <a:p/>
          <a:p>
            <a:r>
              <a:t>For each attack vector, give a concrete the customer example:</a:t>
            </a:r>
          </a:p>
          <a:p>
            <a:r>
              <a:t>- Email: "50 employees get an HR system update email with embedded instructions"</a:t>
            </a:r>
          </a:p>
          <a:p>
            <a:r>
              <a:t>- Document: "Benefits summary PDF with hidden instructions to override leave approval"</a:t>
            </a:r>
          </a:p>
          <a:p>
            <a:r>
              <a:t>- Insider: "Employee with system access crafts payload to exfiltrate customer PII"</a:t>
            </a:r>
          </a:p>
          <a:p>
            <a:r>
              <a:t>- Multi-agent: "Chatbot receives injection, passes it to workflow executor"</a:t>
            </a:r>
          </a:p>
          <a:p>
            <a:r>
              <a:t>- Context poisoning: "Huge document with injection buried on page 47"</a:t>
            </a:r>
          </a:p>
          <a:p/>
          <a:p>
            <a:r>
              <a:t>Acknowledge: "Multi-step injection across multiple sources is the hardest to detect — LOW-MEDIUM confidence currently."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Defense-in-Depth</a:t>
            </a:r>
          </a:p>
          <a:p/>
          <a:p>
            <a:r>
              <a:t>Walk through each layer systematically:</a:t>
            </a:r>
          </a:p>
          <a:p/>
          <a:p>
            <a:r>
              <a:t>PREVENTION: "Before the LLM ever processes content, we isolate untrusted data using Spotlighting. Three modes — delimiting wraps content in markers, datamarking inserts characters that break injection patterns, encoding transforms the content. System prompts are hardened to resist override."</a:t>
            </a:r>
          </a:p>
          <a:p/>
          <a:p>
            <a:r>
              <a:t>DETECTION: "Prompt Shields API runs before AND after LLM processing. Pre-processing catches injection in inputs. Post-processing catches signs of successful injection in outputs. The ML classifier is trained on adversarial datasets including encoding tricks, hidden text, social engineering, and multi-language injection."</a:t>
            </a:r>
          </a:p>
          <a:p/>
          <a:p>
            <a:r>
              <a:t>IMPACT MITIGATION: "Even if detection fails, deterministic blocking stops known exfiltration techniques. Human-in-the-loop requires user consent for sensitive actions. Data governance via Purview DLP and sensitivity labels prevents unauthorized data access."</a:t>
            </a:r>
          </a:p>
          <a:p/>
          <a:p>
            <a:r>
              <a:t>Emphasize: "No single layer is sufficient. Each layer works together. The audit trail is the regulatory foundation — every agent decision, input, output, and flag is recorded."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Security Stack Mapping</a:t>
            </a:r>
          </a:p>
          <a:p/>
          <a:p>
            <a:r>
              <a:t>This table maps every relevant Microsoft security component to its role in XPIA defense.</a:t>
            </a:r>
          </a:p>
          <a:p/>
          <a:p>
            <a:r>
              <a:t>Key points:</a:t>
            </a:r>
          </a:p>
          <a:p>
            <a:r>
              <a:t>- Prompt Shields is the core detection engine — but it only fires when Agent 365 processes content</a:t>
            </a:r>
          </a:p>
          <a:p>
            <a:r>
              <a:t>- Defender XDR sees the consequences but doesn't see the injection itself as a classified threat</a:t>
            </a:r>
          </a:p>
          <a:p>
            <a:r>
              <a:t>- Sentinel is where custom campaign detection lives — KQL development is key</a:t>
            </a:r>
          </a:p>
          <a:p>
            <a:r>
              <a:t>- Purview DSPM for AI is the governance layer — audit trail, risk posture, compliance</a:t>
            </a:r>
          </a:p>
          <a:p>
            <a:r>
              <a:t>- Copilot for Security accelerates investigation — SOC doesn't need deep KQL expertise</a:t>
            </a:r>
          </a:p>
          <a:p/>
          <a:p>
            <a:r>
              <a:t>Acknowledge the honest assessment: "Defender XDR does not provide named, purpose-built alerts for XPIA. The customer's observation that XDR reporting is minimal is correct — because XPIA is not yet a first-class detection category in XDR."</a:t>
            </a:r>
          </a:p>
          <a:p/>
          <a:p>
            <a:r>
              <a:t>Position the integrated stack as the advantage: "No vendor currently offers all of these layers. The integration between them — even with gaps — is the deepest defense-in-depth available."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Signal Flow</a:t>
            </a:r>
          </a:p>
          <a:p/>
          <a:p>
            <a:r>
              <a:t>Walk through the complete lifecycle:</a:t>
            </a:r>
          </a:p>
          <a:p/>
          <a:p>
            <a:r>
              <a:t>1. INGEST: "Email arrives. No URLs, no attachments — traditional security passes it through. But we've configured mail flow rules to pre-flag XPIA patterns."</a:t>
            </a:r>
          </a:p>
          <a:p/>
          <a:p>
            <a:r>
              <a:t>2. DETECT: "When Agent 365 processes this email as grounding data, Prompt Shields scans it before AND after LLM processing. The injection is caught."</a:t>
            </a:r>
          </a:p>
          <a:p/>
          <a:p>
            <a:r>
              <a:t>3. ALERT: "A security alert goes to Defender XDR. The interaction is logged in DSPM. Custom Sentinel rules correlate this with other detections."</a:t>
            </a:r>
          </a:p>
          <a:p/>
          <a:p>
            <a:r>
              <a:t>4. INVESTIGATE: "Your SOC uses Advanced Hunting and Copilot for Security to trace back to the source email, identify the sender, and check if other users were targeted."</a:t>
            </a:r>
          </a:p>
          <a:p/>
          <a:p>
            <a:r>
              <a:t>5. RESPOND: "Based on findings — quarantine the affected agent, block the sender domain, escalate to SOC, create an IRM case if insider threat is suspected."</a:t>
            </a:r>
          </a:p>
          <a:p/>
          <a:p>
            <a:r>
              <a:t>6. AUDIT: "Every step is recorded in an immutable audit trail. You can demonstrate to regulators that you detected, investigated, and responded."</a:t>
            </a:r>
          </a:p>
          <a:p/>
          <a:p>
            <a:r>
              <a:t>Emphasize: "This is what compliance needs to see — not just that you stopped the attack, but that you have the evidence chain."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50-User Email Scenario</a:t>
            </a:r>
          </a:p>
          <a:p/>
          <a:p>
            <a:r>
              <a:t>This is the customer's strongest concern and our biggest gap. Be direct about it.</a:t>
            </a:r>
          </a:p>
          <a:p/>
          <a:p>
            <a:r>
              <a:t>"Today, if 50 users receive emails with embedded prompt injection from the same domain, Defender for Office 365 will NOT flag them as phishing — because they contain no URLs, no attachments, no traditional phishing indicators."</a:t>
            </a:r>
          </a:p>
          <a:p/>
          <a:p>
            <a:r>
              <a:t>"However, we can build detection TODAY using existing tools. Custom KQL queries in Sentinel correlate sender patterns with recipient counts and Copilot security alerts. Exchange mail flow rules can pre-flag emails matching known XPIA patterns."</a:t>
            </a:r>
          </a:p>
          <a:p/>
          <a:p>
            <a:r>
              <a:t>Walk through the KQL approach:</a:t>
            </a:r>
          </a:p>
          <a:p>
            <a:r>
              <a:t>1. Identify emails from a specific sender/domain received by multiple users</a:t>
            </a:r>
          </a:p>
          <a:p>
            <a:r>
              <a:t>2. Cross-reference with Copilot/AI security events</a:t>
            </a:r>
          </a:p>
          <a:p>
            <a:r>
              <a:t>3. Create automated investigation playbooks triggered by these detections</a:t>
            </a:r>
          </a:p>
          <a:p/>
          <a:p>
            <a:r>
              <a:t>"This requires custom KQL development — it's not out-of-the-box. But it's achievable within your existing E5 licensing, and it's something we would help deploy."</a:t>
            </a:r>
          </a:p>
          <a:p/>
          <a:p>
            <a:r>
              <a:t>Acknowledge: "We've filed product feedback for native XPIA content classification in Defender for Office 365 and automated campaign detection for non-URL-based email threats."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Insider Risk Scenario</a:t>
            </a:r>
          </a:p>
          <a:p/>
          <a:p>
            <a:r>
              <a:t>Be transparent: "Purview Insider Risk Management does not natively classify document content as 'containing XPIA.' This is a genuine gap."</a:t>
            </a:r>
          </a:p>
          <a:p/>
          <a:p>
            <a:r>
              <a:t>Walk through the layered workaround:</a:t>
            </a:r>
          </a:p>
          <a:p>
            <a:r>
              <a:t>1. "Create a Custom Sensitive Information Type with XPIA regex patterns — 'ignore previous instructions,' 'you are now,' etc."</a:t>
            </a:r>
          </a:p>
          <a:p>
            <a:r>
              <a:t>2. "Apply a DLP policy that flags documents matching these patterns in SharePoint and OneDrive"</a:t>
            </a:r>
          </a:p>
          <a:p>
            <a:r>
              <a:t>3. "Feed the DLP signal into Insider Risk Management — when a user uploads/shares multiple XPIA-flagged documents, their risk score elevates"</a:t>
            </a:r>
          </a:p>
          <a:p>
            <a:r>
              <a:t>4. "DSPM for AI tracks when Agent 365 interacts with labeled content"</a:t>
            </a:r>
          </a:p>
          <a:p/>
          <a:p>
            <a:r>
              <a:t>Acknowledge limitations: "This catches pattern-based injection — 'ignore all previous instructions.' It won't catch sophisticated encoding or social engineering injection."</a:t>
            </a:r>
          </a:p>
          <a:p/>
          <a:p>
            <a:r>
              <a:t>"The fundamental gap: no tool currently scans documents at rest for embedded XPIA patterns. Detection only occurs when an AI agent processes the document."</a:t>
            </a:r>
          </a:p>
          <a:p/>
          <a:p>
            <a:r>
              <a:t>Position as services opportunity: "These workarounds represent a natural implementation engagement — custom SIT development, DLP configuration, IRM policy tuning."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Threat Actor Attribution</a:t>
            </a:r>
          </a:p>
          <a:p/>
          <a:p>
            <a:r>
              <a:t>This is the 'so what' concern — and it's valid. "Even when RAI and XDR successfully block an XPIA attempt, you currently can't automatically identify WHO attempted it."</a:t>
            </a:r>
          </a:p>
          <a:p/>
          <a:p>
            <a:r>
              <a:t>Walk through the custom attribution pipeline:</a:t>
            </a:r>
          </a:p>
          <a:p>
            <a:r>
              <a:t>"We build a correlation chain: Copilot audit logs capture the blocked event with metadata. We ingest that into Sentinel. We correlate the timestamp and user with email delivery logs. Advanced Hunting identifies the source email, sender, and domain. We trigger an investigation workflow."</a:t>
            </a:r>
          </a:p>
          <a:p/>
          <a:p>
            <a:r>
              <a:t>"This requires custom KQL development — it's not out-of-the-box. But it's achievable today."</a:t>
            </a:r>
          </a:p>
          <a:p/>
          <a:p>
            <a:r>
              <a:t>Be transparent about the product feedback: "We've filed three specific feedback items with Microsoft product groups. These gaps are industry-wide — no vendor currently offers automated XPIA campaign attribution. But Microsoft is actively investing in closing them."</a:t>
            </a:r>
          </a:p>
          <a:p/>
          <a:p>
            <a:r>
              <a:t>Confidence scoring note: "Currently Prompt Shields returns binary true/false. There's no way to threshold detections. Confidence scoring is on the H2 2026 roadmap."</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Detection, Validation &amp; Response Framework</a:t>
            </a:r>
          </a:p>
          <a:p/>
          <a:p>
            <a:r>
              <a:t>Walk through each phase:</a:t>
            </a:r>
          </a:p>
          <a:p/>
          <a:p>
            <a:r>
              <a:t>DETECT: "Agent 365 validates inputs and outputs at the agent gateway. Not every anomaly is an attack — configurable policies distinguish normal variance from genuine XPIA. In customer environments, Prompt Shields provides real-time detection across known XPIA pattern categories with continuous model improvement. Our target is &gt;90% for known patterns, to be validated during pilot."</a:t>
            </a:r>
          </a:p>
          <a:p/>
          <a:p>
            <a:r>
              <a:t>VALIDATE: "You don't have to trust us — you can test it yourself. PyRIT is Microsoft's open-source red team toolkit. Content Safety API is testable. Run your own validation."</a:t>
            </a:r>
          </a:p>
          <a:p/>
          <a:p>
            <a:r>
              <a:t>RESPOND: "Investigation workflow uses Advanced Hunting, Copilot for Security, and custom KQL. For insider scenarios, Purview IRM creates cases with the evidence chain."</a:t>
            </a:r>
          </a:p>
          <a:p/>
          <a:p>
            <a:r>
              <a:t>PREVENT: "These policies go live today — Communication Compliance, DLP for AI prompts, Sentinel automation rules. You walk out with active protection."</a:t>
            </a:r>
          </a:p>
          <a:p/>
          <a:p>
            <a:r>
              <a:t>For the capability matrix, be transparent about each status level. Don't oversell the workarounds as native capabilities.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Gap Analysis</a:t>
            </a:r>
          </a:p>
          <a:p/>
          <a:p>
            <a:r>
              <a:t>This is the most important slide for credibility. Be completely transparent.</a:t>
            </a:r>
          </a:p>
          <a:p/>
          <a:p>
            <a:r>
              <a:t>"We've identified 7 gaps between your requirements and current native capabilities. Let me walk through each one honestly."</a:t>
            </a:r>
          </a:p>
          <a:p/>
          <a:p>
            <a:r>
              <a:t>For each gap, explain:</a:t>
            </a:r>
          </a:p>
          <a:p>
            <a:r>
              <a:t>1. What the gap is</a:t>
            </a:r>
          </a:p>
          <a:p>
            <a:r>
              <a:t>2. Why it exists (not an excuse — a technical explanation)</a:t>
            </a:r>
          </a:p>
          <a:p>
            <a:r>
              <a:t>3. What workaround is available today</a:t>
            </a:r>
          </a:p>
          <a:p>
            <a:r>
              <a:t>4. What's on the roadmap</a:t>
            </a:r>
          </a:p>
          <a:p/>
          <a:p>
            <a:r>
              <a:t>Key competitive positioning: "These gaps are not Microsoft-specific. No vendor currently offers native email-level XPIA scanning, automated campaign correlation, or document-at-rest XPIA detection. The question isn't 'does Microsoft have gaps?' — it's 'who has the deepest available defense?' And the answer is Microsoft's integrated stack."</a:t>
            </a:r>
          </a:p>
          <a:p/>
          <a:p>
            <a:r>
              <a:t>"The workarounds — custom KQL, DLP policies, sensitive information types — are achievable within your existing E5 licensing. This represents a natural services engagement."</a:t>
            </a:r>
          </a:p>
          <a:p/>
          <a:p>
            <a:r>
              <a:t>Close with: "We've filed 6 product feedback items. This isn't just a customer engagement — it's a product influence opportunity for you."</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Roadmap &amp; Product Feedback</a:t>
            </a:r>
          </a:p>
          <a:p/>
          <a:p>
            <a:r>
              <a:t>"Let me show you what's coming and how your feedback is driving the roadmap."</a:t>
            </a:r>
          </a:p>
          <a:p/>
          <a:p>
            <a:r>
              <a:t>Roadmap highlights:</a:t>
            </a:r>
          </a:p>
          <a:p>
            <a:r>
              <a:t>- Unified DSPM experience: H1 2026 GA — single pane of glass for AI governance visibility
- XPIA-specific signals in DSPM: Product feedback filed — timing TBD. Do NOT position as confirmed.</a:t>
            </a:r>
          </a:p>
          <a:p>
            <a:r>
              <a:t>- IRM network detection: Rolling out NOW — catches insider XPIA at the network layer</a:t>
            </a:r>
          </a:p>
          <a:p>
            <a:r>
              <a:t>- Confidence scoring: H2 2026 — finally lets you threshold detections and tune false positives</a:t>
            </a:r>
          </a:p>
          <a:p/>
          <a:p>
            <a:r>
              <a:t>Product feedback: "We've filed 6 specific items with Microsoft product groups on your behalf. This is a product influence opportunity — your voice directly shapes the roadmap."</a:t>
            </a:r>
          </a:p>
          <a:p/>
          <a:p>
            <a:r>
              <a:t>Governance Maturity Curve: "Where are you today? Most organizations are Level 1 — reactive. Where do you want to be in 12 months? Level 2-3 is achievable with Agent 365 + internal process investment."</a:t>
            </a:r>
          </a:p>
          <a:p/>
          <a:p>
            <a:r>
              <a:t>Show the business case: "Level 2 maturity gives you proactive testing capability. Level 3 gives you predictive intelligence. The regulatory confidence you gain is worth the investment in audit efficiency and risk reduction."</a:t>
            </a:r>
          </a:p>
          <a:p/>
          <a:p>
            <a:r>
              <a:t>Position the customer as a governance pioneer if they adopt early.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Demo Plan</a:t>
            </a:r>
          </a:p>
          <a:p/>
          <a:p>
            <a:r>
              <a:t>"We've designed a 90-minute demonstration that mirrors your exact concerns. Five stations, each building on the previous."</a:t>
            </a:r>
          </a:p>
          <a:p/>
          <a:p>
            <a:r>
              <a:t>Station 1 (DETECT): "We start with a realistic attack simulation — no URLs, no attachments, mirrors your 50-user scenario. You'll see Prompt Shields catch the injection in real-time."</a:t>
            </a:r>
          </a:p>
          <a:p/>
          <a:p>
            <a:r>
              <a:t>Station 2 (VALIDATE): "You don't have to trust us. We show you the architecture, run multiple attack variants through Content Safety API, and show you how to test independently."</a:t>
            </a:r>
          </a:p>
          <a:p/>
          <a:p>
            <a:r>
              <a:t>Station 3 (RESPOND): "This is where we address attribution. Custom KQL queries detect campaigns. Copilot for Security accelerates investigation. We show the full attribution chain."</a:t>
            </a:r>
          </a:p>
          <a:p/>
          <a:p>
            <a:r>
              <a:t>Station 4 (PREVENT): "Hands-on policy configuration. Communication Compliance, IRM, DLP, Sentinel rules. You walk out with active protection deployed."</a:t>
            </a:r>
          </a:p>
          <a:p/>
          <a:p>
            <a:r>
              <a:t>Station 5 (ROADMAP): "What's coming, what we're pushing for, and how your feedback shapes the product."</a:t>
            </a:r>
          </a:p>
          <a:p/>
          <a:p>
            <a:r>
              <a:t>Key message: "Station 3 is the hardest — and the most important. We don't skip the hard part."</a:t>
            </a:r>
          </a:p>
          <a:p/>
          <a:p>
            <a:r>
              <a:t>Audience: CISO, Security Architecture, SOC Leadership</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Demo Expectations</a:t>
            </a:r>
          </a:p>
          <a:p/>
          <a:p>
            <a:r>
              <a:t>Walk through the expected outcomes for each station. Set clear expectations.</a:t>
            </a:r>
          </a:p>
          <a:p/>
          <a:p>
            <a:r>
              <a:t>"Station 1: You will see a live XPIA attack blocked in real-time. The email has no malicious URLs — it passes every traditional security check. But Prompt Shields catches the injection."</a:t>
            </a:r>
          </a:p>
          <a:p/>
          <a:p>
            <a:r>
              <a:t>"Station 2: You will run your own tests. We give you the Content Safety API, you submit your own payloads, you see the detection results. Trust but verify."</a:t>
            </a:r>
          </a:p>
          <a:p/>
          <a:p>
            <a:r>
              <a:t>"Station 3: This is the custom work. We show KQL queries that correlate sender patterns with Copilot security alerts. This is what closes the attribution gap."</a:t>
            </a:r>
          </a:p>
          <a:p/>
          <a:p>
            <a:r>
              <a:t>"Station 4: Hands-on configuration. You walk out with active policies deployed."</a:t>
            </a:r>
          </a:p>
          <a:p/>
          <a:p>
            <a:r>
              <a:t>"Station 5: We share the roadmap and confirm the product feedback items we've filed."</a:t>
            </a:r>
          </a:p>
          <a:p/>
          <a:p>
            <a:r>
              <a:t>Prerequisites: "All of this runs on your existing E5 licensing. The only additional component is Azure AI Content Safety, which is consumption-based."</a:t>
            </a:r>
          </a:p>
          <a:p/>
          <a:p>
            <a:r>
              <a:t>Validate all demo steps in test tenant before customer presentation.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Next Steps</a:t>
            </a:r>
          </a:p>
          <a:p/>
          <a:p>
            <a:r>
              <a:t>Three categories of action:</a:t>
            </a:r>
          </a:p>
          <a:p/>
          <a:p>
            <a:r>
              <a:t>IMMEDIATE (This Week):</a:t>
            </a:r>
          </a:p>
          <a:p>
            <a:r>
              <a:t>"We schedule the 90-minute demo. We prepare XPIA test payloads that mirror your scenarios — no malicious URLs, email-based, document-based. We pre-build the Sentinel KQL queries and configure Communication Compliance policies."</a:t>
            </a:r>
          </a:p>
          <a:p/>
          <a:p>
            <a:r>
              <a:t>CUSTOMER SHOULD ENABLE NOW:</a:t>
            </a:r>
          </a:p>
          <a:p>
            <a:r>
              <a:t>"These are E5-licensed capabilities you already have. Enable Copilot audit logging if not already active. Activate DSPM for AI for visibility. Configure Communication Compliance with XPIA keyword patterns. Deploy Sentinel with email connector."</a:t>
            </a:r>
          </a:p>
          <a:p/>
          <a:p>
            <a:r>
              <a:t>PRODUCT FEEDBACK:</a:t>
            </a:r>
          </a:p>
          <a:p>
            <a:r>
              <a:t>"We formally file 6 product feedback items with Microsoft product groups. This is a product influence opportunity — your specific scenarios directly shape the roadmap."</a:t>
            </a:r>
          </a:p>
          <a:p/>
          <a:p>
            <a:r>
              <a:t>Timeline: "Week 1-2: Demo and policy activation. Week 2-3: Custom KQL deployed and validated in production. Week 3: Product feedback formally submitted. Week 6: 30-day check-in to review detection telemetry and tune. Quarterly reviews ongoing."</a:t>
            </a:r>
          </a:p>
          <a:p/>
          <a:p>
            <a:r>
              <a:t>Close with: "This isn't a one-time presentation — it's the start of a partnership on AI governance."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Appendix: KQL Queries</a:t>
            </a:r>
          </a:p>
          <a:p/>
          <a:p>
            <a:r>
              <a:t>These are reference KQL queries for the customer's SOC team to deploy.</a:t>
            </a:r>
          </a:p>
          <a:p/>
          <a:p>
            <a:r>
              <a:t>Query 1: Campaign Detection</a:t>
            </a:r>
          </a:p>
          <a:p>
            <a:r>
              <a:t>"This query identifies senders who emailed 10+ users in 24 hours and correlates with email delivery data. It's the foundation for XPIA campaign detection."</a:t>
            </a:r>
          </a:p>
          <a:p/>
          <a:p>
            <a:r>
              <a:t>Query 2: Cross-Reference</a:t>
            </a:r>
          </a:p>
          <a:p>
            <a:r>
              <a:t>"Once you identify a suspicious sender, this query cross-references their recipients with Copilot security alerts. If 5 users who received emails from the same sender also triggered AI security alerts, that's a strong XPIA campaign signal."</a:t>
            </a:r>
          </a:p>
          <a:p/>
          <a:p>
            <a:r>
              <a:t>Regex Patterns:</a:t>
            </a:r>
          </a:p>
          <a:p>
            <a:r>
              <a:t>"These are the common XPIA injection patterns to include in Exchange mail flow rules, Communication Compliance policies, and custom Sensitive Information Types."</a:t>
            </a:r>
          </a:p>
          <a:p/>
          <a:p>
            <a:r>
              <a:t>Note: These queries should be validated in the customer's test tenant before deploying to production. KQL syntax may need adjustment based on their specific table schema and log retention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Architecture Reference</a:t>
            </a:r>
          </a:p>
          <a:p/>
          <a:p>
            <a:r>
              <a:t>This slide shows the proposed multi-layer detection architecture:</a:t>
            </a:r>
          </a:p>
          <a:p/>
          <a:p>
            <a:r>
              <a:t>"Layer 1: Mail flow rules pre-flag emails matching XPIA patterns with an X-Header. This doesn't block — it tags."</a:t>
            </a:r>
          </a:p>
          <a:p/>
          <a:p>
            <a:r>
              <a:t>"Layer 2: DLP policy with a custom Sensitive Information Type catches XPIA patterns and logs to Purview Activity Explorer."</a:t>
            </a:r>
          </a:p>
          <a:p/>
          <a:p>
            <a:r>
              <a:t>"Layer 3: When Agent 365 processes the email, Prompt Shields fires on the content."</a:t>
            </a:r>
          </a:p>
          <a:p/>
          <a:p>
            <a:r>
              <a:t>"Layer 4: If XPIA is detected, an alert goes to Defender XDR. A correlation query joins the DLP match with the XDR alert and sender domain to identify coordinated campaigns."</a:t>
            </a:r>
          </a:p>
          <a:p/>
          <a:p>
            <a:r>
              <a:t>Validation metrics: "We recommend using PyRIT for automated testing. Target &gt;90% detection rate for known patterns, &lt;5% false positives, and &lt;2 hours from alert to threat actor identification."</a:t>
            </a:r>
          </a:p>
          <a:p/>
          <a:p>
            <a:r>
              <a:t>"These metrics should be measured during the pilot phase and reviewed at the 30-day check-in."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Regulatory Alignment</a:t>
            </a:r>
          </a:p>
          <a:p/>
          <a:p>
            <a:r>
              <a:t>This appendix maps Agent 365 XPIA controls to the specific regulatory frameworks your compliance team cares about.</a:t>
            </a:r>
          </a:p>
          <a:p/>
          <a:p>
            <a:r>
              <a:t>OCC: "The governance policy system defines what agents can do, what data they can access, and what outputs they can generate. Every decision is logged. This directly satisfies OCC guidance on AI governance — explainable controls."</a:t>
            </a:r>
          </a:p>
          <a:p/>
          <a:p>
            <a:r>
              <a:t>FCA: "The immutable audit ledger records every agent interaction. Your compliance team can demonstrate to FCA that AI systems are explainable and auditable."</a:t>
            </a:r>
          </a:p>
          <a:p/>
          <a:p>
            <a:r>
              <a:t>SOX 404: "XPIA detection IS the internal control. The audit trail IS the evidence of effectiveness. This maps directly to SOX 404 requirements for AI workflows touching financial reporting."</a:t>
            </a:r>
          </a:p>
          <a:p/>
          <a:p>
            <a:r>
              <a:t>NIST AI RMF: "PyRIT provides the adversarial testing framework. Continuous Prompt Shield model updates address the 'Govern' function."</a:t>
            </a:r>
          </a:p>
          <a:p/>
          <a:p>
            <a:r>
              <a:t>Key message: "Agent 365 doesn't just detect threats — it creates the evidence chain regulators require."</a:t>
            </a:r>
          </a:p>
          <a:p/>
          <a:p>
            <a:r>
              <a:t>Glossary is for reference — especially useful for compliance audiences who may not be familiar with AI security terminology.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1097280"/>
          </a:xfrm>
          <a:prstGeom prst="rect">
            <a:avLst/>
          </a:prstGeom>
          <a:noFill/>
        </p:spPr>
        <p:txBody>
          <a:bodyPr wrap="square">
            <a:spAutoFit/>
          </a:bodyPr>
          <a:lstStyle/>
          <a:p>
            <a:pPr algn="l">
              <a:defRPr sz="4000" b="1">
                <a:solidFill>
                  <a:srgbClr val="FFFFFF"/>
                </a:solidFill>
                <a:latin typeface="Segoe UI"/>
              </a:defRPr>
            </a:pPr>
            <a:r>
              <a:t>XPIA Detection, Validation &amp; Response</a:t>
            </a:r>
          </a:p>
        </p:txBody>
      </p:sp>
      <p:sp>
        <p:nvSpPr>
          <p:cNvPr id="4" name="TextBox 3"/>
          <p:cNvSpPr txBox="1"/>
          <p:nvPr/>
        </p:nvSpPr>
        <p:spPr>
          <a:xfrm>
            <a:off x="731520" y="2468880"/>
            <a:ext cx="10058400" cy="731520"/>
          </a:xfrm>
          <a:prstGeom prst="rect">
            <a:avLst/>
          </a:prstGeom>
          <a:noFill/>
        </p:spPr>
        <p:txBody>
          <a:bodyPr wrap="square">
            <a:spAutoFit/>
          </a:bodyPr>
          <a:lstStyle/>
          <a:p>
            <a:pPr algn="l">
              <a:defRPr sz="2200" b="0">
                <a:solidFill>
                  <a:srgbClr val="4EA8F0"/>
                </a:solidFill>
                <a:latin typeface="Segoe UI"/>
              </a:defRPr>
            </a:pPr>
            <a:r>
              <a:t>Agent 365 Security Architecture  |  Defense-in-Depth for Financial Services</a:t>
            </a:r>
          </a:p>
        </p:txBody>
      </p:sp>
      <p:sp>
        <p:nvSpPr>
          <p:cNvPr id="5" name="Rectangle 4"/>
          <p:cNvSpPr/>
          <p:nvPr/>
        </p:nvSpPr>
        <p:spPr>
          <a:xfrm>
            <a:off x="731520" y="3383280"/>
            <a:ext cx="27432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749039"/>
            <a:ext cx="7315200" cy="365760"/>
          </a:xfrm>
          <a:prstGeom prst="rect">
            <a:avLst/>
          </a:prstGeom>
          <a:noFill/>
        </p:spPr>
        <p:txBody>
          <a:bodyPr wrap="square">
            <a:spAutoFit/>
          </a:bodyPr>
          <a:lstStyle/>
          <a:p>
            <a:pPr algn="l">
              <a:defRPr sz="1400" b="0">
                <a:solidFill>
                  <a:srgbClr val="E8EBEF"/>
                </a:solidFill>
                <a:latin typeface="Segoe UI"/>
              </a:defRPr>
            </a:pPr>
            <a:r>
              <a:t>Prepared for: the customer — Financial Services Customer Engagement</a:t>
            </a:r>
          </a:p>
        </p:txBody>
      </p:sp>
      <p:sp>
        <p:nvSpPr>
          <p:cNvPr id="7" name="TextBox 6"/>
          <p:cNvSpPr txBox="1"/>
          <p:nvPr/>
        </p:nvSpPr>
        <p:spPr>
          <a:xfrm>
            <a:off x="731520" y="4206240"/>
            <a:ext cx="7315200" cy="365760"/>
          </a:xfrm>
          <a:prstGeom prst="rect">
            <a:avLst/>
          </a:prstGeom>
          <a:noFill/>
        </p:spPr>
        <p:txBody>
          <a:bodyPr wrap="square">
            <a:spAutoFit/>
          </a:bodyPr>
          <a:lstStyle/>
          <a:p>
            <a:pPr algn="l">
              <a:defRPr sz="1200" b="0">
                <a:solidFill>
                  <a:srgbClr val="9BA0A8"/>
                </a:solidFill>
                <a:latin typeface="Segoe UI"/>
              </a:defRPr>
            </a:pPr>
            <a:r>
              <a:t>May 2026  |  Microsoft Confidential</a:t>
            </a:r>
          </a:p>
        </p:txBody>
      </p:sp>
      <p:sp>
        <p:nvSpPr>
          <p:cNvPr id="8" name="Rectangle 7"/>
          <p:cNvSpPr/>
          <p:nvPr/>
        </p:nvSpPr>
        <p:spPr>
          <a:xfrm>
            <a:off x="0" y="672084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46520"/>
            <a:ext cx="5486400" cy="274320"/>
          </a:xfrm>
          <a:prstGeom prst="rect">
            <a:avLst/>
          </a:prstGeom>
          <a:noFill/>
        </p:spPr>
        <p:txBody>
          <a:bodyPr wrap="square">
            <a:spAutoFit/>
          </a:bodyPr>
          <a:lstStyle/>
          <a:p>
            <a:pPr algn="l">
              <a:defRPr sz="800" b="0">
                <a:solidFill>
                  <a:srgbClr val="9BA0A8"/>
                </a:solidFill>
                <a:latin typeface="Segoe UI"/>
              </a:defRPr>
            </a:pPr>
            <a:r>
              <a:t>Confidential — Customer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Executive Summary</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XPIA Is a Governance Challenge — Not Just a Technical One</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2</a:t>
            </a:r>
          </a:p>
        </p:txBody>
      </p:sp>
      <p:sp>
        <p:nvSpPr>
          <p:cNvPr id="8" name="Rounded Rectangle 7"/>
          <p:cNvSpPr/>
          <p:nvPr/>
        </p:nvSpPr>
        <p:spPr>
          <a:xfrm>
            <a:off x="457200" y="1463040"/>
            <a:ext cx="3566160" cy="21945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40"/>
            <a:ext cx="35661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45920"/>
            <a:ext cx="3200400" cy="457200"/>
          </a:xfrm>
          <a:prstGeom prst="rect">
            <a:avLst/>
          </a:prstGeom>
          <a:noFill/>
        </p:spPr>
        <p:txBody>
          <a:bodyPr wrap="square">
            <a:spAutoFit/>
          </a:bodyPr>
          <a:lstStyle/>
          <a:p>
            <a:pPr algn="l">
              <a:defRPr sz="1600" b="1">
                <a:solidFill>
                  <a:srgbClr val="0078D4"/>
                </a:solidFill>
                <a:latin typeface="Segoe UI"/>
              </a:defRPr>
            </a:pPr>
            <a:r>
              <a:t>Governance, Not Just Security</a:t>
            </a:r>
          </a:p>
        </p:txBody>
      </p:sp>
      <p:sp>
        <p:nvSpPr>
          <p:cNvPr id="11" name="TextBox 10"/>
          <p:cNvSpPr txBox="1"/>
          <p:nvPr/>
        </p:nvSpPr>
        <p:spPr>
          <a:xfrm>
            <a:off x="640080" y="2148840"/>
            <a:ext cx="3200400" cy="1371600"/>
          </a:xfrm>
          <a:prstGeom prst="rect">
            <a:avLst/>
          </a:prstGeom>
          <a:noFill/>
        </p:spPr>
        <p:txBody>
          <a:bodyPr wrap="square">
            <a:spAutoFit/>
          </a:bodyPr>
          <a:lstStyle/>
          <a:p>
            <a:pPr algn="l">
              <a:defRPr sz="1100" b="0">
                <a:solidFill>
                  <a:srgbClr val="E8EBEF"/>
                </a:solidFill>
                <a:latin typeface="Segoe UI"/>
              </a:defRPr>
            </a:pPr>
            <a:r>
              <a:t>XPIA attacks exploit AI agent design itself. They require governance controls, validation frameworks, and detection/response capabilities above the LLM layer.</a:t>
            </a:r>
          </a:p>
        </p:txBody>
      </p:sp>
      <p:sp>
        <p:nvSpPr>
          <p:cNvPr id="12" name="Rounded Rectangle 11"/>
          <p:cNvSpPr/>
          <p:nvPr/>
        </p:nvSpPr>
        <p:spPr>
          <a:xfrm>
            <a:off x="4297680" y="1463040"/>
            <a:ext cx="3566160" cy="21945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63040"/>
            <a:ext cx="35661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645920"/>
            <a:ext cx="3200400" cy="457200"/>
          </a:xfrm>
          <a:prstGeom prst="rect">
            <a:avLst/>
          </a:prstGeom>
          <a:noFill/>
        </p:spPr>
        <p:txBody>
          <a:bodyPr wrap="square">
            <a:spAutoFit/>
          </a:bodyPr>
          <a:lstStyle/>
          <a:p>
            <a:pPr algn="l">
              <a:defRPr sz="1600" b="1">
                <a:solidFill>
                  <a:srgbClr val="0078D4"/>
                </a:solidFill>
                <a:latin typeface="Segoe UI"/>
              </a:defRPr>
            </a:pPr>
            <a:r>
              <a:t>Agent 365 Closes the Visibility Gap</a:t>
            </a:r>
          </a:p>
        </p:txBody>
      </p:sp>
      <p:sp>
        <p:nvSpPr>
          <p:cNvPr id="15" name="TextBox 14"/>
          <p:cNvSpPr txBox="1"/>
          <p:nvPr/>
        </p:nvSpPr>
        <p:spPr>
          <a:xfrm>
            <a:off x="4480560" y="2148840"/>
            <a:ext cx="3200400" cy="1371600"/>
          </a:xfrm>
          <a:prstGeom prst="rect">
            <a:avLst/>
          </a:prstGeom>
          <a:noFill/>
        </p:spPr>
        <p:txBody>
          <a:bodyPr wrap="square">
            <a:spAutoFit/>
          </a:bodyPr>
          <a:lstStyle/>
          <a:p>
            <a:pPr algn="l">
              <a:defRPr sz="1100" b="0">
                <a:solidFill>
                  <a:srgbClr val="E8EBEF"/>
                </a:solidFill>
                <a:latin typeface="Segoe UI"/>
              </a:defRPr>
            </a:pPr>
            <a:r>
              <a:t>Detect, validate, and respond to XPIA attacks across email, documents, and multi-agent workflows with measurable fidelity in regulated environments.</a:t>
            </a:r>
          </a:p>
        </p:txBody>
      </p:sp>
      <p:sp>
        <p:nvSpPr>
          <p:cNvPr id="16" name="Rounded Rectangle 15"/>
          <p:cNvSpPr/>
          <p:nvPr/>
        </p:nvSpPr>
        <p:spPr>
          <a:xfrm>
            <a:off x="8138160" y="1463040"/>
            <a:ext cx="3566160" cy="21945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463040"/>
            <a:ext cx="35661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645920"/>
            <a:ext cx="3200400" cy="457200"/>
          </a:xfrm>
          <a:prstGeom prst="rect">
            <a:avLst/>
          </a:prstGeom>
          <a:noFill/>
        </p:spPr>
        <p:txBody>
          <a:bodyPr wrap="square">
            <a:spAutoFit/>
          </a:bodyPr>
          <a:lstStyle/>
          <a:p>
            <a:pPr algn="l">
              <a:defRPr sz="1600" b="1">
                <a:solidFill>
                  <a:srgbClr val="0078D4"/>
                </a:solidFill>
                <a:latin typeface="Segoe UI"/>
              </a:defRPr>
            </a:pPr>
            <a:r>
              <a:t>Transparency-First Approach</a:t>
            </a:r>
          </a:p>
        </p:txBody>
      </p:sp>
      <p:sp>
        <p:nvSpPr>
          <p:cNvPr id="19" name="TextBox 18"/>
          <p:cNvSpPr txBox="1"/>
          <p:nvPr/>
        </p:nvSpPr>
        <p:spPr>
          <a:xfrm>
            <a:off x="8321040" y="2148840"/>
            <a:ext cx="3200400" cy="1371600"/>
          </a:xfrm>
          <a:prstGeom prst="rect">
            <a:avLst/>
          </a:prstGeom>
          <a:noFill/>
        </p:spPr>
        <p:txBody>
          <a:bodyPr wrap="square">
            <a:spAutoFit/>
          </a:bodyPr>
          <a:lstStyle/>
          <a:p>
            <a:pPr algn="l">
              <a:defRPr sz="1100" b="0">
                <a:solidFill>
                  <a:srgbClr val="E8EBEF"/>
                </a:solidFill>
                <a:latin typeface="Segoe UI"/>
              </a:defRPr>
            </a:pPr>
            <a:r>
              <a:t>We acknowledge that XDR/SIEM tools miss XPIA. We don't claim 100% detection. We offer the first validated approach to governance-layer protection. EchoLeak (CVE-2025-32711) proves we actively respond.</a:t>
            </a:r>
          </a:p>
        </p:txBody>
      </p:sp>
      <p:sp>
        <p:nvSpPr>
          <p:cNvPr id="20" name="Rounded Rectangle 19"/>
          <p:cNvSpPr/>
          <p:nvPr/>
        </p:nvSpPr>
        <p:spPr>
          <a:xfrm>
            <a:off x="457200" y="4023360"/>
            <a:ext cx="11247120" cy="210312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023360"/>
            <a:ext cx="50800" cy="2103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14800"/>
            <a:ext cx="10515600" cy="1920240"/>
          </a:xfrm>
          <a:prstGeom prst="rect">
            <a:avLst/>
          </a:prstGeom>
          <a:noFill/>
        </p:spPr>
        <p:txBody>
          <a:bodyPr wrap="square">
            <a:spAutoFit/>
          </a:bodyPr>
          <a:lstStyle/>
          <a:p>
            <a:pPr algn="l">
              <a:defRPr sz="1500" b="1">
                <a:solidFill>
                  <a:srgbClr val="0078D4"/>
                </a:solidFill>
                <a:latin typeface="Segoe UI"/>
              </a:defRPr>
            </a:pPr>
            <a:r>
              <a:t>Why This Matters Now</a:t>
            </a:r>
          </a:p>
          <a:p>
            <a:pPr>
              <a:spcAft>
                <a:spcPts val="400"/>
              </a:spcAft>
              <a:defRPr sz="1100">
                <a:solidFill>
                  <a:srgbClr val="E8EBEF"/>
                </a:solidFill>
                <a:latin typeface="Segoe UI"/>
              </a:defRPr>
            </a:pPr>
            <a:r>
              <a:t>  ▸  EchoLeak (CVE-2025-32711): First known zero-click XPIA exploit against M365 Copilot — validates every concern raised</a:t>
            </a:r>
          </a:p>
          <a:p>
            <a:pPr>
              <a:spcAft>
                <a:spcPts val="400"/>
              </a:spcAft>
              <a:defRPr sz="1100">
                <a:solidFill>
                  <a:srgbClr val="E8EBEF"/>
                </a:solidFill>
                <a:latin typeface="Segoe UI"/>
              </a:defRPr>
            </a:pPr>
            <a:r>
              <a:t>  ▸  OWASP ranks indirect prompt injection as #1 risk for LLM-based systems (2025)</a:t>
            </a:r>
          </a:p>
          <a:p>
            <a:pPr>
              <a:spcAft>
                <a:spcPts val="400"/>
              </a:spcAft>
              <a:defRPr sz="1100">
                <a:solidFill>
                  <a:srgbClr val="E8EBEF"/>
                </a:solidFill>
                <a:latin typeface="Segoe UI"/>
              </a:defRPr>
            </a:pPr>
            <a:r>
              <a:t>  ▸  Regulators expect AI systems to be explainable and auditable inside regulated financial processes (OCC, FCA, SOX 404)</a:t>
            </a:r>
          </a:p>
          <a:p>
            <a:pPr>
              <a:spcAft>
                <a:spcPts val="400"/>
              </a:spcAft>
              <a:defRPr sz="1100">
                <a:solidFill>
                  <a:srgbClr val="E8EBEF"/>
                </a:solidFill>
                <a:latin typeface="Segoe UI"/>
              </a:defRPr>
            </a:pPr>
            <a:r>
              <a:t>  ▸  Traditional phishing/malware detection does NOT catch XPIA — no URLs, no attachments, no executable code</a:t>
            </a:r>
          </a:p>
          <a:p>
            <a:pPr>
              <a:spcAft>
                <a:spcPts val="400"/>
              </a:spcAft>
              <a:defRPr sz="1100">
                <a:solidFill>
                  <a:srgbClr val="E8EBEF"/>
                </a:solidFill>
                <a:latin typeface="Segoe UI"/>
              </a:defRPr>
            </a:pPr>
            <a:r>
              <a:t>  ▸  Microsoft's integrated stack provides the deepest defense-in-depth available — even with documented gaps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rPr sz="2400"/>
              <a:t>Understanding XPIA</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400" b="0">
                <a:solidFill>
                  <a:srgbClr val="4EA8F0"/>
                </a:solidFill>
                <a:latin typeface="Segoe UI"/>
              </a:defRPr>
            </a:pPr>
            <a:r>
              <a:rPr sz="1400"/>
              <a:t>What Is Cross/Indirect Prompt Injection and Why FSI Must Care</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3</a:t>
            </a:r>
          </a:p>
        </p:txBody>
      </p:sp>
      <p:sp>
        <p:nvSpPr>
          <p:cNvPr id="8" name="Rounded Rectangle 7"/>
          <p:cNvSpPr/>
          <p:nvPr/>
        </p:nvSpPr>
        <p:spPr>
          <a:xfrm>
            <a:off x="457200" y="1371600"/>
            <a:ext cx="5303520" cy="48463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71600"/>
            <a:ext cx="5303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54480"/>
            <a:ext cx="4846320" cy="365760"/>
          </a:xfrm>
          <a:prstGeom prst="rect">
            <a:avLst/>
          </a:prstGeom>
          <a:noFill/>
        </p:spPr>
        <p:txBody>
          <a:bodyPr wrap="square">
            <a:spAutoFit/>
          </a:bodyPr>
          <a:lstStyle/>
          <a:p>
            <a:pPr algn="l">
              <a:defRPr sz="1600" b="1">
                <a:solidFill>
                  <a:srgbClr val="FFFFFF"/>
                </a:solidFill>
                <a:latin typeface="Segoe UI"/>
              </a:defRPr>
            </a:pPr>
            <a:r>
              <a:rPr sz="1600"/>
              <a:t>What is XPIA?</a:t>
            </a:r>
          </a:p>
        </p:txBody>
      </p:sp>
      <p:sp>
        <p:nvSpPr>
          <p:cNvPr id="11" name="TextBox 10"/>
          <p:cNvSpPr txBox="1"/>
          <p:nvPr/>
        </p:nvSpPr>
        <p:spPr>
          <a:xfrm>
            <a:off x="640080" y="1965960"/>
            <a:ext cx="4846320" cy="1188720"/>
          </a:xfrm>
          <a:prstGeom prst="rect">
            <a:avLst/>
          </a:prstGeom>
          <a:noFill/>
        </p:spPr>
        <p:txBody>
          <a:bodyPr wrap="square">
            <a:spAutoFit/>
          </a:bodyPr>
          <a:lstStyle/>
          <a:p>
            <a:pPr algn="l">
              <a:defRPr sz="1100" b="0">
                <a:solidFill>
                  <a:srgbClr val="E8EBEF"/>
                </a:solidFill>
                <a:latin typeface="Segoe UI"/>
              </a:defRPr>
            </a:pPr>
            <a:r>
              <a:rPr sz="1100"/>
              <a:t>Attackers embed malicious instructions inside content that an AI agent processes as grounding data — emails, documents, web pages — rather than injecting directly into a user prompt.</a:t>
            </a:r>
          </a:p>
          <a:p>
            <a:pPr>
              <a:spcAft>
                <a:spcPts val="600"/>
              </a:spcAft>
              <a:defRPr sz="1100"/>
            </a:pPr>
          </a:p>
          <a:p>
            <a:pPr>
              <a:defRPr sz="1100">
                <a:solidFill>
                  <a:srgbClr val="E8EBEF"/>
                </a:solidFill>
                <a:latin typeface="Segoe UI"/>
              </a:defRPr>
            </a:pPr>
            <a:r>
              <a:rPr sz="1100"/>
              <a:t>The LLM cannot distinguish between legitimate context and injected instructions, causing it to execute attacker-controlled actions.</a:t>
            </a:r>
          </a:p>
        </p:txBody>
      </p:sp>
      <p:sp>
        <p:nvSpPr>
          <p:cNvPr id="12" name="TextBox 11"/>
          <p:cNvSpPr txBox="1"/>
          <p:nvPr/>
        </p:nvSpPr>
        <p:spPr>
          <a:xfrm>
            <a:off x="640080" y="3200400"/>
            <a:ext cx="4846320" cy="320040"/>
          </a:xfrm>
          <a:prstGeom prst="rect">
            <a:avLst/>
          </a:prstGeom>
          <a:noFill/>
        </p:spPr>
        <p:txBody>
          <a:bodyPr wrap="square">
            <a:spAutoFit/>
          </a:bodyPr>
          <a:lstStyle/>
          <a:p>
            <a:pPr algn="l">
              <a:defRPr sz="1400" b="1">
                <a:solidFill>
                  <a:srgbClr val="0078D4"/>
                </a:solidFill>
                <a:latin typeface="Segoe UI"/>
              </a:defRPr>
            </a:pPr>
            <a:r>
              <a:rPr sz="1400"/>
              <a:t>Why Traditional Detection Fails</a:t>
            </a:r>
          </a:p>
        </p:txBody>
      </p:sp>
      <p:sp>
        <p:nvSpPr>
          <p:cNvPr id="13" name="TextBox 12"/>
          <p:cNvSpPr txBox="1"/>
          <p:nvPr/>
        </p:nvSpPr>
        <p:spPr>
          <a:xfrm>
            <a:off x="640080" y="3566160"/>
            <a:ext cx="4846320" cy="2560320"/>
          </a:xfrm>
          <a:prstGeom prst="rect">
            <a:avLst/>
          </a:prstGeom>
          <a:noFill/>
        </p:spPr>
        <p:txBody>
          <a:bodyPr wrap="square">
            <a:spAutoFit/>
          </a:bodyPr>
          <a:lstStyle/>
          <a:p>
            <a:pPr algn="l">
              <a:spcAft>
                <a:spcPts val="600"/>
              </a:spcAft>
              <a:defRPr sz="1100" b="0">
                <a:solidFill>
                  <a:srgbClr val="E8EBEF"/>
                </a:solidFill>
                <a:latin typeface="Segoe UI"/>
              </a:defRPr>
            </a:pPr>
            <a:r>
              <a:rPr sz="1100"/>
              <a:t>  •  No malicious URLs — EOP/Defender sees normal email</a:t>
            </a:r>
          </a:p>
          <a:p>
            <a:pPr>
              <a:spcAft>
                <a:spcPts val="600"/>
              </a:spcAft>
              <a:defRPr sz="1100">
                <a:solidFill>
                  <a:srgbClr val="E8EBEF"/>
                </a:solidFill>
                <a:latin typeface="Segoe UI"/>
              </a:defRPr>
            </a:pPr>
            <a:r>
              <a:rPr sz="1100"/>
              <a:t>  •  No attachments or executable code — AV doesn't trigger</a:t>
            </a:r>
          </a:p>
          <a:p>
            <a:pPr>
              <a:spcAft>
                <a:spcPts val="600"/>
              </a:spcAft>
              <a:defRPr sz="1100">
                <a:solidFill>
                  <a:srgbClr val="E8EBEF"/>
                </a:solidFill>
                <a:latin typeface="Segoe UI"/>
              </a:defRPr>
            </a:pPr>
            <a:r>
              <a:rPr sz="1100"/>
              <a:t>  •  No impersonation signals — sender may be legitimate</a:t>
            </a:r>
          </a:p>
          <a:p>
            <a:pPr>
              <a:spcAft>
                <a:spcPts val="600"/>
              </a:spcAft>
              <a:defRPr sz="1100">
                <a:solidFill>
                  <a:srgbClr val="E8EBEF"/>
                </a:solidFill>
                <a:latin typeface="Segoe UI"/>
              </a:defRPr>
            </a:pPr>
            <a:r>
              <a:rPr sz="1100"/>
              <a:t>  •  From the network layer, it's normal traffic</a:t>
            </a:r>
          </a:p>
          <a:p>
            <a:pPr>
              <a:spcAft>
                <a:spcPts val="600"/>
              </a:spcAft>
              <a:defRPr sz="1100">
                <a:solidFill>
                  <a:srgbClr val="E8EBEF"/>
                </a:solidFill>
                <a:latin typeface="Segoe UI"/>
              </a:defRPr>
            </a:pPr>
            <a:r>
              <a:rPr sz="1100"/>
              <a:t>  •  XPIA only activates when an AI agent processes the content</a:t>
            </a:r>
          </a:p>
        </p:txBody>
      </p:sp>
      <p:sp>
        <p:nvSpPr>
          <p:cNvPr id="14" name="Rounded Rectangle 13"/>
          <p:cNvSpPr/>
          <p:nvPr/>
        </p:nvSpPr>
        <p:spPr>
          <a:xfrm>
            <a:off x="6035040" y="1371600"/>
            <a:ext cx="5669280" cy="48463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71600"/>
            <a:ext cx="5669280" cy="508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554480"/>
            <a:ext cx="5212080" cy="365760"/>
          </a:xfrm>
          <a:prstGeom prst="rect">
            <a:avLst/>
          </a:prstGeom>
          <a:noFill/>
        </p:spPr>
        <p:txBody>
          <a:bodyPr wrap="square">
            <a:spAutoFit/>
          </a:bodyPr>
          <a:lstStyle/>
          <a:p>
            <a:pPr algn="l">
              <a:defRPr sz="1600" b="1">
                <a:solidFill>
                  <a:srgbClr val="FFFFFF"/>
                </a:solidFill>
                <a:latin typeface="Segoe UI"/>
              </a:defRPr>
            </a:pPr>
            <a:r>
              <a:rPr sz="1600"/>
              <a:t>Why FSI Must Care</a:t>
            </a:r>
          </a:p>
        </p:txBody>
      </p:sp>
      <p:sp>
        <p:nvSpPr>
          <p:cNvPr id="17" name="TextBox 16"/>
          <p:cNvSpPr txBox="1"/>
          <p:nvPr/>
        </p:nvSpPr>
        <p:spPr>
          <a:xfrm>
            <a:off x="6263640" y="1965960"/>
            <a:ext cx="5212080" cy="1920240"/>
          </a:xfrm>
          <a:prstGeom prst="rect">
            <a:avLst/>
          </a:prstGeom>
          <a:noFill/>
        </p:spPr>
        <p:txBody>
          <a:bodyPr wrap="square">
            <a:spAutoFit/>
          </a:bodyPr>
          <a:lstStyle/>
          <a:p>
            <a:pPr algn="l">
              <a:spcAft>
                <a:spcPts val="600"/>
              </a:spcAft>
              <a:defRPr sz="1100" b="0">
                <a:solidFill>
                  <a:srgbClr val="E8EBEF"/>
                </a:solidFill>
                <a:latin typeface="Segoe UI"/>
              </a:defRPr>
            </a:pPr>
            <a:r>
              <a:rPr sz="1100"/>
              <a:t>  •  Agents touch regulated processes: lending, AML screening, customer onboarding, fund transfers</a:t>
            </a:r>
          </a:p>
          <a:p>
            <a:pPr>
              <a:spcAft>
                <a:spcPts val="600"/>
              </a:spcAft>
              <a:defRPr sz="1100">
                <a:solidFill>
                  <a:srgbClr val="E8EBEF"/>
                </a:solidFill>
                <a:latin typeface="Segoe UI"/>
              </a:defRPr>
            </a:pPr>
            <a:r>
              <a:rPr sz="1100"/>
              <a:t>  •  Successful XPIA can trigger compliance violations, unauthorized transactions, or data exposure</a:t>
            </a:r>
          </a:p>
          <a:p>
            <a:pPr>
              <a:spcAft>
                <a:spcPts val="600"/>
              </a:spcAft>
              <a:defRPr sz="1100">
                <a:solidFill>
                  <a:srgbClr val="E8EBEF"/>
                </a:solidFill>
                <a:latin typeface="Segoe UI"/>
              </a:defRPr>
            </a:pPr>
            <a:r>
              <a:rPr sz="1100"/>
              <a:t>  •  Regulators expect you to detect threats inside AI workflows — XPIA is now a compliance risk</a:t>
            </a:r>
          </a:p>
          <a:p>
            <a:pPr>
              <a:spcAft>
                <a:spcPts val="600"/>
              </a:spcAft>
              <a:defRPr sz="1100">
                <a:solidFill>
                  <a:srgbClr val="E8EBEF"/>
                </a:solidFill>
                <a:latin typeface="Segoe UI"/>
              </a:defRPr>
            </a:pPr>
            <a:r>
              <a:rPr sz="1100"/>
              <a:t>  •  OWASP Top 10 for LLM Applications (2025): Indirect prompt injection ranked #1 risk</a:t>
            </a:r>
          </a:p>
        </p:txBody>
      </p:sp>
      <p:sp>
        <p:nvSpPr>
          <p:cNvPr id="18" name="Rounded Rectangle 17"/>
          <p:cNvSpPr/>
          <p:nvPr/>
        </p:nvSpPr>
        <p:spPr>
          <a:xfrm>
            <a:off x="6400800" y="4114800"/>
            <a:ext cx="4937760" cy="1371600"/>
          </a:xfrm>
          <a:prstGeom prst="roundRect">
            <a:avLst/>
          </a:prstGeom>
          <a:solidFill>
            <a:srgbClr val="1A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251960"/>
            <a:ext cx="4572000" cy="320040"/>
          </a:xfrm>
          <a:prstGeom prst="rect">
            <a:avLst/>
          </a:prstGeom>
          <a:noFill/>
        </p:spPr>
        <p:txBody>
          <a:bodyPr wrap="square">
            <a:spAutoFit/>
          </a:bodyPr>
          <a:lstStyle/>
          <a:p>
            <a:pPr algn="l">
              <a:defRPr sz="1300" b="1">
                <a:solidFill>
                  <a:srgbClr val="FFFFFF"/>
                </a:solidFill>
                <a:latin typeface="Segoe UI"/>
              </a:defRPr>
            </a:pPr>
            <a:r>
              <a:rPr sz="1300"/>
              <a:t>Current Detection Reality</a:t>
            </a:r>
          </a:p>
        </p:txBody>
      </p:sp>
      <p:sp>
        <p:nvSpPr>
          <p:cNvPr id="20" name="TextBox 19"/>
          <p:cNvSpPr txBox="1"/>
          <p:nvPr/>
        </p:nvSpPr>
        <p:spPr>
          <a:xfrm>
            <a:off x="6583680" y="4663440"/>
            <a:ext cx="4572000" cy="731520"/>
          </a:xfrm>
          <a:prstGeom prst="rect">
            <a:avLst/>
          </a:prstGeom>
          <a:noFill/>
        </p:spPr>
        <p:txBody>
          <a:bodyPr wrap="square">
            <a:spAutoFit/>
          </a:bodyPr>
          <a:lstStyle/>
          <a:p>
            <a:pPr algn="l">
              <a:defRPr sz="1000" b="0">
                <a:solidFill>
                  <a:srgbClr val="E8EBEF"/>
                </a:solidFill>
                <a:latin typeface="Segoe UI"/>
              </a:defRPr>
            </a:pPr>
            <a:r>
              <a:rPr sz="1000"/>
              <a:t>Industry research: ~23% detection rate for sophisticated XPIA attacks without dedicated defenses. Agent 365 + Prompt Shields raises this significantly — but transparency matters.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XPIA Attack Vectors &amp; Signal Flow</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How Attacks Enter and How Agent 365 Responds</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4</a:t>
            </a:r>
          </a:p>
        </p:txBody>
      </p:sp>
      <p:sp>
        <p:nvSpPr>
          <p:cNvPr id="8" name="Rounded Rectangle 7"/>
          <p:cNvSpPr/>
          <p:nvPr/>
        </p:nvSpPr>
        <p:spPr>
          <a:xfrm>
            <a:off x="274320" y="1645920"/>
            <a:ext cx="2011680" cy="146304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Email/Document</a:t>
            </a:r>
            <a:br/>
            <a:r>
              <a:t>Arrives in M365</a:t>
            </a:r>
          </a:p>
        </p:txBody>
      </p:sp>
      <p:sp>
        <p:nvSpPr>
          <p:cNvPr id="9" name="Rounded Rectangle 8"/>
          <p:cNvSpPr/>
          <p:nvPr/>
        </p:nvSpPr>
        <p:spPr>
          <a:xfrm>
            <a:off x="2651760" y="1645920"/>
            <a:ext cx="2011680" cy="1463040"/>
          </a:xfrm>
          <a:prstGeom prst="roundRect">
            <a:avLst/>
          </a:prstGeom>
          <a:solidFill>
            <a:srgbClr val="1A47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Agent 365</a:t>
            </a:r>
            <a:br/>
            <a:r>
              <a:t>Orchestrator</a:t>
            </a:r>
            <a:br/>
            <a:r>
              <a:t>Retrieves Content</a:t>
            </a:r>
          </a:p>
        </p:txBody>
      </p:sp>
      <p:sp>
        <p:nvSpPr>
          <p:cNvPr id="10" name="Rounded Rectangle 9"/>
          <p:cNvSpPr/>
          <p:nvPr/>
        </p:nvSpPr>
        <p:spPr>
          <a:xfrm>
            <a:off x="5029200" y="1645920"/>
            <a:ext cx="2011680" cy="14630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Prompt Shields</a:t>
            </a:r>
            <a:br/>
            <a:r>
              <a:t>API Scans</a:t>
            </a:r>
            <a:br/>
            <a:r>
              <a:t>(Pre-Processing)</a:t>
            </a:r>
          </a:p>
        </p:txBody>
      </p:sp>
      <p:sp>
        <p:nvSpPr>
          <p:cNvPr id="11" name="Rounded Rectangle 10"/>
          <p:cNvSpPr/>
          <p:nvPr/>
        </p:nvSpPr>
        <p:spPr>
          <a:xfrm>
            <a:off x="7406640" y="1645920"/>
            <a:ext cx="2011680" cy="1463040"/>
          </a:xfrm>
          <a:prstGeom prst="roundRect">
            <a:avLst/>
          </a:prstGeom>
          <a:solidFill>
            <a:srgbClr val="8B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Attack</a:t>
            </a:r>
            <a:br/>
            <a:r>
              <a:t>Detected?</a:t>
            </a:r>
          </a:p>
        </p:txBody>
      </p:sp>
      <p:sp>
        <p:nvSpPr>
          <p:cNvPr id="12" name="Rectangle 11"/>
          <p:cNvSpPr/>
          <p:nvPr/>
        </p:nvSpPr>
        <p:spPr>
          <a:xfrm>
            <a:off x="2286000" y="2240280"/>
            <a:ext cx="3657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63440" y="2240280"/>
            <a:ext cx="3657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40880" y="2240280"/>
            <a:ext cx="36576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0" y="1371600"/>
            <a:ext cx="2286000" cy="1097280"/>
          </a:xfrm>
          <a:prstGeom prst="round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BLOCK</a:t>
            </a:r>
            <a:br/>
            <a:r>
              <a:t>Log to XDR</a:t>
            </a:r>
            <a:br/>
            <a:r>
              <a:t>Alert Generated</a:t>
            </a:r>
          </a:p>
        </p:txBody>
      </p:sp>
      <p:sp>
        <p:nvSpPr>
          <p:cNvPr id="16" name="TextBox 15"/>
          <p:cNvSpPr txBox="1"/>
          <p:nvPr/>
        </p:nvSpPr>
        <p:spPr>
          <a:xfrm>
            <a:off x="9326880" y="1691640"/>
            <a:ext cx="365760" cy="274320"/>
          </a:xfrm>
          <a:prstGeom prst="rect">
            <a:avLst/>
          </a:prstGeom>
          <a:noFill/>
        </p:spPr>
        <p:txBody>
          <a:bodyPr wrap="square">
            <a:spAutoFit/>
          </a:bodyPr>
          <a:lstStyle/>
          <a:p>
            <a:pPr algn="l">
              <a:defRPr sz="1000" b="1">
                <a:solidFill>
                  <a:srgbClr val="C52828"/>
                </a:solidFill>
                <a:latin typeface="Segoe UI"/>
              </a:defRPr>
            </a:pPr>
            <a:r>
              <a:t>YES</a:t>
            </a:r>
          </a:p>
        </p:txBody>
      </p:sp>
      <p:sp>
        <p:nvSpPr>
          <p:cNvPr id="17" name="Rounded Rectangle 16"/>
          <p:cNvSpPr/>
          <p:nvPr/>
        </p:nvSpPr>
        <p:spPr>
          <a:xfrm>
            <a:off x="9601200" y="2743200"/>
            <a:ext cx="2286000" cy="109728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LLM Processes</a:t>
            </a:r>
            <a:br/>
            <a:r>
              <a:t>with Spotlighting</a:t>
            </a:r>
            <a:br/>
            <a:r>
              <a:t>→ Post-Processing Check</a:t>
            </a:r>
          </a:p>
        </p:txBody>
      </p:sp>
      <p:sp>
        <p:nvSpPr>
          <p:cNvPr id="18" name="TextBox 17"/>
          <p:cNvSpPr txBox="1"/>
          <p:nvPr/>
        </p:nvSpPr>
        <p:spPr>
          <a:xfrm>
            <a:off x="9326880" y="3063240"/>
            <a:ext cx="365760" cy="274320"/>
          </a:xfrm>
          <a:prstGeom prst="rect">
            <a:avLst/>
          </a:prstGeom>
          <a:noFill/>
        </p:spPr>
        <p:txBody>
          <a:bodyPr wrap="square">
            <a:spAutoFit/>
          </a:bodyPr>
          <a:lstStyle/>
          <a:p>
            <a:pPr algn="l">
              <a:defRPr sz="1000" b="1">
                <a:solidFill>
                  <a:srgbClr val="007A33"/>
                </a:solidFill>
                <a:latin typeface="Segoe UI"/>
              </a:defRPr>
            </a:pPr>
            <a:r>
              <a:t>NO</a:t>
            </a:r>
          </a:p>
        </p:txBody>
      </p:sp>
      <p:sp>
        <p:nvSpPr>
          <p:cNvPr id="19" name="TextBox 18"/>
          <p:cNvSpPr txBox="1"/>
          <p:nvPr/>
        </p:nvSpPr>
        <p:spPr>
          <a:xfrm>
            <a:off x="457200" y="4114800"/>
            <a:ext cx="10972800" cy="365760"/>
          </a:xfrm>
          <a:prstGeom prst="rect">
            <a:avLst/>
          </a:prstGeom>
          <a:noFill/>
        </p:spPr>
        <p:txBody>
          <a:bodyPr wrap="square">
            <a:spAutoFit/>
          </a:bodyPr>
          <a:lstStyle/>
          <a:p>
            <a:pPr algn="l">
              <a:defRPr sz="1600" b="1">
                <a:solidFill>
                  <a:srgbClr val="FFFFFF"/>
                </a:solidFill>
                <a:latin typeface="Segoe UI"/>
              </a:defRPr>
            </a:pPr>
            <a:r>
              <a:t>Attack Vectors — How XPIA Enters Your Environment</a:t>
            </a:r>
          </a:p>
        </p:txBody>
      </p:sp>
      <p:sp>
        <p:nvSpPr>
          <p:cNvPr id="20" name="Rounded Rectangle 19"/>
          <p:cNvSpPr/>
          <p:nvPr/>
        </p:nvSpPr>
        <p:spPr>
          <a:xfrm>
            <a:off x="274320" y="4572000"/>
            <a:ext cx="2148840" cy="16459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572000"/>
            <a:ext cx="2148840" cy="381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4709160"/>
            <a:ext cx="1965960" cy="365760"/>
          </a:xfrm>
          <a:prstGeom prst="rect">
            <a:avLst/>
          </a:prstGeom>
          <a:noFill/>
        </p:spPr>
        <p:txBody>
          <a:bodyPr wrap="square">
            <a:spAutoFit/>
          </a:bodyPr>
          <a:lstStyle/>
          <a:p>
            <a:pPr algn="ctr">
              <a:defRPr sz="1100" b="1">
                <a:solidFill>
                  <a:srgbClr val="E06C00"/>
                </a:solidFill>
                <a:latin typeface="Segoe UI"/>
              </a:defRPr>
            </a:pPr>
            <a:r>
              <a:t>Email-Based</a:t>
            </a:r>
          </a:p>
        </p:txBody>
      </p:sp>
      <p:sp>
        <p:nvSpPr>
          <p:cNvPr id="23" name="TextBox 22"/>
          <p:cNvSpPr txBox="1"/>
          <p:nvPr/>
        </p:nvSpPr>
        <p:spPr>
          <a:xfrm>
            <a:off x="365760" y="5074920"/>
            <a:ext cx="1965960" cy="1005840"/>
          </a:xfrm>
          <a:prstGeom prst="rect">
            <a:avLst/>
          </a:prstGeom>
          <a:noFill/>
        </p:spPr>
        <p:txBody>
          <a:bodyPr wrap="square">
            <a:spAutoFit/>
          </a:bodyPr>
          <a:lstStyle/>
          <a:p>
            <a:pPr algn="ctr">
              <a:defRPr sz="900" b="0">
                <a:solidFill>
                  <a:srgbClr val="E8EBEF"/>
                </a:solidFill>
                <a:latin typeface="Segoe UI"/>
              </a:defRPr>
            </a:pPr>
            <a:r>
              <a:t>Bulk payloads to</a:t>
            </a:r>
            <a:br/>
            <a:r>
              <a:t>employees via HR/</a:t>
            </a:r>
            <a:br/>
            <a:r>
              <a:t>finance pretext.</a:t>
            </a:r>
            <a:br/>
            <a:r>
              <a:t>No malicious URLs.</a:t>
            </a:r>
          </a:p>
        </p:txBody>
      </p:sp>
      <p:sp>
        <p:nvSpPr>
          <p:cNvPr id="24" name="Rounded Rectangle 23"/>
          <p:cNvSpPr/>
          <p:nvPr/>
        </p:nvSpPr>
        <p:spPr>
          <a:xfrm>
            <a:off x="2651760" y="4572000"/>
            <a:ext cx="2148840" cy="16459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51760" y="4572000"/>
            <a:ext cx="2148840" cy="381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4709160"/>
            <a:ext cx="1965960" cy="365760"/>
          </a:xfrm>
          <a:prstGeom prst="rect">
            <a:avLst/>
          </a:prstGeom>
          <a:noFill/>
        </p:spPr>
        <p:txBody>
          <a:bodyPr wrap="square">
            <a:spAutoFit/>
          </a:bodyPr>
          <a:lstStyle/>
          <a:p>
            <a:pPr algn="ctr">
              <a:defRPr sz="1100" b="1">
                <a:solidFill>
                  <a:srgbClr val="E06C00"/>
                </a:solidFill>
                <a:latin typeface="Segoe UI"/>
              </a:defRPr>
            </a:pPr>
            <a:r>
              <a:t>Document-Based</a:t>
            </a:r>
          </a:p>
        </p:txBody>
      </p:sp>
      <p:sp>
        <p:nvSpPr>
          <p:cNvPr id="27" name="TextBox 26"/>
          <p:cNvSpPr txBox="1"/>
          <p:nvPr/>
        </p:nvSpPr>
        <p:spPr>
          <a:xfrm>
            <a:off x="2743200" y="5074920"/>
            <a:ext cx="1965960" cy="1005840"/>
          </a:xfrm>
          <a:prstGeom prst="rect">
            <a:avLst/>
          </a:prstGeom>
          <a:noFill/>
        </p:spPr>
        <p:txBody>
          <a:bodyPr wrap="square">
            <a:spAutoFit/>
          </a:bodyPr>
          <a:lstStyle/>
          <a:p>
            <a:pPr algn="ctr">
              <a:defRPr sz="900" b="0">
                <a:solidFill>
                  <a:srgbClr val="E8EBEF"/>
                </a:solidFill>
                <a:latin typeface="Segoe UI"/>
              </a:defRPr>
            </a:pPr>
            <a:r>
              <a:t>Hidden instructions</a:t>
            </a:r>
            <a:br/>
            <a:r>
              <a:t>in PDFs, Word docs</a:t>
            </a:r>
            <a:br/>
            <a:r>
              <a:t>uploaded to</a:t>
            </a:r>
            <a:br/>
            <a:r>
              <a:t>SharePoint/OneDrive.</a:t>
            </a:r>
          </a:p>
        </p:txBody>
      </p:sp>
      <p:sp>
        <p:nvSpPr>
          <p:cNvPr id="28" name="Rounded Rectangle 27"/>
          <p:cNvSpPr/>
          <p:nvPr/>
        </p:nvSpPr>
        <p:spPr>
          <a:xfrm>
            <a:off x="5029200" y="4572000"/>
            <a:ext cx="2148840" cy="16459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0" y="4572000"/>
            <a:ext cx="2148840" cy="381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0" y="4709160"/>
            <a:ext cx="1965960" cy="365760"/>
          </a:xfrm>
          <a:prstGeom prst="rect">
            <a:avLst/>
          </a:prstGeom>
          <a:noFill/>
        </p:spPr>
        <p:txBody>
          <a:bodyPr wrap="square">
            <a:spAutoFit/>
          </a:bodyPr>
          <a:lstStyle/>
          <a:p>
            <a:pPr algn="ctr">
              <a:defRPr sz="1100" b="1">
                <a:solidFill>
                  <a:srgbClr val="C52828"/>
                </a:solidFill>
                <a:latin typeface="Segoe UI"/>
              </a:defRPr>
            </a:pPr>
            <a:r>
              <a:t>Insider-Crafted</a:t>
            </a:r>
          </a:p>
        </p:txBody>
      </p:sp>
      <p:sp>
        <p:nvSpPr>
          <p:cNvPr id="31" name="TextBox 30"/>
          <p:cNvSpPr txBox="1"/>
          <p:nvPr/>
        </p:nvSpPr>
        <p:spPr>
          <a:xfrm>
            <a:off x="5120640" y="5074920"/>
            <a:ext cx="1965960" cy="1005840"/>
          </a:xfrm>
          <a:prstGeom prst="rect">
            <a:avLst/>
          </a:prstGeom>
          <a:noFill/>
        </p:spPr>
        <p:txBody>
          <a:bodyPr wrap="square">
            <a:spAutoFit/>
          </a:bodyPr>
          <a:lstStyle/>
          <a:p>
            <a:pPr algn="ctr">
              <a:defRPr sz="900" b="0">
                <a:solidFill>
                  <a:srgbClr val="E8EBEF"/>
                </a:solidFill>
                <a:latin typeface="Segoe UI"/>
              </a:defRPr>
            </a:pPr>
            <a:r>
              <a:t>Trusted employee</a:t>
            </a:r>
            <a:br/>
            <a:r>
              <a:t>embeds XPIA in</a:t>
            </a:r>
            <a:br/>
            <a:r>
              <a:t>shared documents</a:t>
            </a:r>
            <a:br/>
            <a:r>
              <a:t>to exfiltrate data.</a:t>
            </a:r>
          </a:p>
        </p:txBody>
      </p:sp>
      <p:sp>
        <p:nvSpPr>
          <p:cNvPr id="32" name="Rounded Rectangle 31"/>
          <p:cNvSpPr/>
          <p:nvPr/>
        </p:nvSpPr>
        <p:spPr>
          <a:xfrm>
            <a:off x="7406640" y="4572000"/>
            <a:ext cx="2148840" cy="16459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06640" y="4572000"/>
            <a:ext cx="2148840" cy="381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0" y="4709160"/>
            <a:ext cx="1965960" cy="365760"/>
          </a:xfrm>
          <a:prstGeom prst="rect">
            <a:avLst/>
          </a:prstGeom>
          <a:noFill/>
        </p:spPr>
        <p:txBody>
          <a:bodyPr wrap="square">
            <a:spAutoFit/>
          </a:bodyPr>
          <a:lstStyle/>
          <a:p>
            <a:pPr algn="ctr">
              <a:defRPr sz="1100" b="1">
                <a:solidFill>
                  <a:srgbClr val="C52828"/>
                </a:solidFill>
                <a:latin typeface="Segoe UI"/>
              </a:defRPr>
            </a:pPr>
            <a:r>
              <a:t>Multi-Agent</a:t>
            </a:r>
            <a:br/>
            <a:r>
              <a:t>Laundering</a:t>
            </a:r>
          </a:p>
        </p:txBody>
      </p:sp>
      <p:sp>
        <p:nvSpPr>
          <p:cNvPr id="35" name="TextBox 34"/>
          <p:cNvSpPr txBox="1"/>
          <p:nvPr/>
        </p:nvSpPr>
        <p:spPr>
          <a:xfrm>
            <a:off x="7498080" y="5074920"/>
            <a:ext cx="1965960" cy="1005840"/>
          </a:xfrm>
          <a:prstGeom prst="rect">
            <a:avLst/>
          </a:prstGeom>
          <a:noFill/>
        </p:spPr>
        <p:txBody>
          <a:bodyPr wrap="square">
            <a:spAutoFit/>
          </a:bodyPr>
          <a:lstStyle/>
          <a:p>
            <a:pPr algn="ctr">
              <a:defRPr sz="900" b="0">
                <a:solidFill>
                  <a:srgbClr val="E8EBEF"/>
                </a:solidFill>
                <a:latin typeface="Segoe UI"/>
              </a:defRPr>
            </a:pPr>
            <a:r>
              <a:t>Injection to Agent A;</a:t>
            </a:r>
            <a:br/>
            <a:r>
              <a:t>output passes to</a:t>
            </a:r>
            <a:br/>
            <a:r>
              <a:t>Agent B which</a:t>
            </a:r>
            <a:br/>
            <a:r>
              <a:t>executes payload.</a:t>
            </a:r>
          </a:p>
        </p:txBody>
      </p:sp>
      <p:sp>
        <p:nvSpPr>
          <p:cNvPr id="36" name="Rounded Rectangle 35"/>
          <p:cNvSpPr/>
          <p:nvPr/>
        </p:nvSpPr>
        <p:spPr>
          <a:xfrm>
            <a:off x="9784080" y="4572000"/>
            <a:ext cx="2148840" cy="164592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84080" y="4572000"/>
            <a:ext cx="2148840" cy="38100"/>
          </a:xfrm>
          <a:prstGeom prst="rect">
            <a:avLst/>
          </a:prstGeom>
          <a:solidFill>
            <a:srgbClr val="C19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0" y="4709160"/>
            <a:ext cx="1965960" cy="365760"/>
          </a:xfrm>
          <a:prstGeom prst="rect">
            <a:avLst/>
          </a:prstGeom>
          <a:noFill/>
        </p:spPr>
        <p:txBody>
          <a:bodyPr wrap="square">
            <a:spAutoFit/>
          </a:bodyPr>
          <a:lstStyle/>
          <a:p>
            <a:pPr algn="ctr">
              <a:defRPr sz="1100" b="1">
                <a:solidFill>
                  <a:srgbClr val="C19400"/>
                </a:solidFill>
                <a:latin typeface="Segoe UI"/>
              </a:defRPr>
            </a:pPr>
            <a:r>
              <a:t>Context Window</a:t>
            </a:r>
            <a:br/>
            <a:r>
              <a:t>Poisoning</a:t>
            </a:r>
          </a:p>
        </p:txBody>
      </p:sp>
      <p:sp>
        <p:nvSpPr>
          <p:cNvPr id="39" name="TextBox 38"/>
          <p:cNvSpPr txBox="1"/>
          <p:nvPr/>
        </p:nvSpPr>
        <p:spPr>
          <a:xfrm>
            <a:off x="9875520" y="5074920"/>
            <a:ext cx="1965960" cy="1005840"/>
          </a:xfrm>
          <a:prstGeom prst="rect">
            <a:avLst/>
          </a:prstGeom>
          <a:noFill/>
        </p:spPr>
        <p:txBody>
          <a:bodyPr wrap="square">
            <a:spAutoFit/>
          </a:bodyPr>
          <a:lstStyle/>
          <a:p>
            <a:pPr algn="ctr">
              <a:defRPr sz="900" b="0">
                <a:solidFill>
                  <a:srgbClr val="E8EBEF"/>
                </a:solidFill>
                <a:latin typeface="Segoe UI"/>
              </a:defRPr>
            </a:pPr>
            <a:r>
              <a:t>Large benign content</a:t>
            </a:r>
            <a:br/>
            <a:r>
              <a:t>with injection buried</a:t>
            </a:r>
            <a:br/>
            <a:r>
              <a:t>deep in text to</a:t>
            </a:r>
            <a:br/>
            <a:r>
              <a:t>evade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Microsoft's Defense-in-Depth</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Three-Layer Architecture: Prevention → Detection → Impact Mitigation</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5</a:t>
            </a:r>
          </a:p>
        </p:txBody>
      </p:sp>
      <p:sp>
        <p:nvSpPr>
          <p:cNvPr id="8" name="Rounded Rectangle 7"/>
          <p:cNvSpPr/>
          <p:nvPr/>
        </p:nvSpPr>
        <p:spPr>
          <a:xfrm>
            <a:off x="274320" y="1371600"/>
            <a:ext cx="2560320" cy="1554480"/>
          </a:xfrm>
          <a:prstGeom prst="round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LAYER 1: PREVENTION</a:t>
            </a:r>
          </a:p>
        </p:txBody>
      </p:sp>
      <p:sp>
        <p:nvSpPr>
          <p:cNvPr id="9" name="Rounded Rectangle 8"/>
          <p:cNvSpPr/>
          <p:nvPr/>
        </p:nvSpPr>
        <p:spPr>
          <a:xfrm>
            <a:off x="3108960" y="137160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8960" y="1371600"/>
            <a:ext cx="2834640" cy="3810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1508760"/>
            <a:ext cx="2560320" cy="457200"/>
          </a:xfrm>
          <a:prstGeom prst="rect">
            <a:avLst/>
          </a:prstGeom>
          <a:noFill/>
        </p:spPr>
        <p:txBody>
          <a:bodyPr wrap="square">
            <a:spAutoFit/>
          </a:bodyPr>
          <a:lstStyle/>
          <a:p>
            <a:pPr algn="ctr">
              <a:defRPr sz="1200" b="1">
                <a:solidFill>
                  <a:srgbClr val="FFFFFF"/>
                </a:solidFill>
                <a:latin typeface="Segoe UI"/>
              </a:defRPr>
            </a:pPr>
            <a:r>
              <a:t>Spotlighting</a:t>
            </a:r>
          </a:p>
        </p:txBody>
      </p:sp>
      <p:sp>
        <p:nvSpPr>
          <p:cNvPr id="12" name="TextBox 11"/>
          <p:cNvSpPr txBox="1"/>
          <p:nvPr/>
        </p:nvSpPr>
        <p:spPr>
          <a:xfrm>
            <a:off x="3246120" y="2011680"/>
            <a:ext cx="2560320" cy="822960"/>
          </a:xfrm>
          <a:prstGeom prst="rect">
            <a:avLst/>
          </a:prstGeom>
          <a:noFill/>
        </p:spPr>
        <p:txBody>
          <a:bodyPr wrap="square">
            <a:spAutoFit/>
          </a:bodyPr>
          <a:lstStyle/>
          <a:p>
            <a:pPr algn="ctr">
              <a:defRPr sz="1000" b="0">
                <a:solidFill>
                  <a:srgbClr val="E8EBEF"/>
                </a:solidFill>
                <a:latin typeface="Segoe UI"/>
              </a:defRPr>
            </a:pPr>
            <a:r>
              <a:t>Delimiting, datamarking,</a:t>
            </a:r>
            <a:br/>
            <a:r>
              <a:t>encoding to isolate</a:t>
            </a:r>
            <a:br/>
            <a:r>
              <a:t>untrusted content</a:t>
            </a:r>
          </a:p>
        </p:txBody>
      </p:sp>
      <p:sp>
        <p:nvSpPr>
          <p:cNvPr id="13" name="Rounded Rectangle 12"/>
          <p:cNvSpPr/>
          <p:nvPr/>
        </p:nvSpPr>
        <p:spPr>
          <a:xfrm>
            <a:off x="6126479" y="137160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79" y="1371600"/>
            <a:ext cx="2834640" cy="3810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39" y="1508760"/>
            <a:ext cx="2560320" cy="457200"/>
          </a:xfrm>
          <a:prstGeom prst="rect">
            <a:avLst/>
          </a:prstGeom>
          <a:noFill/>
        </p:spPr>
        <p:txBody>
          <a:bodyPr wrap="square">
            <a:spAutoFit/>
          </a:bodyPr>
          <a:lstStyle/>
          <a:p>
            <a:pPr algn="ctr">
              <a:defRPr sz="1200" b="1">
                <a:solidFill>
                  <a:srgbClr val="FFFFFF"/>
                </a:solidFill>
                <a:latin typeface="Segoe UI"/>
              </a:defRPr>
            </a:pPr>
            <a:r>
              <a:t>System Prompt</a:t>
            </a:r>
            <a:br/>
            <a:r>
              <a:t>Hardening</a:t>
            </a:r>
          </a:p>
        </p:txBody>
      </p:sp>
      <p:sp>
        <p:nvSpPr>
          <p:cNvPr id="16" name="TextBox 15"/>
          <p:cNvSpPr txBox="1"/>
          <p:nvPr/>
        </p:nvSpPr>
        <p:spPr>
          <a:xfrm>
            <a:off x="6263639" y="2011680"/>
            <a:ext cx="2560320" cy="822960"/>
          </a:xfrm>
          <a:prstGeom prst="rect">
            <a:avLst/>
          </a:prstGeom>
          <a:noFill/>
        </p:spPr>
        <p:txBody>
          <a:bodyPr wrap="square">
            <a:spAutoFit/>
          </a:bodyPr>
          <a:lstStyle/>
          <a:p>
            <a:pPr algn="ctr">
              <a:defRPr sz="1000" b="0">
                <a:solidFill>
                  <a:srgbClr val="E8EBEF"/>
                </a:solidFill>
                <a:latin typeface="Segoe UI"/>
              </a:defRPr>
            </a:pPr>
            <a:r>
              <a:t>Resist override by</a:t>
            </a:r>
            <a:br/>
            <a:r>
              <a:t>injected instructions</a:t>
            </a:r>
          </a:p>
        </p:txBody>
      </p:sp>
      <p:sp>
        <p:nvSpPr>
          <p:cNvPr id="17" name="Rounded Rectangle 16"/>
          <p:cNvSpPr/>
          <p:nvPr/>
        </p:nvSpPr>
        <p:spPr>
          <a:xfrm>
            <a:off x="9144000" y="137160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1371600"/>
            <a:ext cx="2834640" cy="3810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508760"/>
            <a:ext cx="2560320" cy="457200"/>
          </a:xfrm>
          <a:prstGeom prst="rect">
            <a:avLst/>
          </a:prstGeom>
          <a:noFill/>
        </p:spPr>
        <p:txBody>
          <a:bodyPr wrap="square">
            <a:spAutoFit/>
          </a:bodyPr>
          <a:lstStyle/>
          <a:p>
            <a:pPr algn="ctr">
              <a:defRPr sz="1200" b="1">
                <a:solidFill>
                  <a:srgbClr val="FFFFFF"/>
                </a:solidFill>
                <a:latin typeface="Segoe UI"/>
              </a:defRPr>
            </a:pPr>
            <a:r>
              <a:t>Input Sanitization</a:t>
            </a:r>
            <a:br/>
            <a:r>
              <a:t>&amp; Validation</a:t>
            </a:r>
          </a:p>
        </p:txBody>
      </p:sp>
      <p:sp>
        <p:nvSpPr>
          <p:cNvPr id="20" name="TextBox 19"/>
          <p:cNvSpPr txBox="1"/>
          <p:nvPr/>
        </p:nvSpPr>
        <p:spPr>
          <a:xfrm>
            <a:off x="9281160" y="2011680"/>
            <a:ext cx="2560320" cy="822960"/>
          </a:xfrm>
          <a:prstGeom prst="rect">
            <a:avLst/>
          </a:prstGeom>
          <a:noFill/>
        </p:spPr>
        <p:txBody>
          <a:bodyPr wrap="square">
            <a:spAutoFit/>
          </a:bodyPr>
          <a:lstStyle/>
          <a:p>
            <a:pPr algn="ctr">
              <a:defRPr sz="1000" b="0">
                <a:solidFill>
                  <a:srgbClr val="E8EBEF"/>
                </a:solidFill>
                <a:latin typeface="Segoe UI"/>
              </a:defRPr>
            </a:pPr>
            <a:r>
              <a:t>Clean and validate</a:t>
            </a:r>
            <a:br/>
            <a:r>
              <a:t>before processing</a:t>
            </a:r>
          </a:p>
        </p:txBody>
      </p:sp>
      <p:sp>
        <p:nvSpPr>
          <p:cNvPr id="21" name="Rounded Rectangle 20"/>
          <p:cNvSpPr/>
          <p:nvPr/>
        </p:nvSpPr>
        <p:spPr>
          <a:xfrm>
            <a:off x="274320" y="3154680"/>
            <a:ext cx="2560320" cy="1554480"/>
          </a:xfrm>
          <a:prstGeom prst="roundRect">
            <a:avLst/>
          </a:prstGeom>
          <a:solidFill>
            <a:srgbClr val="0A6E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LAYER 2: DETECTION</a:t>
            </a:r>
          </a:p>
        </p:txBody>
      </p:sp>
      <p:sp>
        <p:nvSpPr>
          <p:cNvPr id="22" name="Rounded Rectangle 21"/>
          <p:cNvSpPr/>
          <p:nvPr/>
        </p:nvSpPr>
        <p:spPr>
          <a:xfrm>
            <a:off x="3108960" y="315468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3154680"/>
            <a:ext cx="2834640" cy="38100"/>
          </a:xfrm>
          <a:prstGeom prst="rect">
            <a:avLst/>
          </a:prstGeom>
          <a:solidFill>
            <a:srgbClr val="0A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6120" y="3291840"/>
            <a:ext cx="2560320" cy="457200"/>
          </a:xfrm>
          <a:prstGeom prst="rect">
            <a:avLst/>
          </a:prstGeom>
          <a:noFill/>
        </p:spPr>
        <p:txBody>
          <a:bodyPr wrap="square">
            <a:spAutoFit/>
          </a:bodyPr>
          <a:lstStyle/>
          <a:p>
            <a:pPr algn="ctr">
              <a:defRPr sz="1200" b="1">
                <a:solidFill>
                  <a:srgbClr val="FFFFFF"/>
                </a:solidFill>
                <a:latin typeface="Segoe UI"/>
              </a:defRPr>
            </a:pPr>
            <a:r>
              <a:t>Prompt Shields</a:t>
            </a:r>
            <a:br/>
            <a:r>
              <a:t>API (Pre/Post)</a:t>
            </a:r>
          </a:p>
        </p:txBody>
      </p:sp>
      <p:sp>
        <p:nvSpPr>
          <p:cNvPr id="25" name="TextBox 24"/>
          <p:cNvSpPr txBox="1"/>
          <p:nvPr/>
        </p:nvSpPr>
        <p:spPr>
          <a:xfrm>
            <a:off x="3246120" y="3794760"/>
            <a:ext cx="2560320" cy="822960"/>
          </a:xfrm>
          <a:prstGeom prst="rect">
            <a:avLst/>
          </a:prstGeom>
          <a:noFill/>
        </p:spPr>
        <p:txBody>
          <a:bodyPr wrap="square">
            <a:spAutoFit/>
          </a:bodyPr>
          <a:lstStyle/>
          <a:p>
            <a:pPr algn="ctr">
              <a:defRPr sz="1000" b="0">
                <a:solidFill>
                  <a:srgbClr val="E8EBEF"/>
                </a:solidFill>
                <a:latin typeface="Segoe UI"/>
              </a:defRPr>
            </a:pPr>
            <a:r>
              <a:t>ML-based real-time</a:t>
            </a:r>
            <a:br/>
            <a:r>
              <a:t>scanning of inputs</a:t>
            </a:r>
            <a:br/>
            <a:r>
              <a:t>and outputs</a:t>
            </a:r>
          </a:p>
        </p:txBody>
      </p:sp>
      <p:sp>
        <p:nvSpPr>
          <p:cNvPr id="26" name="Rounded Rectangle 25"/>
          <p:cNvSpPr/>
          <p:nvPr/>
        </p:nvSpPr>
        <p:spPr>
          <a:xfrm>
            <a:off x="6126479" y="315468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79" y="3154680"/>
            <a:ext cx="2834640" cy="38100"/>
          </a:xfrm>
          <a:prstGeom prst="rect">
            <a:avLst/>
          </a:prstGeom>
          <a:solidFill>
            <a:srgbClr val="0A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39" y="3291840"/>
            <a:ext cx="2560320" cy="457200"/>
          </a:xfrm>
          <a:prstGeom prst="rect">
            <a:avLst/>
          </a:prstGeom>
          <a:noFill/>
        </p:spPr>
        <p:txBody>
          <a:bodyPr wrap="square">
            <a:spAutoFit/>
          </a:bodyPr>
          <a:lstStyle/>
          <a:p>
            <a:pPr algn="ctr">
              <a:defRPr sz="1200" b="1">
                <a:solidFill>
                  <a:srgbClr val="FFFFFF"/>
                </a:solidFill>
                <a:latin typeface="Segoe UI"/>
              </a:defRPr>
            </a:pPr>
            <a:r>
              <a:t>XPIA Classifier</a:t>
            </a:r>
          </a:p>
        </p:txBody>
      </p:sp>
      <p:sp>
        <p:nvSpPr>
          <p:cNvPr id="29" name="TextBox 28"/>
          <p:cNvSpPr txBox="1"/>
          <p:nvPr/>
        </p:nvSpPr>
        <p:spPr>
          <a:xfrm>
            <a:off x="6263639" y="3794760"/>
            <a:ext cx="2560320" cy="822960"/>
          </a:xfrm>
          <a:prstGeom prst="rect">
            <a:avLst/>
          </a:prstGeom>
          <a:noFill/>
        </p:spPr>
        <p:txBody>
          <a:bodyPr wrap="square">
            <a:spAutoFit/>
          </a:bodyPr>
          <a:lstStyle/>
          <a:p>
            <a:pPr algn="ctr">
              <a:defRPr sz="1000" b="0">
                <a:solidFill>
                  <a:srgbClr val="E8EBEF"/>
                </a:solidFill>
                <a:latin typeface="Segoe UI"/>
              </a:defRPr>
            </a:pPr>
            <a:r>
              <a:t>Trained on adversarial</a:t>
            </a:r>
            <a:br/>
            <a:r>
              <a:t>datasets including</a:t>
            </a:r>
            <a:br/>
            <a:r>
              <a:t>encoding tricks</a:t>
            </a:r>
          </a:p>
        </p:txBody>
      </p:sp>
      <p:sp>
        <p:nvSpPr>
          <p:cNvPr id="30" name="Rounded Rectangle 29"/>
          <p:cNvSpPr/>
          <p:nvPr/>
        </p:nvSpPr>
        <p:spPr>
          <a:xfrm>
            <a:off x="9144000" y="315468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0" y="3154680"/>
            <a:ext cx="2834640" cy="38100"/>
          </a:xfrm>
          <a:prstGeom prst="rect">
            <a:avLst/>
          </a:prstGeom>
          <a:solidFill>
            <a:srgbClr val="0A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91840"/>
            <a:ext cx="2560320" cy="457200"/>
          </a:xfrm>
          <a:prstGeom prst="rect">
            <a:avLst/>
          </a:prstGeom>
          <a:noFill/>
        </p:spPr>
        <p:txBody>
          <a:bodyPr wrap="square">
            <a:spAutoFit/>
          </a:bodyPr>
          <a:lstStyle/>
          <a:p>
            <a:pPr algn="ctr">
              <a:defRPr sz="1200" b="1">
                <a:solidFill>
                  <a:srgbClr val="FFFFFF"/>
                </a:solidFill>
                <a:latin typeface="Segoe UI"/>
              </a:defRPr>
            </a:pPr>
            <a:r>
              <a:t>Behavioral</a:t>
            </a:r>
            <a:br/>
            <a:r>
              <a:t>Monitoring</a:t>
            </a:r>
          </a:p>
        </p:txBody>
      </p:sp>
      <p:sp>
        <p:nvSpPr>
          <p:cNvPr id="33" name="TextBox 32"/>
          <p:cNvSpPr txBox="1"/>
          <p:nvPr/>
        </p:nvSpPr>
        <p:spPr>
          <a:xfrm>
            <a:off x="9281160" y="3794760"/>
            <a:ext cx="2560320" cy="822960"/>
          </a:xfrm>
          <a:prstGeom prst="rect">
            <a:avLst/>
          </a:prstGeom>
          <a:noFill/>
        </p:spPr>
        <p:txBody>
          <a:bodyPr wrap="square">
            <a:spAutoFit/>
          </a:bodyPr>
          <a:lstStyle/>
          <a:p>
            <a:pPr algn="ctr">
              <a:defRPr sz="1000" b="0">
                <a:solidFill>
                  <a:srgbClr val="E8EBEF"/>
                </a:solidFill>
                <a:latin typeface="Segoe UI"/>
              </a:defRPr>
            </a:pPr>
            <a:r>
              <a:t>TaskTracker framework</a:t>
            </a:r>
            <a:br/>
            <a:r>
              <a:t>detects anomalous</a:t>
            </a:r>
            <a:br/>
            <a:r>
              <a:t>agent actions</a:t>
            </a:r>
          </a:p>
        </p:txBody>
      </p:sp>
      <p:sp>
        <p:nvSpPr>
          <p:cNvPr id="34" name="Rounded Rectangle 33"/>
          <p:cNvSpPr/>
          <p:nvPr/>
        </p:nvSpPr>
        <p:spPr>
          <a:xfrm>
            <a:off x="274320" y="4937760"/>
            <a:ext cx="2560320" cy="1554480"/>
          </a:xfrm>
          <a:prstGeom prst="roundRect">
            <a:avLst/>
          </a:prstGeom>
          <a:solidFill>
            <a:srgbClr val="804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LAYER 3: IMPACT MITIGATION</a:t>
            </a:r>
          </a:p>
        </p:txBody>
      </p:sp>
      <p:sp>
        <p:nvSpPr>
          <p:cNvPr id="35" name="Rounded Rectangle 34"/>
          <p:cNvSpPr/>
          <p:nvPr/>
        </p:nvSpPr>
        <p:spPr>
          <a:xfrm>
            <a:off x="3108960" y="493776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0" y="4937760"/>
            <a:ext cx="2834640" cy="38100"/>
          </a:xfrm>
          <a:prstGeom prst="rect">
            <a:avLst/>
          </a:prstGeom>
          <a:solidFill>
            <a:srgbClr val="80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6120" y="5074920"/>
            <a:ext cx="2560320" cy="457200"/>
          </a:xfrm>
          <a:prstGeom prst="rect">
            <a:avLst/>
          </a:prstGeom>
          <a:noFill/>
        </p:spPr>
        <p:txBody>
          <a:bodyPr wrap="square">
            <a:spAutoFit/>
          </a:bodyPr>
          <a:lstStyle/>
          <a:p>
            <a:pPr algn="ctr">
              <a:defRPr sz="1200" b="1">
                <a:solidFill>
                  <a:srgbClr val="FFFFFF"/>
                </a:solidFill>
                <a:latin typeface="Segoe UI"/>
              </a:defRPr>
            </a:pPr>
            <a:r>
              <a:t>Deterministic</a:t>
            </a:r>
            <a:br/>
            <a:r>
              <a:t>Blocking</a:t>
            </a:r>
          </a:p>
        </p:txBody>
      </p:sp>
      <p:sp>
        <p:nvSpPr>
          <p:cNvPr id="38" name="TextBox 37"/>
          <p:cNvSpPr txBox="1"/>
          <p:nvPr/>
        </p:nvSpPr>
        <p:spPr>
          <a:xfrm>
            <a:off x="3246120" y="5577840"/>
            <a:ext cx="2560320" cy="822960"/>
          </a:xfrm>
          <a:prstGeom prst="rect">
            <a:avLst/>
          </a:prstGeom>
          <a:noFill/>
        </p:spPr>
        <p:txBody>
          <a:bodyPr wrap="square">
            <a:spAutoFit/>
          </a:bodyPr>
          <a:lstStyle/>
          <a:p>
            <a:pPr algn="ctr">
              <a:defRPr sz="1000" b="0">
                <a:solidFill>
                  <a:srgbClr val="E8EBEF"/>
                </a:solidFill>
                <a:latin typeface="Segoe UI"/>
              </a:defRPr>
            </a:pPr>
            <a:r>
              <a:t>Hardcoded blocks on</a:t>
            </a:r>
            <a:br/>
            <a:r>
              <a:t>URLs, images, external</a:t>
            </a:r>
            <a:br/>
            <a:r>
              <a:t>links</a:t>
            </a:r>
          </a:p>
        </p:txBody>
      </p:sp>
      <p:sp>
        <p:nvSpPr>
          <p:cNvPr id="39" name="Rounded Rectangle 38"/>
          <p:cNvSpPr/>
          <p:nvPr/>
        </p:nvSpPr>
        <p:spPr>
          <a:xfrm>
            <a:off x="6126479" y="493776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79" y="4937760"/>
            <a:ext cx="2834640" cy="38100"/>
          </a:xfrm>
          <a:prstGeom prst="rect">
            <a:avLst/>
          </a:prstGeom>
          <a:solidFill>
            <a:srgbClr val="80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39" y="5074920"/>
            <a:ext cx="2560320" cy="457200"/>
          </a:xfrm>
          <a:prstGeom prst="rect">
            <a:avLst/>
          </a:prstGeom>
          <a:noFill/>
        </p:spPr>
        <p:txBody>
          <a:bodyPr wrap="square">
            <a:spAutoFit/>
          </a:bodyPr>
          <a:lstStyle/>
          <a:p>
            <a:pPr algn="ctr">
              <a:defRPr sz="1200" b="1">
                <a:solidFill>
                  <a:srgbClr val="FFFFFF"/>
                </a:solidFill>
                <a:latin typeface="Segoe UI"/>
              </a:defRPr>
            </a:pPr>
            <a:r>
              <a:t>Human-in-the-Loop</a:t>
            </a:r>
            <a:br/>
            <a:r>
              <a:t>Consent</a:t>
            </a:r>
          </a:p>
        </p:txBody>
      </p:sp>
      <p:sp>
        <p:nvSpPr>
          <p:cNvPr id="42" name="TextBox 41"/>
          <p:cNvSpPr txBox="1"/>
          <p:nvPr/>
        </p:nvSpPr>
        <p:spPr>
          <a:xfrm>
            <a:off x="6263639" y="5577840"/>
            <a:ext cx="2560320" cy="822960"/>
          </a:xfrm>
          <a:prstGeom prst="rect">
            <a:avLst/>
          </a:prstGeom>
          <a:noFill/>
        </p:spPr>
        <p:txBody>
          <a:bodyPr wrap="square">
            <a:spAutoFit/>
          </a:bodyPr>
          <a:lstStyle/>
          <a:p>
            <a:pPr algn="ctr">
              <a:defRPr sz="1000" b="0">
                <a:solidFill>
                  <a:srgbClr val="E8EBEF"/>
                </a:solidFill>
                <a:latin typeface="Segoe UI"/>
              </a:defRPr>
            </a:pPr>
            <a:r>
              <a:t>User confirmation for</a:t>
            </a:r>
            <a:br/>
            <a:r>
              <a:t>sensitive/risky</a:t>
            </a:r>
            <a:br/>
            <a:r>
              <a:t>actions</a:t>
            </a:r>
          </a:p>
        </p:txBody>
      </p:sp>
      <p:sp>
        <p:nvSpPr>
          <p:cNvPr id="43" name="Rounded Rectangle 42"/>
          <p:cNvSpPr/>
          <p:nvPr/>
        </p:nvSpPr>
        <p:spPr>
          <a:xfrm>
            <a:off x="9144000" y="4937760"/>
            <a:ext cx="2834640" cy="1554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144000" y="4937760"/>
            <a:ext cx="2834640" cy="38100"/>
          </a:xfrm>
          <a:prstGeom prst="rect">
            <a:avLst/>
          </a:prstGeom>
          <a:solidFill>
            <a:srgbClr val="80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81160" y="5074920"/>
            <a:ext cx="2560320" cy="457200"/>
          </a:xfrm>
          <a:prstGeom prst="rect">
            <a:avLst/>
          </a:prstGeom>
          <a:noFill/>
        </p:spPr>
        <p:txBody>
          <a:bodyPr wrap="square">
            <a:spAutoFit/>
          </a:bodyPr>
          <a:lstStyle/>
          <a:p>
            <a:pPr algn="ctr">
              <a:defRPr sz="1200" b="1">
                <a:solidFill>
                  <a:srgbClr val="FFFFFF"/>
                </a:solidFill>
                <a:latin typeface="Segoe UI"/>
              </a:defRPr>
            </a:pPr>
            <a:r>
              <a:t>Data Governance</a:t>
            </a:r>
          </a:p>
        </p:txBody>
      </p:sp>
      <p:sp>
        <p:nvSpPr>
          <p:cNvPr id="46" name="TextBox 45"/>
          <p:cNvSpPr txBox="1"/>
          <p:nvPr/>
        </p:nvSpPr>
        <p:spPr>
          <a:xfrm>
            <a:off x="9281160" y="5577840"/>
            <a:ext cx="2560320" cy="822960"/>
          </a:xfrm>
          <a:prstGeom prst="rect">
            <a:avLst/>
          </a:prstGeom>
          <a:noFill/>
        </p:spPr>
        <p:txBody>
          <a:bodyPr wrap="square">
            <a:spAutoFit/>
          </a:bodyPr>
          <a:lstStyle/>
          <a:p>
            <a:pPr algn="ctr">
              <a:defRPr sz="1000" b="0">
                <a:solidFill>
                  <a:srgbClr val="E8EBEF"/>
                </a:solidFill>
                <a:latin typeface="Segoe UI"/>
              </a:defRPr>
            </a:pPr>
            <a:r>
              <a:t>Purview DLP, sensitivity</a:t>
            </a:r>
            <a:br/>
            <a:r>
              <a:t>labels, JIT privileges,</a:t>
            </a:r>
            <a:br/>
            <a:r>
              <a:t>Rule of Two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Security Stack Mapping</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Each Layer: What It Detects and Where Alerts Surface</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6</a:t>
            </a:r>
          </a:p>
        </p:txBody>
      </p:sp>
      <p:graphicFrame>
        <p:nvGraphicFramePr>
          <p:cNvPr id="8" name="Table 7"/>
          <p:cNvGraphicFramePr>
            <a:graphicFrameLocks noGrp="1"/>
          </p:cNvGraphicFramePr>
          <p:nvPr/>
        </p:nvGraphicFramePr>
        <p:xfrm>
          <a:off x="274320" y="1371600"/>
          <a:ext cx="10332720" cy="3200400"/>
        </p:xfrm>
        <a:graphic>
          <a:graphicData uri="http://schemas.openxmlformats.org/drawingml/2006/table">
            <a:tbl>
              <a:tblPr firstRow="1" bandRow="1">
                <a:tableStyleId>{5C22544A-7EE6-4342-B048-85BDC9FD1C3A}</a:tableStyleId>
              </a:tblPr>
              <a:tblGrid>
                <a:gridCol w="2560320"/>
                <a:gridCol w="3200400"/>
                <a:gridCol w="2011680"/>
                <a:gridCol w="2560320"/>
              </a:tblGrid>
              <a:tr h="320040">
                <a:tc>
                  <a:txBody>
                    <a:bodyPr/>
                    <a:lstStyle/>
                    <a:p>
                      <a:pPr algn="l">
                        <a:defRPr sz="1100" b="1">
                          <a:solidFill>
                            <a:srgbClr val="FFFFFF"/>
                          </a:solidFill>
                          <a:latin typeface="Segoe UI"/>
                        </a:defRPr>
                      </a:pPr>
                      <a:r>
                        <a:t>Security Component</a:t>
                      </a:r>
                    </a:p>
                  </a:txBody>
                  <a:tcPr anchor="ctr" marL="73152" marR="73152" marT="36576" marB="36576">
                    <a:solidFill>
                      <a:srgbClr val="005AA0"/>
                    </a:solidFill>
                  </a:tcPr>
                </a:tc>
                <a:tc>
                  <a:txBody>
                    <a:bodyPr/>
                    <a:lstStyle/>
                    <a:p>
                      <a:pPr algn="l">
                        <a:defRPr sz="1100" b="1">
                          <a:solidFill>
                            <a:srgbClr val="FFFFFF"/>
                          </a:solidFill>
                          <a:latin typeface="Segoe UI"/>
                        </a:defRPr>
                      </a:pPr>
                      <a:r>
                        <a:t>Role in XPIA Defense</a:t>
                      </a:r>
                    </a:p>
                  </a:txBody>
                  <a:tcPr anchor="ctr" marL="73152" marR="73152" marT="36576" marB="36576">
                    <a:solidFill>
                      <a:srgbClr val="005AA0"/>
                    </a:solidFill>
                  </a:tcPr>
                </a:tc>
                <a:tc>
                  <a:txBody>
                    <a:bodyPr/>
                    <a:lstStyle/>
                    <a:p>
                      <a:pPr algn="l">
                        <a:defRPr sz="1100" b="1">
                          <a:solidFill>
                            <a:srgbClr val="FFFFFF"/>
                          </a:solidFill>
                          <a:latin typeface="Segoe UI"/>
                        </a:defRPr>
                      </a:pPr>
                      <a:r>
                        <a:t>Alert Destination</a:t>
                      </a:r>
                    </a:p>
                  </a:txBody>
                  <a:tcPr anchor="ctr" marL="73152" marR="73152" marT="36576" marB="36576">
                    <a:solidFill>
                      <a:srgbClr val="005AA0"/>
                    </a:solidFill>
                  </a:tcPr>
                </a:tc>
                <a:tc>
                  <a:txBody>
                    <a:bodyPr/>
                    <a:lstStyle/>
                    <a:p>
                      <a:pPr algn="l">
                        <a:defRPr sz="1100" b="1">
                          <a:solidFill>
                            <a:srgbClr val="FFFFFF"/>
                          </a:solidFill>
                          <a:latin typeface="Segoe UI"/>
                        </a:defRPr>
                      </a:pPr>
                      <a:r>
                        <a:t>FSI Value</a:t>
                      </a:r>
                    </a:p>
                  </a:txBody>
                  <a:tcPr anchor="ctr" marL="73152" marR="73152" marT="36576" marB="36576">
                    <a:solidFill>
                      <a:srgbClr val="005AA0"/>
                    </a:solidFill>
                  </a:tcPr>
                </a:tc>
              </a:tr>
              <a:tr h="320040">
                <a:tc>
                  <a:txBody>
                    <a:bodyPr/>
                    <a:lstStyle/>
                    <a:p>
                      <a:pPr>
                        <a:defRPr sz="1000">
                          <a:solidFill>
                            <a:srgbClr val="FFFFFF"/>
                          </a:solidFill>
                          <a:latin typeface="Segoe UI"/>
                        </a:defRPr>
                      </a:pPr>
                      <a:r>
                        <a:t>Agent 365 Prompt Shields</a:t>
                      </a:r>
                    </a:p>
                  </a:txBody>
                  <a:tcPr anchor="ctr" marL="73152" marR="73152" marT="27432" marB="27432">
                    <a:solidFill>
                      <a:srgbClr val="0D2244"/>
                    </a:solidFill>
                  </a:tcPr>
                </a:tc>
                <a:tc>
                  <a:txBody>
                    <a:bodyPr/>
                    <a:lstStyle/>
                    <a:p>
                      <a:pPr>
                        <a:defRPr sz="1000">
                          <a:solidFill>
                            <a:srgbClr val="FFFFFF"/>
                          </a:solidFill>
                          <a:latin typeface="Segoe UI"/>
                        </a:defRPr>
                      </a:pPr>
                      <a:r>
                        <a:t>Real-time AI classifier on all inputs</a:t>
                      </a:r>
                    </a:p>
                  </a:txBody>
                  <a:tcPr anchor="ctr" marL="73152" marR="73152" marT="27432" marB="27432">
                    <a:solidFill>
                      <a:srgbClr val="0D2244"/>
                    </a:solidFill>
                  </a:tcPr>
                </a:tc>
                <a:tc>
                  <a:txBody>
                    <a:bodyPr/>
                    <a:lstStyle/>
                    <a:p>
                      <a:pPr>
                        <a:defRPr sz="1000">
                          <a:solidFill>
                            <a:srgbClr val="FFFFFF"/>
                          </a:solidFill>
                          <a:latin typeface="Segoe UI"/>
                        </a:defRPr>
                      </a:pPr>
                      <a:r>
                        <a:t>Defender XDR / DSPM</a:t>
                      </a:r>
                    </a:p>
                  </a:txBody>
                  <a:tcPr anchor="ctr" marL="73152" marR="73152" marT="27432" marB="27432">
                    <a:solidFill>
                      <a:srgbClr val="0D2244"/>
                    </a:solidFill>
                  </a:tcPr>
                </a:tc>
                <a:tc>
                  <a:txBody>
                    <a:bodyPr/>
                    <a:lstStyle/>
                    <a:p>
                      <a:pPr>
                        <a:defRPr sz="1000">
                          <a:solidFill>
                            <a:srgbClr val="FFFFFF"/>
                          </a:solidFill>
                          <a:latin typeface="Segoe UI"/>
                        </a:defRPr>
                      </a:pPr>
                      <a:r>
                        <a:t>Core detection engine</a:t>
                      </a:r>
                    </a:p>
                  </a:txBody>
                  <a:tcPr anchor="ctr" marL="73152" marR="73152" marT="27432" marB="27432">
                    <a:solidFill>
                      <a:srgbClr val="0D2244"/>
                    </a:solidFill>
                  </a:tcPr>
                </a:tc>
              </a:tr>
              <a:tr h="320040">
                <a:tc>
                  <a:txBody>
                    <a:bodyPr/>
                    <a:lstStyle/>
                    <a:p>
                      <a:pPr>
                        <a:defRPr sz="1000">
                          <a:solidFill>
                            <a:srgbClr val="FFFFFF"/>
                          </a:solidFill>
                          <a:latin typeface="Segoe UI"/>
                        </a:defRPr>
                      </a:pPr>
                      <a:r>
                        <a:t>Azure AI Content Safety</a:t>
                      </a:r>
                    </a:p>
                  </a:txBody>
                  <a:tcPr anchor="ctr" marL="73152" marR="73152" marT="27432" marB="27432">
                    <a:solidFill>
                      <a:srgbClr val="123058"/>
                    </a:solidFill>
                  </a:tcPr>
                </a:tc>
                <a:tc>
                  <a:txBody>
                    <a:bodyPr/>
                    <a:lstStyle/>
                    <a:p>
                      <a:pPr>
                        <a:defRPr sz="1000">
                          <a:solidFill>
                            <a:srgbClr val="FFFFFF"/>
                          </a:solidFill>
                          <a:latin typeface="Segoe UI"/>
                        </a:defRPr>
                      </a:pPr>
                      <a:r>
                        <a:t>Testable API for custom validation</a:t>
                      </a:r>
                    </a:p>
                  </a:txBody>
                  <a:tcPr anchor="ctr" marL="73152" marR="73152" marT="27432" marB="27432">
                    <a:solidFill>
                      <a:srgbClr val="123058"/>
                    </a:solidFill>
                  </a:tcPr>
                </a:tc>
                <a:tc>
                  <a:txBody>
                    <a:bodyPr/>
                    <a:lstStyle/>
                    <a:p>
                      <a:pPr>
                        <a:defRPr sz="1000">
                          <a:solidFill>
                            <a:srgbClr val="FFFFFF"/>
                          </a:solidFill>
                          <a:latin typeface="Segoe UI"/>
                        </a:defRPr>
                      </a:pPr>
                      <a:r>
                        <a:t>Custom logging</a:t>
                      </a:r>
                    </a:p>
                  </a:txBody>
                  <a:tcPr anchor="ctr" marL="73152" marR="73152" marT="27432" marB="27432">
                    <a:solidFill>
                      <a:srgbClr val="123058"/>
                    </a:solidFill>
                  </a:tcPr>
                </a:tc>
                <a:tc>
                  <a:txBody>
                    <a:bodyPr/>
                    <a:lstStyle/>
                    <a:p>
                      <a:pPr>
                        <a:defRPr sz="1000">
                          <a:solidFill>
                            <a:srgbClr val="FFFFFF"/>
                          </a:solidFill>
                          <a:latin typeface="Segoe UI"/>
                        </a:defRPr>
                      </a:pPr>
                      <a:r>
                        <a:t>Verification capability</a:t>
                      </a:r>
                    </a:p>
                  </a:txBody>
                  <a:tcPr anchor="ctr" marL="73152" marR="73152" marT="27432" marB="27432">
                    <a:solidFill>
                      <a:srgbClr val="123058"/>
                    </a:solidFill>
                  </a:tcPr>
                </a:tc>
              </a:tr>
              <a:tr h="320040">
                <a:tc>
                  <a:txBody>
                    <a:bodyPr/>
                    <a:lstStyle/>
                    <a:p>
                      <a:pPr>
                        <a:defRPr sz="1000">
                          <a:solidFill>
                            <a:srgbClr val="FFFFFF"/>
                          </a:solidFill>
                          <a:latin typeface="Segoe UI"/>
                        </a:defRPr>
                      </a:pPr>
                      <a:r>
                        <a:t>Defender XDR</a:t>
                      </a:r>
                    </a:p>
                  </a:txBody>
                  <a:tcPr anchor="ctr" marL="73152" marR="73152" marT="27432" marB="27432">
                    <a:solidFill>
                      <a:srgbClr val="0D2244"/>
                    </a:solidFill>
                  </a:tcPr>
                </a:tc>
                <a:tc>
                  <a:txBody>
                    <a:bodyPr/>
                    <a:lstStyle/>
                    <a:p>
                      <a:pPr>
                        <a:defRPr sz="1000">
                          <a:solidFill>
                            <a:srgbClr val="FFFFFF"/>
                          </a:solidFill>
                          <a:latin typeface="Segoe UI"/>
                        </a:defRPr>
                      </a:pPr>
                      <a:r>
                        <a:t>Post-breach detection, KQL hunting</a:t>
                      </a:r>
                    </a:p>
                  </a:txBody>
                  <a:tcPr anchor="ctr" marL="73152" marR="73152" marT="27432" marB="27432">
                    <a:solidFill>
                      <a:srgbClr val="0D2244"/>
                    </a:solidFill>
                  </a:tcPr>
                </a:tc>
                <a:tc>
                  <a:txBody>
                    <a:bodyPr/>
                    <a:lstStyle/>
                    <a:p>
                      <a:pPr>
                        <a:defRPr sz="1000">
                          <a:solidFill>
                            <a:srgbClr val="FFFFFF"/>
                          </a:solidFill>
                          <a:latin typeface="Segoe UI"/>
                        </a:defRPr>
                      </a:pPr>
                      <a:r>
                        <a:t>Security portal</a:t>
                      </a:r>
                    </a:p>
                  </a:txBody>
                  <a:tcPr anchor="ctr" marL="73152" marR="73152" marT="27432" marB="27432">
                    <a:solidFill>
                      <a:srgbClr val="0D2244"/>
                    </a:solidFill>
                  </a:tcPr>
                </a:tc>
                <a:tc>
                  <a:txBody>
                    <a:bodyPr/>
                    <a:lstStyle/>
                    <a:p>
                      <a:pPr>
                        <a:defRPr sz="1000">
                          <a:solidFill>
                            <a:srgbClr val="FFFFFF"/>
                          </a:solidFill>
                          <a:latin typeface="Segoe UI"/>
                        </a:defRPr>
                      </a:pPr>
                      <a:r>
                        <a:t>SOC investigation</a:t>
                      </a:r>
                    </a:p>
                  </a:txBody>
                  <a:tcPr anchor="ctr" marL="73152" marR="73152" marT="27432" marB="27432">
                    <a:solidFill>
                      <a:srgbClr val="0D2244"/>
                    </a:solidFill>
                  </a:tcPr>
                </a:tc>
              </a:tr>
              <a:tr h="320040">
                <a:tc>
                  <a:txBody>
                    <a:bodyPr/>
                    <a:lstStyle/>
                    <a:p>
                      <a:pPr>
                        <a:defRPr sz="1000">
                          <a:solidFill>
                            <a:srgbClr val="FFFFFF"/>
                          </a:solidFill>
                          <a:latin typeface="Segoe UI"/>
                        </a:defRPr>
                      </a:pPr>
                      <a:r>
                        <a:t>Defender for Office 365</a:t>
                      </a:r>
                    </a:p>
                  </a:txBody>
                  <a:tcPr anchor="ctr" marL="73152" marR="73152" marT="27432" marB="27432">
                    <a:solidFill>
                      <a:srgbClr val="123058"/>
                    </a:solidFill>
                  </a:tcPr>
                </a:tc>
                <a:tc>
                  <a:txBody>
                    <a:bodyPr/>
                    <a:lstStyle/>
                    <a:p>
                      <a:pPr>
                        <a:defRPr sz="1000">
                          <a:solidFill>
                            <a:srgbClr val="FFFFFF"/>
                          </a:solidFill>
                          <a:latin typeface="Segoe UI"/>
                        </a:defRPr>
                      </a:pPr>
                      <a:r>
                        <a:t>Email metadata, Advanced Hunting</a:t>
                      </a:r>
                    </a:p>
                  </a:txBody>
                  <a:tcPr anchor="ctr" marL="73152" marR="73152" marT="27432" marB="27432">
                    <a:solidFill>
                      <a:srgbClr val="123058"/>
                    </a:solidFill>
                  </a:tcPr>
                </a:tc>
                <a:tc>
                  <a:txBody>
                    <a:bodyPr/>
                    <a:lstStyle/>
                    <a:p>
                      <a:pPr>
                        <a:defRPr sz="1000">
                          <a:solidFill>
                            <a:srgbClr val="FFFFFF"/>
                          </a:solidFill>
                          <a:latin typeface="Segoe UI"/>
                        </a:defRPr>
                      </a:pPr>
                      <a:r>
                        <a:t>Email security</a:t>
                      </a:r>
                    </a:p>
                  </a:txBody>
                  <a:tcPr anchor="ctr" marL="73152" marR="73152" marT="27432" marB="27432">
                    <a:solidFill>
                      <a:srgbClr val="123058"/>
                    </a:solidFill>
                  </a:tcPr>
                </a:tc>
                <a:tc>
                  <a:txBody>
                    <a:bodyPr/>
                    <a:lstStyle/>
                    <a:p>
                      <a:pPr>
                        <a:defRPr sz="1000">
                          <a:solidFill>
                            <a:srgbClr val="FFFFFF"/>
                          </a:solidFill>
                          <a:latin typeface="Segoe UI"/>
                        </a:defRPr>
                      </a:pPr>
                      <a:r>
                        <a:t>Source attribution</a:t>
                      </a:r>
                    </a:p>
                  </a:txBody>
                  <a:tcPr anchor="ctr" marL="73152" marR="73152" marT="27432" marB="27432">
                    <a:solidFill>
                      <a:srgbClr val="123058"/>
                    </a:solidFill>
                  </a:tcPr>
                </a:tc>
              </a:tr>
              <a:tr h="320040">
                <a:tc>
                  <a:txBody>
                    <a:bodyPr/>
                    <a:lstStyle/>
                    <a:p>
                      <a:pPr>
                        <a:defRPr sz="1000">
                          <a:solidFill>
                            <a:srgbClr val="FFFFFF"/>
                          </a:solidFill>
                          <a:latin typeface="Segoe UI"/>
                        </a:defRPr>
                      </a:pPr>
                      <a:r>
                        <a:t>Microsoft Sentinel</a:t>
                      </a:r>
                    </a:p>
                  </a:txBody>
                  <a:tcPr anchor="ctr" marL="73152" marR="73152" marT="27432" marB="27432">
                    <a:solidFill>
                      <a:srgbClr val="0D2244"/>
                    </a:solidFill>
                  </a:tcPr>
                </a:tc>
                <a:tc>
                  <a:txBody>
                    <a:bodyPr/>
                    <a:lstStyle/>
                    <a:p>
                      <a:pPr>
                        <a:defRPr sz="1000">
                          <a:solidFill>
                            <a:srgbClr val="FFFFFF"/>
                          </a:solidFill>
                          <a:latin typeface="Segoe UI"/>
                        </a:defRPr>
                      </a:pPr>
                      <a:r>
                        <a:t>Custom analytics, campaign correlation</a:t>
                      </a:r>
                    </a:p>
                  </a:txBody>
                  <a:tcPr anchor="ctr" marL="73152" marR="73152" marT="27432" marB="27432">
                    <a:solidFill>
                      <a:srgbClr val="0D2244"/>
                    </a:solidFill>
                  </a:tcPr>
                </a:tc>
                <a:tc>
                  <a:txBody>
                    <a:bodyPr/>
                    <a:lstStyle/>
                    <a:p>
                      <a:pPr>
                        <a:defRPr sz="1000">
                          <a:solidFill>
                            <a:srgbClr val="FFFFFF"/>
                          </a:solidFill>
                          <a:latin typeface="Segoe UI"/>
                        </a:defRPr>
                      </a:pPr>
                      <a:r>
                        <a:t>SIEM workspace</a:t>
                      </a:r>
                    </a:p>
                  </a:txBody>
                  <a:tcPr anchor="ctr" marL="73152" marR="73152" marT="27432" marB="27432">
                    <a:solidFill>
                      <a:srgbClr val="0D2244"/>
                    </a:solidFill>
                  </a:tcPr>
                </a:tc>
                <a:tc>
                  <a:txBody>
                    <a:bodyPr/>
                    <a:lstStyle/>
                    <a:p>
                      <a:pPr>
                        <a:defRPr sz="1000">
                          <a:solidFill>
                            <a:srgbClr val="FFFFFF"/>
                          </a:solidFill>
                          <a:latin typeface="Segoe UI"/>
                        </a:defRPr>
                      </a:pPr>
                      <a:r>
                        <a:t>Campaign detection</a:t>
                      </a:r>
                    </a:p>
                  </a:txBody>
                  <a:tcPr anchor="ctr" marL="73152" marR="73152" marT="27432" marB="27432">
                    <a:solidFill>
                      <a:srgbClr val="0D2244"/>
                    </a:solidFill>
                  </a:tcPr>
                </a:tc>
              </a:tr>
              <a:tr h="320040">
                <a:tc>
                  <a:txBody>
                    <a:bodyPr/>
                    <a:lstStyle/>
                    <a:p>
                      <a:pPr>
                        <a:defRPr sz="1000">
                          <a:solidFill>
                            <a:srgbClr val="FFFFFF"/>
                          </a:solidFill>
                          <a:latin typeface="Segoe UI"/>
                        </a:defRPr>
                      </a:pPr>
                      <a:r>
                        <a:t>Purview DSPM for AI</a:t>
                      </a:r>
                    </a:p>
                  </a:txBody>
                  <a:tcPr anchor="ctr" marL="73152" marR="73152" marT="27432" marB="27432">
                    <a:solidFill>
                      <a:srgbClr val="123058"/>
                    </a:solidFill>
                  </a:tcPr>
                </a:tc>
                <a:tc>
                  <a:txBody>
                    <a:bodyPr/>
                    <a:lstStyle/>
                    <a:p>
                      <a:pPr>
                        <a:defRPr sz="1000">
                          <a:solidFill>
                            <a:srgbClr val="FFFFFF"/>
                          </a:solidFill>
                          <a:latin typeface="Segoe UI"/>
                        </a:defRPr>
                      </a:pPr>
                      <a:r>
                        <a:t>AI activity analytics, risk posture</a:t>
                      </a:r>
                    </a:p>
                  </a:txBody>
                  <a:tcPr anchor="ctr" marL="73152" marR="73152" marT="27432" marB="27432">
                    <a:solidFill>
                      <a:srgbClr val="123058"/>
                    </a:solidFill>
                  </a:tcPr>
                </a:tc>
                <a:tc>
                  <a:txBody>
                    <a:bodyPr/>
                    <a:lstStyle/>
                    <a:p>
                      <a:pPr>
                        <a:defRPr sz="1000">
                          <a:solidFill>
                            <a:srgbClr val="FFFFFF"/>
                          </a:solidFill>
                          <a:latin typeface="Segoe UI"/>
                        </a:defRPr>
                      </a:pPr>
                      <a:r>
                        <a:t>Compliance portal</a:t>
                      </a:r>
                    </a:p>
                  </a:txBody>
                  <a:tcPr anchor="ctr" marL="73152" marR="73152" marT="27432" marB="27432">
                    <a:solidFill>
                      <a:srgbClr val="123058"/>
                    </a:solidFill>
                  </a:tcPr>
                </a:tc>
                <a:tc>
                  <a:txBody>
                    <a:bodyPr/>
                    <a:lstStyle/>
                    <a:p>
                      <a:pPr>
                        <a:defRPr sz="1000">
                          <a:solidFill>
                            <a:srgbClr val="FFFFFF"/>
                          </a:solidFill>
                          <a:latin typeface="Segoe UI"/>
                        </a:defRPr>
                      </a:pPr>
                      <a:r>
                        <a:t>Governance &amp; audit</a:t>
                      </a:r>
                    </a:p>
                  </a:txBody>
                  <a:tcPr anchor="ctr" marL="73152" marR="73152" marT="27432" marB="27432">
                    <a:solidFill>
                      <a:srgbClr val="123058"/>
                    </a:solidFill>
                  </a:tcPr>
                </a:tc>
              </a:tr>
              <a:tr h="320040">
                <a:tc>
                  <a:txBody>
                    <a:bodyPr/>
                    <a:lstStyle/>
                    <a:p>
                      <a:pPr>
                        <a:defRPr sz="1000">
                          <a:solidFill>
                            <a:srgbClr val="FFFFFF"/>
                          </a:solidFill>
                          <a:latin typeface="Segoe UI"/>
                        </a:defRPr>
                      </a:pPr>
                      <a:r>
                        <a:t>Purview IRM</a:t>
                      </a:r>
                    </a:p>
                  </a:txBody>
                  <a:tcPr anchor="ctr" marL="73152" marR="73152" marT="27432" marB="27432">
                    <a:solidFill>
                      <a:srgbClr val="0D2244"/>
                    </a:solidFill>
                  </a:tcPr>
                </a:tc>
                <a:tc>
                  <a:txBody>
                    <a:bodyPr/>
                    <a:lstStyle/>
                    <a:p>
                      <a:pPr>
                        <a:defRPr sz="1000">
                          <a:solidFill>
                            <a:srgbClr val="FFFFFF"/>
                          </a:solidFill>
                          <a:latin typeface="Segoe UI"/>
                        </a:defRPr>
                      </a:pPr>
                      <a:r>
                        <a:t>Behavioral anomalies, insider sharing</a:t>
                      </a:r>
                    </a:p>
                  </a:txBody>
                  <a:tcPr anchor="ctr" marL="73152" marR="73152" marT="27432" marB="27432">
                    <a:solidFill>
                      <a:srgbClr val="0D2244"/>
                    </a:solidFill>
                  </a:tcPr>
                </a:tc>
                <a:tc>
                  <a:txBody>
                    <a:bodyPr/>
                    <a:lstStyle/>
                    <a:p>
                      <a:pPr>
                        <a:defRPr sz="1000">
                          <a:solidFill>
                            <a:srgbClr val="FFFFFF"/>
                          </a:solidFill>
                          <a:latin typeface="Segoe UI"/>
                        </a:defRPr>
                      </a:pPr>
                      <a:r>
                        <a:t>IRM dashboard</a:t>
                      </a:r>
                    </a:p>
                  </a:txBody>
                  <a:tcPr anchor="ctr" marL="73152" marR="73152" marT="27432" marB="27432">
                    <a:solidFill>
                      <a:srgbClr val="0D2244"/>
                    </a:solidFill>
                  </a:tcPr>
                </a:tc>
                <a:tc>
                  <a:txBody>
                    <a:bodyPr/>
                    <a:lstStyle/>
                    <a:p>
                      <a:pPr>
                        <a:defRPr sz="1000">
                          <a:solidFill>
                            <a:srgbClr val="FFFFFF"/>
                          </a:solidFill>
                          <a:latin typeface="Segoe UI"/>
                        </a:defRPr>
                      </a:pPr>
                      <a:r>
                        <a:t>Insider threat detection</a:t>
                      </a:r>
                    </a:p>
                  </a:txBody>
                  <a:tcPr anchor="ctr" marL="73152" marR="73152" marT="27432" marB="27432">
                    <a:solidFill>
                      <a:srgbClr val="0D2244"/>
                    </a:solidFill>
                  </a:tcPr>
                </a:tc>
              </a:tr>
              <a:tr h="320040">
                <a:tc>
                  <a:txBody>
                    <a:bodyPr/>
                    <a:lstStyle/>
                    <a:p>
                      <a:pPr>
                        <a:defRPr sz="1000">
                          <a:solidFill>
                            <a:srgbClr val="FFFFFF"/>
                          </a:solidFill>
                          <a:latin typeface="Segoe UI"/>
                        </a:defRPr>
                      </a:pPr>
                      <a:r>
                        <a:t>Purview Comm. Compliance</a:t>
                      </a:r>
                    </a:p>
                  </a:txBody>
                  <a:tcPr anchor="ctr" marL="73152" marR="73152" marT="27432" marB="27432">
                    <a:solidFill>
                      <a:srgbClr val="123058"/>
                    </a:solidFill>
                  </a:tcPr>
                </a:tc>
                <a:tc>
                  <a:txBody>
                    <a:bodyPr/>
                    <a:lstStyle/>
                    <a:p>
                      <a:pPr>
                        <a:defRPr sz="1000">
                          <a:solidFill>
                            <a:srgbClr val="FFFFFF"/>
                          </a:solidFill>
                          <a:latin typeface="Segoe UI"/>
                        </a:defRPr>
                      </a:pPr>
                      <a:r>
                        <a:t>Pattern matching in messages</a:t>
                      </a:r>
                    </a:p>
                  </a:txBody>
                  <a:tcPr anchor="ctr" marL="73152" marR="73152" marT="27432" marB="27432">
                    <a:solidFill>
                      <a:srgbClr val="123058"/>
                    </a:solidFill>
                  </a:tcPr>
                </a:tc>
                <a:tc>
                  <a:txBody>
                    <a:bodyPr/>
                    <a:lstStyle/>
                    <a:p>
                      <a:pPr>
                        <a:defRPr sz="1000">
                          <a:solidFill>
                            <a:srgbClr val="FFFFFF"/>
                          </a:solidFill>
                          <a:latin typeface="Segoe UI"/>
                        </a:defRPr>
                      </a:pPr>
                      <a:r>
                        <a:t>Compliance cases</a:t>
                      </a:r>
                    </a:p>
                  </a:txBody>
                  <a:tcPr anchor="ctr" marL="73152" marR="73152" marT="27432" marB="27432">
                    <a:solidFill>
                      <a:srgbClr val="123058"/>
                    </a:solidFill>
                  </a:tcPr>
                </a:tc>
                <a:tc>
                  <a:txBody>
                    <a:bodyPr/>
                    <a:lstStyle/>
                    <a:p>
                      <a:pPr>
                        <a:defRPr sz="1000">
                          <a:solidFill>
                            <a:srgbClr val="FFFFFF"/>
                          </a:solidFill>
                          <a:latin typeface="Segoe UI"/>
                        </a:defRPr>
                      </a:pPr>
                      <a:r>
                        <a:t>Code-of-conduct investigation</a:t>
                      </a:r>
                    </a:p>
                  </a:txBody>
                  <a:tcPr anchor="ctr" marL="73152" marR="73152" marT="27432" marB="27432">
                    <a:solidFill>
                      <a:srgbClr val="123058"/>
                    </a:solidFill>
                  </a:tcPr>
                </a:tc>
              </a:tr>
              <a:tr h="320040">
                <a:tc>
                  <a:txBody>
                    <a:bodyPr/>
                    <a:lstStyle/>
                    <a:p>
                      <a:pPr>
                        <a:defRPr sz="1000">
                          <a:solidFill>
                            <a:srgbClr val="FFFFFF"/>
                          </a:solidFill>
                          <a:latin typeface="Segoe UI"/>
                        </a:defRPr>
                      </a:pPr>
                      <a:r>
                        <a:t>Copilot for Security</a:t>
                      </a:r>
                    </a:p>
                  </a:txBody>
                  <a:tcPr anchor="ctr" marL="73152" marR="73152" marT="27432" marB="27432">
                    <a:solidFill>
                      <a:srgbClr val="0D2244"/>
                    </a:solidFill>
                  </a:tcPr>
                </a:tc>
                <a:tc>
                  <a:txBody>
                    <a:bodyPr/>
                    <a:lstStyle/>
                    <a:p>
                      <a:pPr>
                        <a:defRPr sz="1000">
                          <a:solidFill>
                            <a:srgbClr val="FFFFFF"/>
                          </a:solidFill>
                          <a:latin typeface="Segoe UI"/>
                        </a:defRPr>
                      </a:pPr>
                      <a:r>
                        <a:t>NL investigation, KQL acceleration</a:t>
                      </a:r>
                    </a:p>
                  </a:txBody>
                  <a:tcPr anchor="ctr" marL="73152" marR="73152" marT="27432" marB="27432">
                    <a:solidFill>
                      <a:srgbClr val="0D2244"/>
                    </a:solidFill>
                  </a:tcPr>
                </a:tc>
                <a:tc>
                  <a:txBody>
                    <a:bodyPr/>
                    <a:lstStyle/>
                    <a:p>
                      <a:pPr>
                        <a:defRPr sz="1000">
                          <a:solidFill>
                            <a:srgbClr val="FFFFFF"/>
                          </a:solidFill>
                          <a:latin typeface="Segoe UI"/>
                        </a:defRPr>
                      </a:pPr>
                      <a:r>
                        <a:t>Inline assistance</a:t>
                      </a:r>
                    </a:p>
                  </a:txBody>
                  <a:tcPr anchor="ctr" marL="73152" marR="73152" marT="27432" marB="27432">
                    <a:solidFill>
                      <a:srgbClr val="0D2244"/>
                    </a:solidFill>
                  </a:tcPr>
                </a:tc>
                <a:tc>
                  <a:txBody>
                    <a:bodyPr/>
                    <a:lstStyle/>
                    <a:p>
                      <a:pPr>
                        <a:defRPr sz="1000">
                          <a:solidFill>
                            <a:srgbClr val="FFFFFF"/>
                          </a:solidFill>
                          <a:latin typeface="Segoe UI"/>
                        </a:defRPr>
                      </a:pPr>
                      <a:r>
                        <a:t>SOC efficiency</a:t>
                      </a:r>
                    </a:p>
                  </a:txBody>
                  <a:tcPr anchor="ctr" marL="73152" marR="73152" marT="27432" marB="27432">
                    <a:solidFill>
                      <a:srgbClr val="0D224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End-to-End Signal Flow</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Email → Agent → Detection → Alert → Response → Audit</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7</a:t>
            </a:r>
          </a:p>
        </p:txBody>
      </p:sp>
      <p:sp>
        <p:nvSpPr>
          <p:cNvPr id="8" name="Rounded Rectangle 7"/>
          <p:cNvSpPr/>
          <p:nvPr/>
        </p:nvSpPr>
        <p:spPr>
          <a:xfrm>
            <a:off x="182880"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463040"/>
            <a:ext cx="1828800" cy="5080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1600200"/>
            <a:ext cx="502920" cy="502920"/>
          </a:xfrm>
          <a:prstGeom prst="ellipse">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1.</a:t>
            </a:r>
          </a:p>
        </p:txBody>
      </p:sp>
      <p:sp>
        <p:nvSpPr>
          <p:cNvPr id="11" name="TextBox 10"/>
          <p:cNvSpPr txBox="1"/>
          <p:nvPr/>
        </p:nvSpPr>
        <p:spPr>
          <a:xfrm>
            <a:off x="274320" y="2194560"/>
            <a:ext cx="1645920" cy="320040"/>
          </a:xfrm>
          <a:prstGeom prst="rect">
            <a:avLst/>
          </a:prstGeom>
          <a:noFill/>
        </p:spPr>
        <p:txBody>
          <a:bodyPr wrap="square">
            <a:spAutoFit/>
          </a:bodyPr>
          <a:lstStyle/>
          <a:p>
            <a:pPr algn="ctr">
              <a:defRPr sz="1300" b="1">
                <a:solidFill>
                  <a:srgbClr val="0F2B5B"/>
                </a:solidFill>
                <a:latin typeface="Segoe UI"/>
              </a:defRPr>
            </a:pPr>
            <a:r>
              <a:t>INGEST</a:t>
            </a:r>
          </a:p>
        </p:txBody>
      </p:sp>
      <p:sp>
        <p:nvSpPr>
          <p:cNvPr id="12" name="TextBox 11"/>
          <p:cNvSpPr txBox="1"/>
          <p:nvPr/>
        </p:nvSpPr>
        <p:spPr>
          <a:xfrm>
            <a:off x="274320" y="2560320"/>
            <a:ext cx="1645920" cy="2560320"/>
          </a:xfrm>
          <a:prstGeom prst="rect">
            <a:avLst/>
          </a:prstGeom>
          <a:noFill/>
        </p:spPr>
        <p:txBody>
          <a:bodyPr wrap="square">
            <a:spAutoFit/>
          </a:bodyPr>
          <a:lstStyle/>
          <a:p>
            <a:pPr algn="ctr">
              <a:defRPr sz="1000" b="0">
                <a:solidFill>
                  <a:srgbClr val="E8EBEF"/>
                </a:solidFill>
                <a:latin typeface="Segoe UI"/>
              </a:defRPr>
            </a:pPr>
            <a:r>
              <a:t>Email/Document</a:t>
            </a:r>
            <a:br/>
            <a:r>
              <a:t>arrives in M365</a:t>
            </a:r>
            <a:br/>
            <a:br/>
            <a:r>
              <a:t>Mail Flow Rules</a:t>
            </a:r>
            <a:br/>
            <a:r>
              <a:t>can pre-flag XPIA</a:t>
            </a:r>
            <a:br/>
            <a:r>
              <a:t>patterns</a:t>
            </a:r>
          </a:p>
        </p:txBody>
      </p:sp>
      <p:sp>
        <p:nvSpPr>
          <p:cNvPr id="13" name="Rectangle 12"/>
          <p:cNvSpPr/>
          <p:nvPr/>
        </p:nvSpPr>
        <p:spPr>
          <a:xfrm>
            <a:off x="2011680" y="3200400"/>
            <a:ext cx="13716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48840"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48840" y="1463040"/>
            <a:ext cx="1828800" cy="50800"/>
          </a:xfrm>
          <a:prstGeom prst="rect">
            <a:avLst/>
          </a:prstGeom>
          <a:solidFill>
            <a:srgbClr val="1A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788920" y="1600200"/>
            <a:ext cx="502920" cy="502920"/>
          </a:xfrm>
          <a:prstGeom prst="ellipse">
            <a:avLst/>
          </a:prstGeom>
          <a:solidFill>
            <a:srgbClr val="1A47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2.</a:t>
            </a:r>
          </a:p>
        </p:txBody>
      </p:sp>
      <p:sp>
        <p:nvSpPr>
          <p:cNvPr id="17" name="TextBox 16"/>
          <p:cNvSpPr txBox="1"/>
          <p:nvPr/>
        </p:nvSpPr>
        <p:spPr>
          <a:xfrm>
            <a:off x="2240280" y="2194560"/>
            <a:ext cx="1645920" cy="320040"/>
          </a:xfrm>
          <a:prstGeom prst="rect">
            <a:avLst/>
          </a:prstGeom>
          <a:noFill/>
        </p:spPr>
        <p:txBody>
          <a:bodyPr wrap="square">
            <a:spAutoFit/>
          </a:bodyPr>
          <a:lstStyle/>
          <a:p>
            <a:pPr algn="ctr">
              <a:defRPr sz="1300" b="1">
                <a:solidFill>
                  <a:srgbClr val="1A478A"/>
                </a:solidFill>
                <a:latin typeface="Segoe UI"/>
              </a:defRPr>
            </a:pPr>
            <a:r>
              <a:t>DETECT</a:t>
            </a:r>
          </a:p>
        </p:txBody>
      </p:sp>
      <p:sp>
        <p:nvSpPr>
          <p:cNvPr id="18" name="TextBox 17"/>
          <p:cNvSpPr txBox="1"/>
          <p:nvPr/>
        </p:nvSpPr>
        <p:spPr>
          <a:xfrm>
            <a:off x="2240280" y="2560320"/>
            <a:ext cx="1645920" cy="2560320"/>
          </a:xfrm>
          <a:prstGeom prst="rect">
            <a:avLst/>
          </a:prstGeom>
          <a:noFill/>
        </p:spPr>
        <p:txBody>
          <a:bodyPr wrap="square">
            <a:spAutoFit/>
          </a:bodyPr>
          <a:lstStyle/>
          <a:p>
            <a:pPr algn="ctr">
              <a:defRPr sz="1000" b="0">
                <a:solidFill>
                  <a:srgbClr val="E8EBEF"/>
                </a:solidFill>
                <a:latin typeface="Segoe UI"/>
              </a:defRPr>
            </a:pPr>
            <a:r>
              <a:t>Agent 365 retrieves</a:t>
            </a:r>
            <a:br/>
            <a:r>
              <a:t>content → Prompt</a:t>
            </a:r>
            <a:br/>
            <a:r>
              <a:t>Shields scans</a:t>
            </a:r>
            <a:br/>
            <a:br/>
            <a:r>
              <a:t>Pre &amp; post LLM</a:t>
            </a:r>
            <a:br/>
            <a:r>
              <a:t>processing checks</a:t>
            </a:r>
          </a:p>
        </p:txBody>
      </p:sp>
      <p:sp>
        <p:nvSpPr>
          <p:cNvPr id="19" name="Rectangle 18"/>
          <p:cNvSpPr/>
          <p:nvPr/>
        </p:nvSpPr>
        <p:spPr>
          <a:xfrm>
            <a:off x="3977640" y="3200400"/>
            <a:ext cx="13716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114800"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463040"/>
            <a:ext cx="182880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54880" y="1600200"/>
            <a:ext cx="502920" cy="5029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3.</a:t>
            </a:r>
          </a:p>
        </p:txBody>
      </p:sp>
      <p:sp>
        <p:nvSpPr>
          <p:cNvPr id="23" name="TextBox 22"/>
          <p:cNvSpPr txBox="1"/>
          <p:nvPr/>
        </p:nvSpPr>
        <p:spPr>
          <a:xfrm>
            <a:off x="4206240" y="2194560"/>
            <a:ext cx="1645920" cy="320040"/>
          </a:xfrm>
          <a:prstGeom prst="rect">
            <a:avLst/>
          </a:prstGeom>
          <a:noFill/>
        </p:spPr>
        <p:txBody>
          <a:bodyPr wrap="square">
            <a:spAutoFit/>
          </a:bodyPr>
          <a:lstStyle/>
          <a:p>
            <a:pPr algn="ctr">
              <a:defRPr sz="1300" b="1">
                <a:solidFill>
                  <a:srgbClr val="0078D4"/>
                </a:solidFill>
                <a:latin typeface="Segoe UI"/>
              </a:defRPr>
            </a:pPr>
            <a:r>
              <a:t>ALERT</a:t>
            </a:r>
          </a:p>
        </p:txBody>
      </p:sp>
      <p:sp>
        <p:nvSpPr>
          <p:cNvPr id="24" name="TextBox 23"/>
          <p:cNvSpPr txBox="1"/>
          <p:nvPr/>
        </p:nvSpPr>
        <p:spPr>
          <a:xfrm>
            <a:off x="4206240" y="2560320"/>
            <a:ext cx="1645920" cy="2560320"/>
          </a:xfrm>
          <a:prstGeom prst="rect">
            <a:avLst/>
          </a:prstGeom>
          <a:noFill/>
        </p:spPr>
        <p:txBody>
          <a:bodyPr wrap="square">
            <a:spAutoFit/>
          </a:bodyPr>
          <a:lstStyle/>
          <a:p>
            <a:pPr algn="ctr">
              <a:defRPr sz="1000" b="0">
                <a:solidFill>
                  <a:srgbClr val="E8EBEF"/>
                </a:solidFill>
                <a:latin typeface="Segoe UI"/>
              </a:defRPr>
            </a:pPr>
            <a:r>
              <a:t>XDR security alert</a:t>
            </a:r>
            <a:br/>
            <a:r>
              <a:t>DSPM interaction log</a:t>
            </a:r>
            <a:br/>
            <a:r>
              <a:t>Content Safety log</a:t>
            </a:r>
            <a:br/>
            <a:br/>
            <a:r>
              <a:t>Custom Sentinel</a:t>
            </a:r>
            <a:br/>
            <a:r>
              <a:t>rules correlate</a:t>
            </a:r>
          </a:p>
        </p:txBody>
      </p:sp>
      <p:sp>
        <p:nvSpPr>
          <p:cNvPr id="25" name="Rectangle 24"/>
          <p:cNvSpPr/>
          <p:nvPr/>
        </p:nvSpPr>
        <p:spPr>
          <a:xfrm>
            <a:off x="5943600" y="3200400"/>
            <a:ext cx="13716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80759"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0759" y="1463040"/>
            <a:ext cx="1828800" cy="50800"/>
          </a:xfrm>
          <a:prstGeom prst="rect">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20839" y="1600200"/>
            <a:ext cx="502920" cy="502920"/>
          </a:xfrm>
          <a:prstGeom prst="ellipse">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4.</a:t>
            </a:r>
          </a:p>
        </p:txBody>
      </p:sp>
      <p:sp>
        <p:nvSpPr>
          <p:cNvPr id="29" name="TextBox 28"/>
          <p:cNvSpPr txBox="1"/>
          <p:nvPr/>
        </p:nvSpPr>
        <p:spPr>
          <a:xfrm>
            <a:off x="6172199" y="2194560"/>
            <a:ext cx="1645920" cy="320040"/>
          </a:xfrm>
          <a:prstGeom prst="rect">
            <a:avLst/>
          </a:prstGeom>
          <a:noFill/>
        </p:spPr>
        <p:txBody>
          <a:bodyPr wrap="square">
            <a:spAutoFit/>
          </a:bodyPr>
          <a:lstStyle/>
          <a:p>
            <a:pPr algn="ctr">
              <a:defRPr sz="1300" b="1">
                <a:solidFill>
                  <a:srgbClr val="006E3A"/>
                </a:solidFill>
                <a:latin typeface="Segoe UI"/>
              </a:defRPr>
            </a:pPr>
            <a:r>
              <a:t>INVESTIGATE</a:t>
            </a:r>
          </a:p>
        </p:txBody>
      </p:sp>
      <p:sp>
        <p:nvSpPr>
          <p:cNvPr id="30" name="TextBox 29"/>
          <p:cNvSpPr txBox="1"/>
          <p:nvPr/>
        </p:nvSpPr>
        <p:spPr>
          <a:xfrm>
            <a:off x="6172199" y="2560320"/>
            <a:ext cx="1645920" cy="2560320"/>
          </a:xfrm>
          <a:prstGeom prst="rect">
            <a:avLst/>
          </a:prstGeom>
          <a:noFill/>
        </p:spPr>
        <p:txBody>
          <a:bodyPr wrap="square">
            <a:spAutoFit/>
          </a:bodyPr>
          <a:lstStyle/>
          <a:p>
            <a:pPr algn="ctr">
              <a:defRPr sz="1000" b="0">
                <a:solidFill>
                  <a:srgbClr val="E8EBEF"/>
                </a:solidFill>
                <a:latin typeface="Segoe UI"/>
              </a:defRPr>
            </a:pPr>
            <a:r>
              <a:t>Advanced Hunting</a:t>
            </a:r>
            <a:br/>
            <a:r>
              <a:t>KQL queries</a:t>
            </a:r>
            <a:br/>
            <a:r>
              <a:t>Copilot for Security</a:t>
            </a:r>
            <a:br/>
            <a:br/>
            <a:r>
              <a:t>Sender attribution</a:t>
            </a:r>
            <a:br/>
            <a:r>
              <a:t>via email logs</a:t>
            </a:r>
          </a:p>
        </p:txBody>
      </p:sp>
      <p:sp>
        <p:nvSpPr>
          <p:cNvPr id="31" name="Rectangle 30"/>
          <p:cNvSpPr/>
          <p:nvPr/>
        </p:nvSpPr>
        <p:spPr>
          <a:xfrm>
            <a:off x="7909559" y="3200400"/>
            <a:ext cx="13716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046719"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19" y="1463040"/>
            <a:ext cx="1828800" cy="508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686799" y="1600200"/>
            <a:ext cx="502920" cy="502920"/>
          </a:xfrm>
          <a:prstGeom prst="ellipse">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5.</a:t>
            </a:r>
          </a:p>
        </p:txBody>
      </p:sp>
      <p:sp>
        <p:nvSpPr>
          <p:cNvPr id="35" name="TextBox 34"/>
          <p:cNvSpPr txBox="1"/>
          <p:nvPr/>
        </p:nvSpPr>
        <p:spPr>
          <a:xfrm>
            <a:off x="8138159" y="2194560"/>
            <a:ext cx="1645920" cy="320040"/>
          </a:xfrm>
          <a:prstGeom prst="rect">
            <a:avLst/>
          </a:prstGeom>
          <a:noFill/>
        </p:spPr>
        <p:txBody>
          <a:bodyPr wrap="square">
            <a:spAutoFit/>
          </a:bodyPr>
          <a:lstStyle/>
          <a:p>
            <a:pPr algn="ctr">
              <a:defRPr sz="1300" b="1">
                <a:solidFill>
                  <a:srgbClr val="E06C00"/>
                </a:solidFill>
                <a:latin typeface="Segoe UI"/>
              </a:defRPr>
            </a:pPr>
            <a:r>
              <a:t>RESPOND</a:t>
            </a:r>
          </a:p>
        </p:txBody>
      </p:sp>
      <p:sp>
        <p:nvSpPr>
          <p:cNvPr id="36" name="TextBox 35"/>
          <p:cNvSpPr txBox="1"/>
          <p:nvPr/>
        </p:nvSpPr>
        <p:spPr>
          <a:xfrm>
            <a:off x="8138159" y="2560320"/>
            <a:ext cx="1645920" cy="2560320"/>
          </a:xfrm>
          <a:prstGeom prst="rect">
            <a:avLst/>
          </a:prstGeom>
          <a:noFill/>
        </p:spPr>
        <p:txBody>
          <a:bodyPr wrap="square">
            <a:spAutoFit/>
          </a:bodyPr>
          <a:lstStyle/>
          <a:p>
            <a:pPr algn="ctr">
              <a:defRPr sz="1000" b="0">
                <a:solidFill>
                  <a:srgbClr val="E8EBEF"/>
                </a:solidFill>
                <a:latin typeface="Segoe UI"/>
              </a:defRPr>
            </a:pPr>
            <a:r>
              <a:t>Quarantine agent</a:t>
            </a:r>
            <a:br/>
            <a:r>
              <a:t>Block sender</a:t>
            </a:r>
            <a:br/>
            <a:r>
              <a:t>Escalate to SOC</a:t>
            </a:r>
            <a:br/>
            <a:br/>
            <a:r>
              <a:t>IRM case creation</a:t>
            </a:r>
            <a:br/>
            <a:r>
              <a:t>for insider threat</a:t>
            </a:r>
          </a:p>
        </p:txBody>
      </p:sp>
      <p:sp>
        <p:nvSpPr>
          <p:cNvPr id="37" name="Rectangle 36"/>
          <p:cNvSpPr/>
          <p:nvPr/>
        </p:nvSpPr>
        <p:spPr>
          <a:xfrm>
            <a:off x="9875519" y="3200400"/>
            <a:ext cx="13716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012680" y="1463040"/>
            <a:ext cx="1828800" cy="38404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12680" y="1463040"/>
            <a:ext cx="1828800" cy="50800"/>
          </a:xfrm>
          <a:prstGeom prst="rect">
            <a:avLst/>
          </a:prstGeom>
          <a:solidFill>
            <a:srgbClr val="6B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652760" y="1600200"/>
            <a:ext cx="502920" cy="502920"/>
          </a:xfrm>
          <a:prstGeom prst="ellipse">
            <a:avLst/>
          </a:prstGeom>
          <a:solidFill>
            <a:srgbClr val="6B00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6.</a:t>
            </a:r>
          </a:p>
        </p:txBody>
      </p:sp>
      <p:sp>
        <p:nvSpPr>
          <p:cNvPr id="41" name="TextBox 40"/>
          <p:cNvSpPr txBox="1"/>
          <p:nvPr/>
        </p:nvSpPr>
        <p:spPr>
          <a:xfrm>
            <a:off x="10104120" y="2194560"/>
            <a:ext cx="1645920" cy="320040"/>
          </a:xfrm>
          <a:prstGeom prst="rect">
            <a:avLst/>
          </a:prstGeom>
          <a:noFill/>
        </p:spPr>
        <p:txBody>
          <a:bodyPr wrap="square">
            <a:spAutoFit/>
          </a:bodyPr>
          <a:lstStyle/>
          <a:p>
            <a:pPr algn="ctr">
              <a:defRPr sz="1300" b="1">
                <a:solidFill>
                  <a:srgbClr val="6B006B"/>
                </a:solidFill>
                <a:latin typeface="Segoe UI"/>
              </a:defRPr>
            </a:pPr>
            <a:r>
              <a:t>AUDIT</a:t>
            </a:r>
          </a:p>
        </p:txBody>
      </p:sp>
      <p:sp>
        <p:nvSpPr>
          <p:cNvPr id="42" name="TextBox 41"/>
          <p:cNvSpPr txBox="1"/>
          <p:nvPr/>
        </p:nvSpPr>
        <p:spPr>
          <a:xfrm>
            <a:off x="10104120" y="2560320"/>
            <a:ext cx="1645920" cy="2560320"/>
          </a:xfrm>
          <a:prstGeom prst="rect">
            <a:avLst/>
          </a:prstGeom>
          <a:noFill/>
        </p:spPr>
        <p:txBody>
          <a:bodyPr wrap="square">
            <a:spAutoFit/>
          </a:bodyPr>
          <a:lstStyle/>
          <a:p>
            <a:pPr algn="ctr">
              <a:defRPr sz="1000" b="0">
                <a:solidFill>
                  <a:srgbClr val="E8EBEF"/>
                </a:solidFill>
                <a:latin typeface="Segoe UI"/>
              </a:defRPr>
            </a:pPr>
            <a:r>
              <a:t>Immutable log</a:t>
            </a:r>
            <a:br/>
            <a:r>
              <a:t>All decisions recorded</a:t>
            </a:r>
            <a:br/>
            <a:r>
              <a:t>Purview Activity</a:t>
            </a:r>
            <a:br/>
            <a:r>
              <a:t>Explorer</a:t>
            </a:r>
            <a:br/>
            <a:br/>
            <a:r>
              <a:t>Regulatory reporting</a:t>
            </a:r>
          </a:p>
        </p:txBody>
      </p:sp>
      <p:sp>
        <p:nvSpPr>
          <p:cNvPr id="43" name="Rounded Rectangle 42"/>
          <p:cNvSpPr/>
          <p:nvPr/>
        </p:nvSpPr>
        <p:spPr>
          <a:xfrm>
            <a:off x="274320" y="5577840"/>
            <a:ext cx="11612880" cy="73152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669280"/>
            <a:ext cx="10972800" cy="548640"/>
          </a:xfrm>
          <a:prstGeom prst="rect">
            <a:avLst/>
          </a:prstGeom>
          <a:noFill/>
        </p:spPr>
        <p:txBody>
          <a:bodyPr wrap="square">
            <a:spAutoFit/>
          </a:bodyPr>
          <a:lstStyle/>
          <a:p>
            <a:pPr algn="l">
              <a:defRPr sz="1100" b="0">
                <a:solidFill>
                  <a:srgbClr val="E8EBEF"/>
                </a:solidFill>
                <a:latin typeface="Segoe UI"/>
              </a:defRPr>
            </a:pPr>
            <a:r>
              <a:t>Key Insight: Detection is valuable, but investigation and audit trail are what regulators and compliance teams need. Agent 365 + Purview provides the evidence chain from attack → detection → response → audit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Scenario: 50-User Email Campaign</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Your Highest-Priority Concern — Detection Approach &amp; Controls</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8</a:t>
            </a:r>
          </a:p>
        </p:txBody>
      </p:sp>
      <p:sp>
        <p:nvSpPr>
          <p:cNvPr id="8" name="Rounded Rectangle 7"/>
          <p:cNvSpPr/>
          <p:nvPr/>
        </p:nvSpPr>
        <p:spPr>
          <a:xfrm>
            <a:off x="365760" y="1371600"/>
            <a:ext cx="11430000" cy="1097280"/>
          </a:xfrm>
          <a:prstGeom prst="roundRect">
            <a:avLst/>
          </a:prstGeom>
          <a:solidFill>
            <a:srgbClr val="3D1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0800" cy="109728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17320"/>
            <a:ext cx="10972800" cy="320040"/>
          </a:xfrm>
          <a:prstGeom prst="rect">
            <a:avLst/>
          </a:prstGeom>
          <a:noFill/>
        </p:spPr>
        <p:txBody>
          <a:bodyPr wrap="square">
            <a:spAutoFit/>
          </a:bodyPr>
          <a:lstStyle/>
          <a:p>
            <a:pPr algn="l">
              <a:defRPr sz="1300" b="1">
                <a:solidFill>
                  <a:srgbClr val="E06C00"/>
                </a:solidFill>
                <a:latin typeface="Segoe UI"/>
              </a:defRPr>
            </a:pPr>
            <a:r>
              <a:t>THE SCENARIO</a:t>
            </a:r>
          </a:p>
        </p:txBody>
      </p:sp>
      <p:sp>
        <p:nvSpPr>
          <p:cNvPr id="11" name="TextBox 10"/>
          <p:cNvSpPr txBox="1"/>
          <p:nvPr/>
        </p:nvSpPr>
        <p:spPr>
          <a:xfrm>
            <a:off x="640080" y="1737360"/>
            <a:ext cx="10789920" cy="640080"/>
          </a:xfrm>
          <a:prstGeom prst="rect">
            <a:avLst/>
          </a:prstGeom>
          <a:noFill/>
        </p:spPr>
        <p:txBody>
          <a:bodyPr wrap="square">
            <a:spAutoFit/>
          </a:bodyPr>
          <a:lstStyle/>
          <a:p>
            <a:pPr algn="l">
              <a:defRPr sz="1200" b="0">
                <a:solidFill>
                  <a:srgbClr val="E8EBEF"/>
                </a:solidFill>
                <a:latin typeface="Segoe UI"/>
              </a:defRPr>
            </a:pPr>
            <a:r>
              <a:t>50 users receive emails with XPIA techniques from the same sender/domain. No malicious URLs — Defender for Office 365 doesn't flag them as phishing. The sender is injecting prompts across the firm, targeting agents that process email content.</a:t>
            </a:r>
          </a:p>
        </p:txBody>
      </p:sp>
      <p:sp>
        <p:nvSpPr>
          <p:cNvPr id="12" name="TextBox 11"/>
          <p:cNvSpPr txBox="1"/>
          <p:nvPr/>
        </p:nvSpPr>
        <p:spPr>
          <a:xfrm>
            <a:off x="365760" y="2651760"/>
            <a:ext cx="5486400" cy="365760"/>
          </a:xfrm>
          <a:prstGeom prst="rect">
            <a:avLst/>
          </a:prstGeom>
          <a:noFill/>
        </p:spPr>
        <p:txBody>
          <a:bodyPr wrap="square">
            <a:spAutoFit/>
          </a:bodyPr>
          <a:lstStyle/>
          <a:p>
            <a:pPr algn="l">
              <a:defRPr sz="1400" b="1">
                <a:solidFill>
                  <a:srgbClr val="C52828"/>
                </a:solidFill>
                <a:latin typeface="Segoe UI"/>
              </a:defRPr>
            </a:pPr>
            <a:r>
              <a:t>Current Native Capability</a:t>
            </a:r>
          </a:p>
        </p:txBody>
      </p:sp>
      <p:sp>
        <p:nvSpPr>
          <p:cNvPr id="13" name="Rounded Rectangle 12"/>
          <p:cNvSpPr/>
          <p:nvPr/>
        </p:nvSpPr>
        <p:spPr>
          <a:xfrm>
            <a:off x="365760" y="3063240"/>
            <a:ext cx="5303520" cy="182880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063240"/>
            <a:ext cx="5303520" cy="381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200400"/>
            <a:ext cx="4937760" cy="1645920"/>
          </a:xfrm>
          <a:prstGeom prst="rect">
            <a:avLst/>
          </a:prstGeom>
          <a:noFill/>
        </p:spPr>
        <p:txBody>
          <a:bodyPr wrap="square">
            <a:spAutoFit/>
          </a:bodyPr>
          <a:lstStyle/>
          <a:p>
            <a:pPr algn="l">
              <a:spcAft>
                <a:spcPts val="600"/>
              </a:spcAft>
              <a:defRPr sz="1100" b="0">
                <a:solidFill>
                  <a:srgbClr val="E8EBEF"/>
                </a:solidFill>
                <a:latin typeface="Segoe UI"/>
              </a:defRPr>
            </a:pPr>
            <a:r>
              <a:t>  •  Defender for Office 365 does NOT have XPIA detection category</a:t>
            </a:r>
          </a:p>
          <a:p>
            <a:pPr>
              <a:spcAft>
                <a:spcPts val="600"/>
              </a:spcAft>
              <a:defRPr sz="1100">
                <a:solidFill>
                  <a:srgbClr val="E8EBEF"/>
                </a:solidFill>
                <a:latin typeface="Segoe UI"/>
              </a:defRPr>
            </a:pPr>
            <a:r>
              <a:t>  •  Emails without phishing indicators pass through cleanly</a:t>
            </a:r>
          </a:p>
          <a:p>
            <a:pPr>
              <a:spcAft>
                <a:spcPts val="600"/>
              </a:spcAft>
              <a:defRPr sz="1100">
                <a:solidFill>
                  <a:srgbClr val="E8EBEF"/>
                </a:solidFill>
                <a:latin typeface="Segoe UI"/>
              </a:defRPr>
            </a:pPr>
            <a:r>
              <a:t>  •  No native campaign correlation for XPIA patterns</a:t>
            </a:r>
          </a:p>
          <a:p>
            <a:pPr>
              <a:spcAft>
                <a:spcPts val="600"/>
              </a:spcAft>
              <a:defRPr sz="1100">
                <a:solidFill>
                  <a:srgbClr val="E8EBEF"/>
                </a:solidFill>
                <a:latin typeface="Segoe UI"/>
              </a:defRPr>
            </a:pPr>
            <a:r>
              <a:t>  •  Prompt Shields only fires when Agent 365 processes email</a:t>
            </a:r>
          </a:p>
          <a:p>
            <a:pPr>
              <a:spcAft>
                <a:spcPts val="600"/>
              </a:spcAft>
              <a:defRPr sz="1100">
                <a:solidFill>
                  <a:srgbClr val="E8EBEF"/>
                </a:solidFill>
                <a:latin typeface="Segoe UI"/>
              </a:defRPr>
            </a:pPr>
            <a:r>
              <a:t>  •  If user never asks Copilot about the email, detection never triggers</a:t>
            </a:r>
          </a:p>
        </p:txBody>
      </p:sp>
      <p:sp>
        <p:nvSpPr>
          <p:cNvPr id="16" name="TextBox 15"/>
          <p:cNvSpPr txBox="1"/>
          <p:nvPr/>
        </p:nvSpPr>
        <p:spPr>
          <a:xfrm>
            <a:off x="6126480" y="2651760"/>
            <a:ext cx="5669280" cy="365760"/>
          </a:xfrm>
          <a:prstGeom prst="rect">
            <a:avLst/>
          </a:prstGeom>
          <a:noFill/>
        </p:spPr>
        <p:txBody>
          <a:bodyPr wrap="square">
            <a:spAutoFit/>
          </a:bodyPr>
          <a:lstStyle/>
          <a:p>
            <a:pPr algn="l">
              <a:defRPr sz="1400" b="1">
                <a:solidFill>
                  <a:srgbClr val="007A33"/>
                </a:solidFill>
                <a:latin typeface="Segoe UI"/>
              </a:defRPr>
            </a:pPr>
            <a:r>
              <a:t>What We Can Build Today</a:t>
            </a:r>
          </a:p>
        </p:txBody>
      </p:sp>
      <p:sp>
        <p:nvSpPr>
          <p:cNvPr id="17" name="Rounded Rectangle 16"/>
          <p:cNvSpPr/>
          <p:nvPr/>
        </p:nvSpPr>
        <p:spPr>
          <a:xfrm>
            <a:off x="6126480" y="3063240"/>
            <a:ext cx="5669280" cy="182880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3063240"/>
            <a:ext cx="5669280" cy="381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200400"/>
            <a:ext cx="5303520" cy="1645920"/>
          </a:xfrm>
          <a:prstGeom prst="rect">
            <a:avLst/>
          </a:prstGeom>
          <a:noFill/>
        </p:spPr>
        <p:txBody>
          <a:bodyPr wrap="square">
            <a:spAutoFit/>
          </a:bodyPr>
          <a:lstStyle/>
          <a:p>
            <a:pPr algn="l">
              <a:spcAft>
                <a:spcPts val="600"/>
              </a:spcAft>
              <a:defRPr sz="1100" b="0">
                <a:solidFill>
                  <a:srgbClr val="E8EBEF"/>
                </a:solidFill>
                <a:latin typeface="Segoe UI"/>
              </a:defRPr>
            </a:pPr>
            <a:r>
              <a:t>  •  Custom KQL in Sentinel: correlate sender/domain with recipient count</a:t>
            </a:r>
          </a:p>
          <a:p>
            <a:pPr>
              <a:spcAft>
                <a:spcPts val="600"/>
              </a:spcAft>
              <a:defRPr sz="1100">
                <a:solidFill>
                  <a:srgbClr val="E8EBEF"/>
                </a:solidFill>
                <a:latin typeface="Segoe UI"/>
              </a:defRPr>
            </a:pPr>
            <a:r>
              <a:t>  •  Exchange mail flow rules with XPIA regex pattern matching</a:t>
            </a:r>
          </a:p>
          <a:p>
            <a:pPr>
              <a:spcAft>
                <a:spcPts val="600"/>
              </a:spcAft>
              <a:defRPr sz="1100">
                <a:solidFill>
                  <a:srgbClr val="E8EBEF"/>
                </a:solidFill>
                <a:latin typeface="Segoe UI"/>
              </a:defRPr>
            </a:pPr>
            <a:r>
              <a:t>  •  Communication Compliance with XPIA keyword dictionary</a:t>
            </a:r>
          </a:p>
          <a:p>
            <a:pPr>
              <a:spcAft>
                <a:spcPts val="600"/>
              </a:spcAft>
              <a:defRPr sz="1100">
                <a:solidFill>
                  <a:srgbClr val="E8EBEF"/>
                </a:solidFill>
                <a:latin typeface="Segoe UI"/>
              </a:defRPr>
            </a:pPr>
            <a:r>
              <a:t>  •  Custom SIT (Sensitive Information Type) for XPIA patterns</a:t>
            </a:r>
          </a:p>
          <a:p>
            <a:pPr>
              <a:spcAft>
                <a:spcPts val="600"/>
              </a:spcAft>
              <a:defRPr sz="1100">
                <a:solidFill>
                  <a:srgbClr val="E8EBEF"/>
                </a:solidFill>
                <a:latin typeface="Segoe UI"/>
              </a:defRPr>
            </a:pPr>
            <a:r>
              <a:t>  •  DLP policy + automated investigation playbooks</a:t>
            </a:r>
          </a:p>
        </p:txBody>
      </p:sp>
      <p:sp>
        <p:nvSpPr>
          <p:cNvPr id="20" name="Rounded Rectangle 19"/>
          <p:cNvSpPr/>
          <p:nvPr/>
        </p:nvSpPr>
        <p:spPr>
          <a:xfrm>
            <a:off x="365760" y="5120640"/>
            <a:ext cx="11430000" cy="11430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166360"/>
            <a:ext cx="3657600" cy="274320"/>
          </a:xfrm>
          <a:prstGeom prst="rect">
            <a:avLst/>
          </a:prstGeom>
          <a:noFill/>
        </p:spPr>
        <p:txBody>
          <a:bodyPr wrap="square">
            <a:spAutoFit/>
          </a:bodyPr>
          <a:lstStyle/>
          <a:p>
            <a:pPr algn="l">
              <a:defRPr sz="1100" b="1">
                <a:solidFill>
                  <a:srgbClr val="0078D4"/>
                </a:solidFill>
                <a:latin typeface="Segoe UI"/>
              </a:defRPr>
            </a:pPr>
            <a:r>
              <a:t>KQL Campaign Detection (Preview)</a:t>
            </a:r>
          </a:p>
        </p:txBody>
      </p:sp>
      <p:sp>
        <p:nvSpPr>
          <p:cNvPr id="22" name="TextBox 21"/>
          <p:cNvSpPr txBox="1"/>
          <p:nvPr/>
        </p:nvSpPr>
        <p:spPr>
          <a:xfrm>
            <a:off x="548640" y="5440680"/>
            <a:ext cx="10972800" cy="731520"/>
          </a:xfrm>
          <a:prstGeom prst="rect">
            <a:avLst/>
          </a:prstGeom>
          <a:noFill/>
        </p:spPr>
        <p:txBody>
          <a:bodyPr wrap="square">
            <a:spAutoFit/>
          </a:bodyPr>
          <a:lstStyle/>
          <a:p>
            <a:pPr algn="l">
              <a:defRPr sz="900" b="0">
                <a:solidFill>
                  <a:srgbClr val="4EA8F0"/>
                </a:solidFill>
                <a:latin typeface="Cascadia Mono"/>
              </a:defRPr>
            </a:pPr>
            <a:r>
              <a:t>EmailEvents | where Timestamp &gt; ago(24h) | summarize RecipientCount = dcount(RecipientEmailAddress) by SenderFromDomain | where RecipientCount &gt;= 10  // Flag campaigns targeting 10+ users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Scenario: Insider Risk via XPIA Documents</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Detection Gaps, Workarounds, and Purview Integration</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9</a:t>
            </a:r>
          </a:p>
        </p:txBody>
      </p:sp>
      <p:sp>
        <p:nvSpPr>
          <p:cNvPr id="8" name="Rounded Rectangle 7"/>
          <p:cNvSpPr/>
          <p:nvPr/>
        </p:nvSpPr>
        <p:spPr>
          <a:xfrm>
            <a:off x="365760" y="1371600"/>
            <a:ext cx="11430000" cy="914400"/>
          </a:xfrm>
          <a:prstGeom prst="roundRect">
            <a:avLst/>
          </a:prstGeom>
          <a:solidFill>
            <a:srgbClr val="3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0800" cy="9144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17320"/>
            <a:ext cx="10972800" cy="274320"/>
          </a:xfrm>
          <a:prstGeom prst="rect">
            <a:avLst/>
          </a:prstGeom>
          <a:noFill/>
        </p:spPr>
        <p:txBody>
          <a:bodyPr wrap="square">
            <a:spAutoFit/>
          </a:bodyPr>
          <a:lstStyle/>
          <a:p>
            <a:pPr algn="l">
              <a:defRPr sz="1300" b="1">
                <a:solidFill>
                  <a:srgbClr val="C52828"/>
                </a:solidFill>
                <a:latin typeface="Segoe UI"/>
              </a:defRPr>
            </a:pPr>
            <a:r>
              <a:t>THE SCENARIO</a:t>
            </a:r>
          </a:p>
        </p:txBody>
      </p:sp>
      <p:sp>
        <p:nvSpPr>
          <p:cNvPr id="11" name="TextBox 10"/>
          <p:cNvSpPr txBox="1"/>
          <p:nvPr/>
        </p:nvSpPr>
        <p:spPr>
          <a:xfrm>
            <a:off x="640080" y="1691640"/>
            <a:ext cx="10789920" cy="502920"/>
          </a:xfrm>
          <a:prstGeom prst="rect">
            <a:avLst/>
          </a:prstGeom>
          <a:noFill/>
        </p:spPr>
        <p:txBody>
          <a:bodyPr wrap="square">
            <a:spAutoFit/>
          </a:bodyPr>
          <a:lstStyle/>
          <a:p>
            <a:pPr algn="l">
              <a:defRPr sz="1100" b="0">
                <a:solidFill>
                  <a:srgbClr val="E8EBEF"/>
                </a:solidFill>
                <a:latin typeface="Segoe UI"/>
              </a:defRPr>
            </a:pPr>
            <a:r>
              <a:t>Trusted employee uploads a document with embedded XPIA instructions to SharePoint. The next agent that processes the document executes the injected instructions — exfiltrating PII, granting unauthorized access, or manipulating workflows. Without detection, this looks like normal agent behavior.</a:t>
            </a:r>
          </a:p>
        </p:txBody>
      </p:sp>
      <p:sp>
        <p:nvSpPr>
          <p:cNvPr id="12" name="TextBox 11"/>
          <p:cNvSpPr txBox="1"/>
          <p:nvPr/>
        </p:nvSpPr>
        <p:spPr>
          <a:xfrm>
            <a:off x="365760" y="2468880"/>
            <a:ext cx="10972800" cy="365760"/>
          </a:xfrm>
          <a:prstGeom prst="rect">
            <a:avLst/>
          </a:prstGeom>
          <a:noFill/>
        </p:spPr>
        <p:txBody>
          <a:bodyPr wrap="square">
            <a:spAutoFit/>
          </a:bodyPr>
          <a:lstStyle/>
          <a:p>
            <a:pPr algn="l">
              <a:defRPr sz="1400" b="1">
                <a:solidFill>
                  <a:srgbClr val="C52828"/>
                </a:solidFill>
                <a:latin typeface="Segoe UI"/>
              </a:defRPr>
            </a:pPr>
            <a:r>
              <a:t>The Gap: No document-at-rest XPIA scanning exists today</a:t>
            </a:r>
          </a:p>
        </p:txBody>
      </p:sp>
      <p:graphicFrame>
        <p:nvGraphicFramePr>
          <p:cNvPr id="13" name="Table 12"/>
          <p:cNvGraphicFramePr>
            <a:graphicFrameLocks noGrp="1"/>
          </p:cNvGraphicFramePr>
          <p:nvPr/>
        </p:nvGraphicFramePr>
        <p:xfrm>
          <a:off x="274320" y="2926080"/>
          <a:ext cx="11247120" cy="1600200"/>
        </p:xfrm>
        <a:graphic>
          <a:graphicData uri="http://schemas.openxmlformats.org/drawingml/2006/table">
            <a:tbl>
              <a:tblPr firstRow="1" bandRow="1">
                <a:tableStyleId>{5C22544A-7EE6-4342-B048-85BDC9FD1C3A}</a:tableStyleId>
              </a:tblPr>
              <a:tblGrid>
                <a:gridCol w="2286000"/>
                <a:gridCol w="4114800"/>
                <a:gridCol w="3200400"/>
                <a:gridCol w="1645920"/>
              </a:tblGrid>
              <a:tr h="320040">
                <a:tc>
                  <a:txBody>
                    <a:bodyPr/>
                    <a:lstStyle/>
                    <a:p>
                      <a:pPr algn="l">
                        <a:defRPr sz="1100" b="1">
                          <a:solidFill>
                            <a:srgbClr val="FFFFFF"/>
                          </a:solidFill>
                          <a:latin typeface="Segoe UI"/>
                        </a:defRPr>
                      </a:pPr>
                      <a:r>
                        <a:t>Workaround</a:t>
                      </a:r>
                    </a:p>
                  </a:txBody>
                  <a:tcPr anchor="ctr" marL="73152" marR="73152" marT="36576" marB="36576">
                    <a:solidFill>
                      <a:srgbClr val="005AA0"/>
                    </a:solidFill>
                  </a:tcPr>
                </a:tc>
                <a:tc>
                  <a:txBody>
                    <a:bodyPr/>
                    <a:lstStyle/>
                    <a:p>
                      <a:pPr algn="l">
                        <a:defRPr sz="1100" b="1">
                          <a:solidFill>
                            <a:srgbClr val="FFFFFF"/>
                          </a:solidFill>
                          <a:latin typeface="Segoe UI"/>
                        </a:defRPr>
                      </a:pPr>
                      <a:r>
                        <a:t>How It Works</a:t>
                      </a:r>
                    </a:p>
                  </a:txBody>
                  <a:tcPr anchor="ctr" marL="73152" marR="73152" marT="36576" marB="36576">
                    <a:solidFill>
                      <a:srgbClr val="005AA0"/>
                    </a:solidFill>
                  </a:tcPr>
                </a:tc>
                <a:tc>
                  <a:txBody>
                    <a:bodyPr/>
                    <a:lstStyle/>
                    <a:p>
                      <a:pPr algn="l">
                        <a:defRPr sz="1100" b="1">
                          <a:solidFill>
                            <a:srgbClr val="FFFFFF"/>
                          </a:solidFill>
                          <a:latin typeface="Segoe UI"/>
                        </a:defRPr>
                      </a:pPr>
                      <a:r>
                        <a:t>Coverage</a:t>
                      </a:r>
                    </a:p>
                  </a:txBody>
                  <a:tcPr anchor="ctr" marL="73152" marR="73152" marT="36576" marB="36576">
                    <a:solidFill>
                      <a:srgbClr val="005AA0"/>
                    </a:solidFill>
                  </a:tcPr>
                </a:tc>
                <a:tc>
                  <a:txBody>
                    <a:bodyPr/>
                    <a:lstStyle/>
                    <a:p>
                      <a:pPr algn="l">
                        <a:defRPr sz="1100" b="1">
                          <a:solidFill>
                            <a:srgbClr val="FFFFFF"/>
                          </a:solidFill>
                          <a:latin typeface="Segoe UI"/>
                        </a:defRPr>
                      </a:pPr>
                      <a:r>
                        <a:t>Effort</a:t>
                      </a:r>
                    </a:p>
                  </a:txBody>
                  <a:tcPr anchor="ctr" marL="73152" marR="73152" marT="36576" marB="36576">
                    <a:solidFill>
                      <a:srgbClr val="005AA0"/>
                    </a:solidFill>
                  </a:tcPr>
                </a:tc>
              </a:tr>
              <a:tr h="320040">
                <a:tc>
                  <a:txBody>
                    <a:bodyPr/>
                    <a:lstStyle/>
                    <a:p>
                      <a:pPr>
                        <a:defRPr sz="1000">
                          <a:solidFill>
                            <a:srgbClr val="FFFFFF"/>
                          </a:solidFill>
                          <a:latin typeface="Segoe UI"/>
                        </a:defRPr>
                      </a:pPr>
                      <a:r>
                        <a:t>Custom SIT + DLP</a:t>
                      </a:r>
                    </a:p>
                  </a:txBody>
                  <a:tcPr anchor="ctr" marL="73152" marR="73152" marT="27432" marB="27432">
                    <a:solidFill>
                      <a:srgbClr val="0D2244"/>
                    </a:solidFill>
                  </a:tcPr>
                </a:tc>
                <a:tc>
                  <a:txBody>
                    <a:bodyPr/>
                    <a:lstStyle/>
                    <a:p>
                      <a:pPr>
                        <a:defRPr sz="1000">
                          <a:solidFill>
                            <a:srgbClr val="FFFFFF"/>
                          </a:solidFill>
                          <a:latin typeface="Segoe UI"/>
                        </a:defRPr>
                      </a:pPr>
                      <a:r>
                        <a:t>Regex-based XPIA patterns in Purview Sensitive Info Type → DLP policy flags documents</a:t>
                      </a:r>
                    </a:p>
                  </a:txBody>
                  <a:tcPr anchor="ctr" marL="73152" marR="73152" marT="27432" marB="27432">
                    <a:solidFill>
                      <a:srgbClr val="0D2244"/>
                    </a:solidFill>
                  </a:tcPr>
                </a:tc>
                <a:tc>
                  <a:txBody>
                    <a:bodyPr/>
                    <a:lstStyle/>
                    <a:p>
                      <a:pPr>
                        <a:defRPr sz="1000">
                          <a:solidFill>
                            <a:srgbClr val="FFFFFF"/>
                          </a:solidFill>
                          <a:latin typeface="Segoe UI"/>
                        </a:defRPr>
                      </a:pPr>
                      <a:r>
                        <a:t>Pattern-based injection (HIGH confidence patterns)</a:t>
                      </a:r>
                    </a:p>
                  </a:txBody>
                  <a:tcPr anchor="ctr" marL="73152" marR="73152" marT="27432" marB="27432">
                    <a:solidFill>
                      <a:srgbClr val="0D2244"/>
                    </a:solidFill>
                  </a:tcPr>
                </a:tc>
                <a:tc>
                  <a:txBody>
                    <a:bodyPr/>
                    <a:lstStyle/>
                    <a:p>
                      <a:pPr>
                        <a:defRPr sz="1000">
                          <a:solidFill>
                            <a:srgbClr val="FFFFFF"/>
                          </a:solidFill>
                          <a:latin typeface="Segoe UI"/>
                        </a:defRPr>
                      </a:pPr>
                      <a:r>
                        <a:t>Low — 1-2 days</a:t>
                      </a:r>
                    </a:p>
                  </a:txBody>
                  <a:tcPr anchor="ctr" marL="73152" marR="73152" marT="27432" marB="27432">
                    <a:solidFill>
                      <a:srgbClr val="0D2244"/>
                    </a:solidFill>
                  </a:tcPr>
                </a:tc>
              </a:tr>
              <a:tr h="320040">
                <a:tc>
                  <a:txBody>
                    <a:bodyPr/>
                    <a:lstStyle/>
                    <a:p>
                      <a:pPr>
                        <a:defRPr sz="1000">
                          <a:solidFill>
                            <a:srgbClr val="FFFFFF"/>
                          </a:solidFill>
                          <a:latin typeface="Segoe UI"/>
                        </a:defRPr>
                      </a:pPr>
                      <a:r>
                        <a:t>Communication Compliance</a:t>
                      </a:r>
                    </a:p>
                  </a:txBody>
                  <a:tcPr anchor="ctr" marL="73152" marR="73152" marT="27432" marB="27432">
                    <a:solidFill>
                      <a:srgbClr val="123058"/>
                    </a:solidFill>
                  </a:tcPr>
                </a:tc>
                <a:tc>
                  <a:txBody>
                    <a:bodyPr/>
                    <a:lstStyle/>
                    <a:p>
                      <a:pPr>
                        <a:defRPr sz="1000">
                          <a:solidFill>
                            <a:srgbClr val="FFFFFF"/>
                          </a:solidFill>
                          <a:latin typeface="Segoe UI"/>
                        </a:defRPr>
                      </a:pPr>
                      <a:r>
                        <a:t>XPIA keyword dictionary scans Teams/email messages for injection patterns</a:t>
                      </a:r>
                    </a:p>
                  </a:txBody>
                  <a:tcPr anchor="ctr" marL="73152" marR="73152" marT="27432" marB="27432">
                    <a:solidFill>
                      <a:srgbClr val="123058"/>
                    </a:solidFill>
                  </a:tcPr>
                </a:tc>
                <a:tc>
                  <a:txBody>
                    <a:bodyPr/>
                    <a:lstStyle/>
                    <a:p>
                      <a:pPr>
                        <a:defRPr sz="1000">
                          <a:solidFill>
                            <a:srgbClr val="FFFFFF"/>
                          </a:solidFill>
                          <a:latin typeface="Segoe UI"/>
                        </a:defRPr>
                      </a:pPr>
                      <a:r>
                        <a:t>Messages only, not document content</a:t>
                      </a:r>
                    </a:p>
                  </a:txBody>
                  <a:tcPr anchor="ctr" marL="73152" marR="73152" marT="27432" marB="27432">
                    <a:solidFill>
                      <a:srgbClr val="123058"/>
                    </a:solidFill>
                  </a:tcPr>
                </a:tc>
                <a:tc>
                  <a:txBody>
                    <a:bodyPr/>
                    <a:lstStyle/>
                    <a:p>
                      <a:pPr>
                        <a:defRPr sz="1000">
                          <a:solidFill>
                            <a:srgbClr val="FFFFFF"/>
                          </a:solidFill>
                          <a:latin typeface="Segoe UI"/>
                        </a:defRPr>
                      </a:pPr>
                      <a:r>
                        <a:t>Low — 1 day</a:t>
                      </a:r>
                    </a:p>
                  </a:txBody>
                  <a:tcPr anchor="ctr" marL="73152" marR="73152" marT="27432" marB="27432">
                    <a:solidFill>
                      <a:srgbClr val="123058"/>
                    </a:solidFill>
                  </a:tcPr>
                </a:tc>
              </a:tr>
              <a:tr h="320040">
                <a:tc>
                  <a:txBody>
                    <a:bodyPr/>
                    <a:lstStyle/>
                    <a:p>
                      <a:pPr>
                        <a:defRPr sz="1000">
                          <a:solidFill>
                            <a:srgbClr val="FFFFFF"/>
                          </a:solidFill>
                          <a:latin typeface="Segoe UI"/>
                        </a:defRPr>
                      </a:pPr>
                      <a:r>
                        <a:t>IRM Behavioral Correlation</a:t>
                      </a:r>
                    </a:p>
                  </a:txBody>
                  <a:tcPr anchor="ctr" marL="73152" marR="73152" marT="27432" marB="27432">
                    <a:solidFill>
                      <a:srgbClr val="0D2244"/>
                    </a:solidFill>
                  </a:tcPr>
                </a:tc>
                <a:tc>
                  <a:txBody>
                    <a:bodyPr/>
                    <a:lstStyle/>
                    <a:p>
                      <a:pPr>
                        <a:defRPr sz="1000">
                          <a:solidFill>
                            <a:srgbClr val="FFFFFF"/>
                          </a:solidFill>
                          <a:latin typeface="Segoe UI"/>
                        </a:defRPr>
                      </a:pPr>
                      <a:r>
                        <a:t>Anomalous sharing + DLP match + Copilot alerts = elevated risk score + case</a:t>
                      </a:r>
                    </a:p>
                  </a:txBody>
                  <a:tcPr anchor="ctr" marL="73152" marR="73152" marT="27432" marB="27432">
                    <a:solidFill>
                      <a:srgbClr val="0D2244"/>
                    </a:solidFill>
                  </a:tcPr>
                </a:tc>
                <a:tc>
                  <a:txBody>
                    <a:bodyPr/>
                    <a:lstStyle/>
                    <a:p>
                      <a:pPr>
                        <a:defRPr sz="1000">
                          <a:solidFill>
                            <a:srgbClr val="FFFFFF"/>
                          </a:solidFill>
                          <a:latin typeface="Segoe UI"/>
                        </a:defRPr>
                      </a:pPr>
                      <a:r>
                        <a:t>Behavioral signals around XPIA documents</a:t>
                      </a:r>
                    </a:p>
                  </a:txBody>
                  <a:tcPr anchor="ctr" marL="73152" marR="73152" marT="27432" marB="27432">
                    <a:solidFill>
                      <a:srgbClr val="0D2244"/>
                    </a:solidFill>
                  </a:tcPr>
                </a:tc>
                <a:tc>
                  <a:txBody>
                    <a:bodyPr/>
                    <a:lstStyle/>
                    <a:p>
                      <a:pPr>
                        <a:defRPr sz="1000">
                          <a:solidFill>
                            <a:srgbClr val="FFFFFF"/>
                          </a:solidFill>
                          <a:latin typeface="Segoe UI"/>
                        </a:defRPr>
                      </a:pPr>
                      <a:r>
                        <a:t>Medium — 2-3 days</a:t>
                      </a:r>
                    </a:p>
                  </a:txBody>
                  <a:tcPr anchor="ctr" marL="73152" marR="73152" marT="27432" marB="27432">
                    <a:solidFill>
                      <a:srgbClr val="0D2244"/>
                    </a:solidFill>
                  </a:tcPr>
                </a:tc>
              </a:tr>
              <a:tr h="320040">
                <a:tc>
                  <a:txBody>
                    <a:bodyPr/>
                    <a:lstStyle/>
                    <a:p>
                      <a:pPr>
                        <a:defRPr sz="1000">
                          <a:solidFill>
                            <a:srgbClr val="FFFFFF"/>
                          </a:solidFill>
                          <a:latin typeface="Segoe UI"/>
                        </a:defRPr>
                      </a:pPr>
                      <a:r>
                        <a:t>DSPM Sensitivity Labels</a:t>
                      </a:r>
                    </a:p>
                  </a:txBody>
                  <a:tcPr anchor="ctr" marL="73152" marR="73152" marT="27432" marB="27432">
                    <a:solidFill>
                      <a:srgbClr val="123058"/>
                    </a:solidFill>
                  </a:tcPr>
                </a:tc>
                <a:tc>
                  <a:txBody>
                    <a:bodyPr/>
                    <a:lstStyle/>
                    <a:p>
                      <a:pPr>
                        <a:defRPr sz="1000">
                          <a:solidFill>
                            <a:srgbClr val="FFFFFF"/>
                          </a:solidFill>
                          <a:latin typeface="Segoe UI"/>
                        </a:defRPr>
                      </a:pPr>
                      <a:r>
                        <a:t>Auto-label XPIA-flagged docs → track when Agent 365 processes labeled content</a:t>
                      </a:r>
                    </a:p>
                  </a:txBody>
                  <a:tcPr anchor="ctr" marL="73152" marR="73152" marT="27432" marB="27432">
                    <a:solidFill>
                      <a:srgbClr val="123058"/>
                    </a:solidFill>
                  </a:tcPr>
                </a:tc>
                <a:tc>
                  <a:txBody>
                    <a:bodyPr/>
                    <a:lstStyle/>
                    <a:p>
                      <a:pPr>
                        <a:defRPr sz="1000">
                          <a:solidFill>
                            <a:srgbClr val="FFFFFF"/>
                          </a:solidFill>
                          <a:latin typeface="Segoe UI"/>
                        </a:defRPr>
                      </a:pPr>
                      <a:r>
                        <a:t>Post-flagging visibility in AI Activity Explorer</a:t>
                      </a:r>
                    </a:p>
                  </a:txBody>
                  <a:tcPr anchor="ctr" marL="73152" marR="73152" marT="27432" marB="27432">
                    <a:solidFill>
                      <a:srgbClr val="123058"/>
                    </a:solidFill>
                  </a:tcPr>
                </a:tc>
                <a:tc>
                  <a:txBody>
                    <a:bodyPr/>
                    <a:lstStyle/>
                    <a:p>
                      <a:pPr>
                        <a:defRPr sz="1000">
                          <a:solidFill>
                            <a:srgbClr val="FFFFFF"/>
                          </a:solidFill>
                          <a:latin typeface="Segoe UI"/>
                        </a:defRPr>
                      </a:pPr>
                      <a:r>
                        <a:t>Low — configuration</a:t>
                      </a:r>
                    </a:p>
                  </a:txBody>
                  <a:tcPr anchor="ctr" marL="73152" marR="73152" marT="27432" marB="27432">
                    <a:solidFill>
                      <a:srgbClr val="123058"/>
                    </a:solidFill>
                  </a:tcPr>
                </a:tc>
              </a:tr>
            </a:tbl>
          </a:graphicData>
        </a:graphic>
      </p:graphicFrame>
      <p:sp>
        <p:nvSpPr>
          <p:cNvPr id="14" name="Rounded Rectangle 13"/>
          <p:cNvSpPr/>
          <p:nvPr/>
        </p:nvSpPr>
        <p:spPr>
          <a:xfrm>
            <a:off x="365760" y="5394960"/>
            <a:ext cx="11430000" cy="82296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5394960"/>
            <a:ext cx="50800" cy="822960"/>
          </a:xfrm>
          <a:prstGeom prst="rect">
            <a:avLst/>
          </a:prstGeom>
          <a:solidFill>
            <a:srgbClr val="C19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40680"/>
            <a:ext cx="10789920" cy="731520"/>
          </a:xfrm>
          <a:prstGeom prst="rect">
            <a:avLst/>
          </a:prstGeom>
          <a:noFill/>
        </p:spPr>
        <p:txBody>
          <a:bodyPr wrap="square">
            <a:spAutoFit/>
          </a:bodyPr>
          <a:lstStyle/>
          <a:p>
            <a:pPr algn="l">
              <a:defRPr sz="1100" b="0">
                <a:solidFill>
                  <a:srgbClr val="E8EBEF"/>
                </a:solidFill>
                <a:latin typeface="Segoe UI"/>
              </a:defRPr>
            </a:pPr>
            <a:r>
              <a:t>Insider Risk Management monitors behavioral signals (file sharing, copy, download, printing patterns) — it does NOT perform content-level XPIA pattern detection on documents. The workaround: layer Custom SIT + DLP + IRM behavioral correlation to bridge this gap until native document XPIA scanning 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Scenario: Threat Actor Attribution</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What's Possible Today vs. What's Needed</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10</a:t>
            </a:r>
          </a:p>
        </p:txBody>
      </p:sp>
      <p:sp>
        <p:nvSpPr>
          <p:cNvPr id="8" name="Rounded Rectangle 7"/>
          <p:cNvSpPr/>
          <p:nvPr/>
        </p:nvSpPr>
        <p:spPr>
          <a:xfrm>
            <a:off x="365760" y="1371600"/>
            <a:ext cx="5303520" cy="228600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303520" cy="50800"/>
          </a:xfrm>
          <a:prstGeom prst="rect">
            <a:avLst/>
          </a:prstGeom>
          <a:solidFill>
            <a:srgbClr val="C5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08760"/>
            <a:ext cx="4937760" cy="320040"/>
          </a:xfrm>
          <a:prstGeom prst="rect">
            <a:avLst/>
          </a:prstGeom>
          <a:noFill/>
        </p:spPr>
        <p:txBody>
          <a:bodyPr wrap="square">
            <a:spAutoFit/>
          </a:bodyPr>
          <a:lstStyle/>
          <a:p>
            <a:pPr algn="l">
              <a:defRPr sz="1400" b="1">
                <a:solidFill>
                  <a:srgbClr val="C52828"/>
                </a:solidFill>
                <a:latin typeface="Segoe UI"/>
              </a:defRPr>
            </a:pPr>
            <a:r>
              <a:t>The Problem — Attribution Chain Is Broken</a:t>
            </a:r>
          </a:p>
        </p:txBody>
      </p:sp>
      <p:sp>
        <p:nvSpPr>
          <p:cNvPr id="11" name="TextBox 10"/>
          <p:cNvSpPr txBox="1"/>
          <p:nvPr/>
        </p:nvSpPr>
        <p:spPr>
          <a:xfrm>
            <a:off x="548640" y="1920240"/>
            <a:ext cx="4937760" cy="1645920"/>
          </a:xfrm>
          <a:prstGeom prst="rect">
            <a:avLst/>
          </a:prstGeom>
          <a:noFill/>
        </p:spPr>
        <p:txBody>
          <a:bodyPr wrap="square">
            <a:spAutoFit/>
          </a:bodyPr>
          <a:lstStyle/>
          <a:p>
            <a:pPr algn="l">
              <a:spcAft>
                <a:spcPts val="600"/>
              </a:spcAft>
              <a:defRPr sz="1100" b="0">
                <a:solidFill>
                  <a:srgbClr val="E8EBEF"/>
                </a:solidFill>
                <a:latin typeface="Segoe UI"/>
              </a:defRPr>
            </a:pPr>
            <a:r>
              <a:t>  •  Prompt Shields block the attack — but telemetry about the blocked event is limited</a:t>
            </a:r>
          </a:p>
          <a:p>
            <a:pPr>
              <a:spcAft>
                <a:spcPts val="600"/>
              </a:spcAft>
              <a:defRPr sz="1100">
                <a:solidFill>
                  <a:srgbClr val="E8EBEF"/>
                </a:solidFill>
                <a:latin typeface="Segoe UI"/>
              </a:defRPr>
            </a:pPr>
            <a:r>
              <a:t>  •  XDR sees the block as a 'non-event' — no incident is created</a:t>
            </a:r>
          </a:p>
          <a:p>
            <a:pPr>
              <a:spcAft>
                <a:spcPts val="600"/>
              </a:spcAft>
              <a:defRPr sz="1100">
                <a:solidFill>
                  <a:srgbClr val="E8EBEF"/>
                </a:solidFill>
                <a:latin typeface="Segoe UI"/>
              </a:defRPr>
            </a:pPr>
            <a:r>
              <a:t>  •  No automated path from 'Prompt Shield blocked injection' back to 'email from sender X'</a:t>
            </a:r>
          </a:p>
          <a:p>
            <a:pPr>
              <a:spcAft>
                <a:spcPts val="600"/>
              </a:spcAft>
              <a:defRPr sz="1100">
                <a:solidFill>
                  <a:srgbClr val="E8EBEF"/>
                </a:solidFill>
                <a:latin typeface="Segoe UI"/>
              </a:defRPr>
            </a:pPr>
            <a:r>
              <a:t>  •  Binary detection (true/false) — no confidence score or severity level</a:t>
            </a:r>
          </a:p>
          <a:p>
            <a:pPr>
              <a:spcAft>
                <a:spcPts val="600"/>
              </a:spcAft>
              <a:defRPr sz="1100">
                <a:solidFill>
                  <a:srgbClr val="E8EBEF"/>
                </a:solidFill>
                <a:latin typeface="Segoe UI"/>
              </a:defRPr>
            </a:pPr>
            <a:r>
              <a:t>  •  No threat actor fingerprinting for XPIA campaigns</a:t>
            </a:r>
          </a:p>
        </p:txBody>
      </p:sp>
      <p:sp>
        <p:nvSpPr>
          <p:cNvPr id="12" name="Rounded Rectangle 11"/>
          <p:cNvSpPr/>
          <p:nvPr/>
        </p:nvSpPr>
        <p:spPr>
          <a:xfrm>
            <a:off x="6035040" y="1371600"/>
            <a:ext cx="5669280" cy="228600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1371600"/>
            <a:ext cx="5669280" cy="508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508760"/>
            <a:ext cx="5303520" cy="320040"/>
          </a:xfrm>
          <a:prstGeom prst="rect">
            <a:avLst/>
          </a:prstGeom>
          <a:noFill/>
        </p:spPr>
        <p:txBody>
          <a:bodyPr wrap="square">
            <a:spAutoFit/>
          </a:bodyPr>
          <a:lstStyle/>
          <a:p>
            <a:pPr algn="l">
              <a:defRPr sz="1400" b="1">
                <a:solidFill>
                  <a:srgbClr val="007A33"/>
                </a:solidFill>
                <a:latin typeface="Segoe UI"/>
              </a:defRPr>
            </a:pPr>
            <a:r>
              <a:t>Custom Attribution Pipeline (Buildable Today)</a:t>
            </a:r>
          </a:p>
        </p:txBody>
      </p:sp>
      <p:sp>
        <p:nvSpPr>
          <p:cNvPr id="15" name="TextBox 14"/>
          <p:cNvSpPr txBox="1"/>
          <p:nvPr/>
        </p:nvSpPr>
        <p:spPr>
          <a:xfrm>
            <a:off x="6217920" y="1920240"/>
            <a:ext cx="5303520" cy="1645920"/>
          </a:xfrm>
          <a:prstGeom prst="rect">
            <a:avLst/>
          </a:prstGeom>
          <a:noFill/>
        </p:spPr>
        <p:txBody>
          <a:bodyPr wrap="square">
            <a:spAutoFit/>
          </a:bodyPr>
          <a:lstStyle/>
          <a:p>
            <a:pPr algn="l">
              <a:spcAft>
                <a:spcPts val="600"/>
              </a:spcAft>
              <a:defRPr sz="1100" b="0">
                <a:solidFill>
                  <a:srgbClr val="E8EBEF"/>
                </a:solidFill>
                <a:latin typeface="Segoe UI"/>
              </a:defRPr>
            </a:pPr>
            <a:r>
              <a:t>  •  Step 1: Copilot audit logs → capture blocked prompt events with metadata</a:t>
            </a:r>
          </a:p>
          <a:p>
            <a:pPr>
              <a:spcAft>
                <a:spcPts val="600"/>
              </a:spcAft>
              <a:defRPr sz="1100">
                <a:solidFill>
                  <a:srgbClr val="E8EBEF"/>
                </a:solidFill>
                <a:latin typeface="Segoe UI"/>
              </a:defRPr>
            </a:pPr>
            <a:r>
              <a:t>  •  Step 2: Sentinel ingestion → correlate timestamp + user + content hash with email logs</a:t>
            </a:r>
          </a:p>
          <a:p>
            <a:pPr>
              <a:spcAft>
                <a:spcPts val="600"/>
              </a:spcAft>
              <a:defRPr sz="1100">
                <a:solidFill>
                  <a:srgbClr val="E8EBEF"/>
                </a:solidFill>
                <a:latin typeface="Segoe UI"/>
              </a:defRPr>
            </a:pPr>
            <a:r>
              <a:t>  •  Step 3: Advanced Hunting → identify source email, sender, domain</a:t>
            </a:r>
          </a:p>
          <a:p>
            <a:pPr>
              <a:spcAft>
                <a:spcPts val="600"/>
              </a:spcAft>
              <a:defRPr sz="1100">
                <a:solidFill>
                  <a:srgbClr val="E8EBEF"/>
                </a:solidFill>
                <a:latin typeface="Segoe UI"/>
              </a:defRPr>
            </a:pPr>
            <a:r>
              <a:t>  •  Step 4: Alert rule → trigger investigation workflow</a:t>
            </a:r>
          </a:p>
          <a:p>
            <a:pPr>
              <a:spcAft>
                <a:spcPts val="600"/>
              </a:spcAft>
              <a:defRPr sz="1100">
                <a:solidFill>
                  <a:srgbClr val="E8EBEF"/>
                </a:solidFill>
                <a:latin typeface="Segoe UI"/>
              </a:defRPr>
            </a:pPr>
            <a:r>
              <a:t>  •  Step 5: Copilot for Security → NL investigation across the chain</a:t>
            </a:r>
          </a:p>
        </p:txBody>
      </p:sp>
      <p:sp>
        <p:nvSpPr>
          <p:cNvPr id="16" name="Rounded Rectangle 15"/>
          <p:cNvSpPr/>
          <p:nvPr/>
        </p:nvSpPr>
        <p:spPr>
          <a:xfrm>
            <a:off x="365760" y="3931920"/>
            <a:ext cx="11430000" cy="219456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931920"/>
            <a:ext cx="114300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069080"/>
            <a:ext cx="10972800" cy="320040"/>
          </a:xfrm>
          <a:prstGeom prst="rect">
            <a:avLst/>
          </a:prstGeom>
          <a:noFill/>
        </p:spPr>
        <p:txBody>
          <a:bodyPr wrap="square">
            <a:spAutoFit/>
          </a:bodyPr>
          <a:lstStyle/>
          <a:p>
            <a:pPr algn="l">
              <a:defRPr sz="1400" b="1">
                <a:solidFill>
                  <a:srgbClr val="0078D4"/>
                </a:solidFill>
                <a:latin typeface="Segoe UI"/>
              </a:defRPr>
            </a:pPr>
            <a:r>
              <a:t>Product Feedback Items — What We're Pushing For</a:t>
            </a:r>
          </a:p>
        </p:txBody>
      </p:sp>
      <p:graphicFrame>
        <p:nvGraphicFramePr>
          <p:cNvPr id="19" name="Table 18"/>
          <p:cNvGraphicFramePr>
            <a:graphicFrameLocks noGrp="1"/>
          </p:cNvGraphicFramePr>
          <p:nvPr/>
        </p:nvGraphicFramePr>
        <p:xfrm>
          <a:off x="457200" y="4480560"/>
          <a:ext cx="11247120" cy="1600200"/>
        </p:xfrm>
        <a:graphic>
          <a:graphicData uri="http://schemas.openxmlformats.org/drawingml/2006/table">
            <a:tbl>
              <a:tblPr firstRow="1" bandRow="1">
                <a:tableStyleId>{5C22544A-7EE6-4342-B048-85BDC9FD1C3A}</a:tableStyleId>
              </a:tblPr>
              <a:tblGrid>
                <a:gridCol w="5486400"/>
                <a:gridCol w="4114800"/>
                <a:gridCol w="1645920"/>
              </a:tblGrid>
              <a:tr h="320040">
                <a:tc>
                  <a:txBody>
                    <a:bodyPr/>
                    <a:lstStyle/>
                    <a:p>
                      <a:pPr algn="l">
                        <a:defRPr sz="1100" b="1">
                          <a:solidFill>
                            <a:srgbClr val="FFFFFF"/>
                          </a:solidFill>
                          <a:latin typeface="Segoe UI"/>
                        </a:defRPr>
                      </a:pPr>
                      <a:r>
                        <a:t>Feedback Item</a:t>
                      </a:r>
                    </a:p>
                  </a:txBody>
                  <a:tcPr anchor="ctr" marL="73152" marR="73152" marT="36576" marB="36576">
                    <a:solidFill>
                      <a:srgbClr val="005AA0"/>
                    </a:solidFill>
                  </a:tcPr>
                </a:tc>
                <a:tc>
                  <a:txBody>
                    <a:bodyPr/>
                    <a:lstStyle/>
                    <a:p>
                      <a:pPr algn="l">
                        <a:defRPr sz="1100" b="1">
                          <a:solidFill>
                            <a:srgbClr val="FFFFFF"/>
                          </a:solidFill>
                          <a:latin typeface="Segoe UI"/>
                        </a:defRPr>
                      </a:pPr>
                      <a:r>
                        <a:t>Impact</a:t>
                      </a:r>
                    </a:p>
                  </a:txBody>
                  <a:tcPr anchor="ctr" marL="73152" marR="73152" marT="36576" marB="36576">
                    <a:solidFill>
                      <a:srgbClr val="005AA0"/>
                    </a:solidFill>
                  </a:tcPr>
                </a:tc>
                <a:tc>
                  <a:txBody>
                    <a:bodyPr/>
                    <a:lstStyle/>
                    <a:p>
                      <a:pPr algn="l">
                        <a:defRPr sz="1100" b="1">
                          <a:solidFill>
                            <a:srgbClr val="FFFFFF"/>
                          </a:solidFill>
                          <a:latin typeface="Segoe UI"/>
                        </a:defRPr>
                      </a:pPr>
                      <a:r>
                        <a:t>Status</a:t>
                      </a:r>
                    </a:p>
                  </a:txBody>
                  <a:tcPr anchor="ctr" marL="73152" marR="73152" marT="36576" marB="36576">
                    <a:solidFill>
                      <a:srgbClr val="005AA0"/>
                    </a:solidFill>
                  </a:tcPr>
                </a:tc>
              </a:tr>
              <a:tr h="320040">
                <a:tc>
                  <a:txBody>
                    <a:bodyPr/>
                    <a:lstStyle/>
                    <a:p>
                      <a:pPr>
                        <a:defRPr sz="1000">
                          <a:solidFill>
                            <a:srgbClr val="FFFFFF"/>
                          </a:solidFill>
                          <a:latin typeface="Segoe UI"/>
                        </a:defRPr>
                      </a:pPr>
                      <a:r>
                        <a:t>Automated attribution: Prompt Shield block → content source → sender identity</a:t>
                      </a:r>
                    </a:p>
                  </a:txBody>
                  <a:tcPr anchor="ctr" marL="73152" marR="73152" marT="27432" marB="27432">
                    <a:solidFill>
                      <a:srgbClr val="0D2244"/>
                    </a:solidFill>
                  </a:tcPr>
                </a:tc>
                <a:tc>
                  <a:txBody>
                    <a:bodyPr/>
                    <a:lstStyle/>
                    <a:p>
                      <a:pPr>
                        <a:defRPr sz="1000">
                          <a:solidFill>
                            <a:srgbClr val="FFFFFF"/>
                          </a:solidFill>
                          <a:latin typeface="Segoe UI"/>
                        </a:defRPr>
                      </a:pPr>
                      <a:r>
                        <a:t>End-to-end threat actor ID without custom KQL</a:t>
                      </a:r>
                    </a:p>
                  </a:txBody>
                  <a:tcPr anchor="ctr" marL="73152" marR="73152" marT="27432" marB="27432">
                    <a:solidFill>
                      <a:srgbClr val="0D2244"/>
                    </a:solidFill>
                  </a:tcPr>
                </a:tc>
                <a:tc>
                  <a:txBody>
                    <a:bodyPr/>
                    <a:lstStyle/>
                    <a:p>
                      <a:pPr>
                        <a:defRPr sz="1000">
                          <a:solidFill>
                            <a:srgbClr val="FFFFFF"/>
                          </a:solidFill>
                          <a:latin typeface="Segoe UI"/>
                        </a:defRPr>
                      </a:pPr>
                      <a:r>
                        <a:t>Filed</a:t>
                      </a:r>
                    </a:p>
                  </a:txBody>
                  <a:tcPr anchor="ctr" marL="73152" marR="73152" marT="27432" marB="27432">
                    <a:solidFill>
                      <a:srgbClr val="0D2244"/>
                    </a:solidFill>
                  </a:tcPr>
                </a:tc>
              </a:tr>
              <a:tr h="320040">
                <a:tc>
                  <a:txBody>
                    <a:bodyPr/>
                    <a:lstStyle/>
                    <a:p>
                      <a:pPr>
                        <a:defRPr sz="1000">
                          <a:solidFill>
                            <a:srgbClr val="FFFFFF"/>
                          </a:solidFill>
                          <a:latin typeface="Segoe UI"/>
                        </a:defRPr>
                      </a:pPr>
                      <a:r>
                        <a:t>'Blocked XPIA Attempt' as first-class incident type in Defender XDR</a:t>
                      </a:r>
                    </a:p>
                  </a:txBody>
                  <a:tcPr anchor="ctr" marL="73152" marR="73152" marT="27432" marB="27432">
                    <a:solidFill>
                      <a:srgbClr val="123058"/>
                    </a:solidFill>
                  </a:tcPr>
                </a:tc>
                <a:tc>
                  <a:txBody>
                    <a:bodyPr/>
                    <a:lstStyle/>
                    <a:p>
                      <a:pPr>
                        <a:defRPr sz="1000">
                          <a:solidFill>
                            <a:srgbClr val="FFFFFF"/>
                          </a:solidFill>
                          <a:latin typeface="Segoe UI"/>
                        </a:defRPr>
                      </a:pPr>
                      <a:r>
                        <a:t>SOC sees XPIA as a real incident, not a non-event</a:t>
                      </a:r>
                    </a:p>
                  </a:txBody>
                  <a:tcPr anchor="ctr" marL="73152" marR="73152" marT="27432" marB="27432">
                    <a:solidFill>
                      <a:srgbClr val="123058"/>
                    </a:solidFill>
                  </a:tcPr>
                </a:tc>
                <a:tc>
                  <a:txBody>
                    <a:bodyPr/>
                    <a:lstStyle/>
                    <a:p>
                      <a:pPr>
                        <a:defRPr sz="1000">
                          <a:solidFill>
                            <a:srgbClr val="FFFFFF"/>
                          </a:solidFill>
                          <a:latin typeface="Segoe UI"/>
                        </a:defRPr>
                      </a:pPr>
                      <a:r>
                        <a:t>Filed</a:t>
                      </a:r>
                    </a:p>
                  </a:txBody>
                  <a:tcPr anchor="ctr" marL="73152" marR="73152" marT="27432" marB="27432">
                    <a:solidFill>
                      <a:srgbClr val="123058"/>
                    </a:solidFill>
                  </a:tcPr>
                </a:tc>
              </a:tr>
              <a:tr h="320040">
                <a:tc>
                  <a:txBody>
                    <a:bodyPr/>
                    <a:lstStyle/>
                    <a:p>
                      <a:pPr>
                        <a:defRPr sz="1000">
                          <a:solidFill>
                            <a:srgbClr val="FFFFFF"/>
                          </a:solidFill>
                          <a:latin typeface="Segoe UI"/>
                        </a:defRPr>
                      </a:pPr>
                      <a:r>
                        <a:t>Campaign view linking blocked attempts to common threat actor</a:t>
                      </a:r>
                    </a:p>
                  </a:txBody>
                  <a:tcPr anchor="ctr" marL="73152" marR="73152" marT="27432" marB="27432">
                    <a:solidFill>
                      <a:srgbClr val="0D2244"/>
                    </a:solidFill>
                  </a:tcPr>
                </a:tc>
                <a:tc>
                  <a:txBody>
                    <a:bodyPr/>
                    <a:lstStyle/>
                    <a:p>
                      <a:pPr>
                        <a:defRPr sz="1000">
                          <a:solidFill>
                            <a:srgbClr val="FFFFFF"/>
                          </a:solidFill>
                          <a:latin typeface="Segoe UI"/>
                        </a:defRPr>
                      </a:pPr>
                      <a:r>
                        <a:t>Pattern recognition across multiple blocked attempts</a:t>
                      </a:r>
                    </a:p>
                  </a:txBody>
                  <a:tcPr anchor="ctr" marL="73152" marR="73152" marT="27432" marB="27432">
                    <a:solidFill>
                      <a:srgbClr val="0D2244"/>
                    </a:solidFill>
                  </a:tcPr>
                </a:tc>
                <a:tc>
                  <a:txBody>
                    <a:bodyPr/>
                    <a:lstStyle/>
                    <a:p>
                      <a:pPr>
                        <a:defRPr sz="1000">
                          <a:solidFill>
                            <a:srgbClr val="FFFFFF"/>
                          </a:solidFill>
                          <a:latin typeface="Segoe UI"/>
                        </a:defRPr>
                      </a:pPr>
                      <a:r>
                        <a:t>Filed</a:t>
                      </a:r>
                    </a:p>
                  </a:txBody>
                  <a:tcPr anchor="ctr" marL="73152" marR="73152" marT="27432" marB="27432">
                    <a:solidFill>
                      <a:srgbClr val="0D2244"/>
                    </a:solidFill>
                  </a:tcPr>
                </a:tc>
              </a:tr>
              <a:tr h="320040">
                <a:tc>
                  <a:txBody>
                    <a:bodyPr/>
                    <a:lstStyle/>
                    <a:p>
                      <a:pPr>
                        <a:defRPr sz="1000">
                          <a:solidFill>
                            <a:srgbClr val="FFFFFF"/>
                          </a:solidFill>
                          <a:latin typeface="Segoe UI"/>
                        </a:defRPr>
                      </a:pPr>
                      <a:r>
                        <a:t>Confidence scoring for Prompt Shields detections</a:t>
                      </a:r>
                    </a:p>
                  </a:txBody>
                  <a:tcPr anchor="ctr" marL="73152" marR="73152" marT="27432" marB="27432">
                    <a:solidFill>
                      <a:srgbClr val="123058"/>
                    </a:solidFill>
                  </a:tcPr>
                </a:tc>
                <a:tc>
                  <a:txBody>
                    <a:bodyPr/>
                    <a:lstStyle/>
                    <a:p>
                      <a:pPr>
                        <a:defRPr sz="1000">
                          <a:solidFill>
                            <a:srgbClr val="FFFFFF"/>
                          </a:solidFill>
                          <a:latin typeface="Segoe UI"/>
                        </a:defRPr>
                      </a:pPr>
                      <a:r>
                        <a:t>Threshold-based tuning, false positive management</a:t>
                      </a:r>
                    </a:p>
                  </a:txBody>
                  <a:tcPr anchor="ctr" marL="73152" marR="73152" marT="27432" marB="27432">
                    <a:solidFill>
                      <a:srgbClr val="123058"/>
                    </a:solidFill>
                  </a:tcPr>
                </a:tc>
                <a:tc>
                  <a:txBody>
                    <a:bodyPr/>
                    <a:lstStyle/>
                    <a:p>
                      <a:pPr>
                        <a:defRPr sz="1000">
                          <a:solidFill>
                            <a:srgbClr val="FFFFFF"/>
                          </a:solidFill>
                          <a:latin typeface="Segoe UI"/>
                        </a:defRPr>
                      </a:pPr>
                      <a:r>
                        <a:t>H2 2026 roadmap</a:t>
                      </a:r>
                    </a:p>
                  </a:txBody>
                  <a:tcPr anchor="ctr" marL="73152" marR="73152" marT="27432" marB="27432">
                    <a:solidFill>
                      <a:srgbClr val="12305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Detection, Validation &amp; Response Framework</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Detect → Validate → Respond → Prevent Lifecycle</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11</a:t>
            </a:r>
          </a:p>
        </p:txBody>
      </p:sp>
      <p:sp>
        <p:nvSpPr>
          <p:cNvPr id="8" name="Rounded Rectangle 7"/>
          <p:cNvSpPr/>
          <p:nvPr/>
        </p:nvSpPr>
        <p:spPr>
          <a:xfrm>
            <a:off x="274320" y="1371600"/>
            <a:ext cx="2743200" cy="329184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2743200" cy="63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554480"/>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DETECT</a:t>
            </a:r>
          </a:p>
        </p:txBody>
      </p:sp>
      <p:sp>
        <p:nvSpPr>
          <p:cNvPr id="11" name="TextBox 10"/>
          <p:cNvSpPr txBox="1"/>
          <p:nvPr/>
        </p:nvSpPr>
        <p:spPr>
          <a:xfrm>
            <a:off x="411480" y="2194560"/>
            <a:ext cx="2468880" cy="2286000"/>
          </a:xfrm>
          <a:prstGeom prst="rect">
            <a:avLst/>
          </a:prstGeom>
          <a:noFill/>
        </p:spPr>
        <p:txBody>
          <a:bodyPr wrap="square">
            <a:spAutoFit/>
          </a:bodyPr>
          <a:lstStyle/>
          <a:p>
            <a:pPr algn="ctr">
              <a:defRPr sz="1100" b="0">
                <a:solidFill>
                  <a:srgbClr val="E8EBEF"/>
                </a:solidFill>
                <a:latin typeface="Segoe UI"/>
              </a:defRPr>
            </a:pPr>
            <a:r>
              <a:t>Real-time XPIA detection</a:t>
            </a:r>
            <a:br/>
            <a:r>
              <a:t>via Prompt Shields</a:t>
            </a:r>
            <a:br/>
            <a:br/>
            <a:r>
              <a:t>Pre &amp; post LLM analysis</a:t>
            </a:r>
            <a:br/>
            <a:r>
              <a:t>Binary detection + logging</a:t>
            </a:r>
            <a:br/>
            <a:r>
              <a:t>Known pattern detection</a:t>
            </a:r>
            <a:br/>
            <a:r>
              <a:t>with continuous improvement</a:t>
            </a:r>
          </a:p>
        </p:txBody>
      </p:sp>
      <p:sp>
        <p:nvSpPr>
          <p:cNvPr id="12" name="Rectangle 11"/>
          <p:cNvSpPr/>
          <p:nvPr/>
        </p:nvSpPr>
        <p:spPr>
          <a:xfrm>
            <a:off x="3017520" y="2834640"/>
            <a:ext cx="22860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46120" y="1371600"/>
            <a:ext cx="2743200" cy="329184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71600"/>
            <a:ext cx="2743200" cy="63500"/>
          </a:xfrm>
          <a:prstGeom prst="rect">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703320" y="1554480"/>
            <a:ext cx="1828800" cy="457200"/>
          </a:xfrm>
          <a:prstGeom prst="roundRect">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VALIDATE</a:t>
            </a:r>
          </a:p>
        </p:txBody>
      </p:sp>
      <p:sp>
        <p:nvSpPr>
          <p:cNvPr id="16" name="TextBox 15"/>
          <p:cNvSpPr txBox="1"/>
          <p:nvPr/>
        </p:nvSpPr>
        <p:spPr>
          <a:xfrm>
            <a:off x="3383280" y="2194560"/>
            <a:ext cx="2468880" cy="2286000"/>
          </a:xfrm>
          <a:prstGeom prst="rect">
            <a:avLst/>
          </a:prstGeom>
          <a:noFill/>
        </p:spPr>
        <p:txBody>
          <a:bodyPr wrap="square">
            <a:spAutoFit/>
          </a:bodyPr>
          <a:lstStyle/>
          <a:p>
            <a:pPr algn="ctr">
              <a:defRPr sz="1100" b="0">
                <a:solidFill>
                  <a:srgbClr val="E8EBEF"/>
                </a:solidFill>
                <a:latin typeface="Segoe UI"/>
              </a:defRPr>
            </a:pPr>
            <a:r>
              <a:t>Verify effectiveness</a:t>
            </a:r>
            <a:br/>
            <a:r>
              <a:t>via testing framework</a:t>
            </a:r>
            <a:br/>
            <a:br/>
            <a:r>
              <a:t>PyRIT red-team toolkit</a:t>
            </a:r>
            <a:br/>
            <a:r>
              <a:t>Content Safety API tests</a:t>
            </a:r>
            <a:br/>
            <a:r>
              <a:t>Custom payload testing</a:t>
            </a:r>
          </a:p>
        </p:txBody>
      </p:sp>
      <p:sp>
        <p:nvSpPr>
          <p:cNvPr id="17" name="Rectangle 16"/>
          <p:cNvSpPr/>
          <p:nvPr/>
        </p:nvSpPr>
        <p:spPr>
          <a:xfrm>
            <a:off x="5989320" y="2834640"/>
            <a:ext cx="228600" cy="50800"/>
          </a:xfrm>
          <a:prstGeom prst="rect">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371600"/>
            <a:ext cx="2743200" cy="329184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371600"/>
            <a:ext cx="2743200" cy="635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75120" y="1554480"/>
            <a:ext cx="1828800" cy="457200"/>
          </a:xfrm>
          <a:prstGeom prst="round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RESPOND</a:t>
            </a:r>
          </a:p>
        </p:txBody>
      </p:sp>
      <p:sp>
        <p:nvSpPr>
          <p:cNvPr id="21" name="TextBox 20"/>
          <p:cNvSpPr txBox="1"/>
          <p:nvPr/>
        </p:nvSpPr>
        <p:spPr>
          <a:xfrm>
            <a:off x="6355080" y="2194560"/>
            <a:ext cx="2468880" cy="2286000"/>
          </a:xfrm>
          <a:prstGeom prst="rect">
            <a:avLst/>
          </a:prstGeom>
          <a:noFill/>
        </p:spPr>
        <p:txBody>
          <a:bodyPr wrap="square">
            <a:spAutoFit/>
          </a:bodyPr>
          <a:lstStyle/>
          <a:p>
            <a:pPr algn="ctr">
              <a:defRPr sz="1100" b="0">
                <a:solidFill>
                  <a:srgbClr val="E8EBEF"/>
                </a:solidFill>
                <a:latin typeface="Segoe UI"/>
              </a:defRPr>
            </a:pPr>
            <a:r>
              <a:t>Investigation &amp; action</a:t>
            </a:r>
            <a:br/>
            <a:r>
              <a:t>via integrated stack</a:t>
            </a:r>
            <a:br/>
            <a:br/>
            <a:r>
              <a:t>KQL hunting queries</a:t>
            </a:r>
            <a:br/>
            <a:r>
              <a:t>Copilot for Security</a:t>
            </a:r>
            <a:br/>
            <a:r>
              <a:t>IRM case creation</a:t>
            </a:r>
          </a:p>
        </p:txBody>
      </p:sp>
      <p:sp>
        <p:nvSpPr>
          <p:cNvPr id="22" name="Rectangle 21"/>
          <p:cNvSpPr/>
          <p:nvPr/>
        </p:nvSpPr>
        <p:spPr>
          <a:xfrm>
            <a:off x="8961120" y="2834640"/>
            <a:ext cx="228600" cy="508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20" y="1371600"/>
            <a:ext cx="2743200" cy="329184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20" y="1371600"/>
            <a:ext cx="2743200" cy="63500"/>
          </a:xfrm>
          <a:prstGeom prst="rect">
            <a:avLst/>
          </a:prstGeom>
          <a:solidFill>
            <a:srgbClr val="6B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46920" y="1554480"/>
            <a:ext cx="1828800" cy="457200"/>
          </a:xfrm>
          <a:prstGeom prst="roundRect">
            <a:avLst/>
          </a:prstGeom>
          <a:solidFill>
            <a:srgbClr val="6B00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PREVENT</a:t>
            </a:r>
          </a:p>
        </p:txBody>
      </p:sp>
      <p:sp>
        <p:nvSpPr>
          <p:cNvPr id="26" name="TextBox 25"/>
          <p:cNvSpPr txBox="1"/>
          <p:nvPr/>
        </p:nvSpPr>
        <p:spPr>
          <a:xfrm>
            <a:off x="9326880" y="2194560"/>
            <a:ext cx="2468880" cy="2286000"/>
          </a:xfrm>
          <a:prstGeom prst="rect">
            <a:avLst/>
          </a:prstGeom>
          <a:noFill/>
        </p:spPr>
        <p:txBody>
          <a:bodyPr wrap="square">
            <a:spAutoFit/>
          </a:bodyPr>
          <a:lstStyle/>
          <a:p>
            <a:pPr algn="ctr">
              <a:defRPr sz="1100" b="0">
                <a:solidFill>
                  <a:srgbClr val="E8EBEF"/>
                </a:solidFill>
                <a:latin typeface="Segoe UI"/>
              </a:defRPr>
            </a:pPr>
            <a:r>
              <a:t>Policy-driven controls</a:t>
            </a:r>
            <a:br/>
            <a:r>
              <a:t>for ongoing protection</a:t>
            </a:r>
            <a:br/>
            <a:br/>
            <a:r>
              <a:t>Comm. Compliance policies</a:t>
            </a:r>
            <a:br/>
            <a:r>
              <a:t>DLP for AI prompts</a:t>
            </a:r>
            <a:br/>
            <a:r>
              <a:t>Sentinel automation rules</a:t>
            </a:r>
          </a:p>
        </p:txBody>
      </p:sp>
      <p:sp>
        <p:nvSpPr>
          <p:cNvPr id="27" name="TextBox 26"/>
          <p:cNvSpPr txBox="1"/>
          <p:nvPr/>
        </p:nvSpPr>
        <p:spPr>
          <a:xfrm>
            <a:off x="274320" y="4709160"/>
            <a:ext cx="10972800" cy="274320"/>
          </a:xfrm>
          <a:prstGeom prst="rect">
            <a:avLst/>
          </a:prstGeom>
          <a:noFill/>
        </p:spPr>
        <p:txBody>
          <a:bodyPr wrap="square">
            <a:spAutoFit/>
          </a:bodyPr>
          <a:lstStyle/>
          <a:p>
            <a:pPr algn="l">
              <a:defRPr sz="1200" b="1">
                <a:solidFill>
                  <a:srgbClr val="FFFFFF"/>
                </a:solidFill>
                <a:latin typeface="Segoe UI"/>
              </a:defRPr>
            </a:pPr>
            <a:r>
              <a:rPr sz="1200"/>
              <a:t>Capability Status Matrix</a:t>
            </a:r>
          </a:p>
        </p:txBody>
      </p:sp>
      <p:graphicFrame>
        <p:nvGraphicFramePr>
          <p:cNvPr id="28" name="Table 27"/>
          <p:cNvGraphicFramePr>
            <a:graphicFrameLocks noGrp="1"/>
          </p:cNvGraphicFramePr>
          <p:nvPr/>
        </p:nvGraphicFramePr>
        <p:xfrm>
          <a:off x="365760" y="4983480"/>
          <a:ext cx="11430000" cy="1417311"/>
        </p:xfrm>
        <a:graphic>
          <a:graphicData uri="http://schemas.openxmlformats.org/drawingml/2006/table">
            <a:tbl>
              <a:tblPr firstRow="1" bandRow="1">
                <a:tableStyleId>{5C22544A-7EE6-4342-B048-85BDC9FD1C3A}</a:tableStyleId>
              </a:tblPr>
              <a:tblGrid>
                <a:gridCol w="3474720"/>
                <a:gridCol w="1463040"/>
                <a:gridCol w="6492240"/>
              </a:tblGrid>
              <a:tr h="157479">
                <a:tc>
                  <a:txBody>
                    <a:bodyPr/>
                    <a:lstStyle/>
                    <a:p>
                      <a:pPr algn="l">
                        <a:defRPr sz="1000" b="1">
                          <a:solidFill>
                            <a:srgbClr val="FFFFFF"/>
                          </a:solidFill>
                          <a:latin typeface="Segoe UI"/>
                        </a:defRPr>
                      </a:pPr>
                      <a:r>
                        <a:rPr sz="1000"/>
                        <a:t>Capability</a:t>
                      </a:r>
                    </a:p>
                  </a:txBody>
                  <a:tcPr anchor="ctr" marL="73152" marR="73152" marT="36576" marB="36576">
                    <a:solidFill>
                      <a:srgbClr val="005AA0"/>
                    </a:solidFill>
                  </a:tcPr>
                </a:tc>
                <a:tc>
                  <a:txBody>
                    <a:bodyPr/>
                    <a:lstStyle/>
                    <a:p>
                      <a:pPr algn="l">
                        <a:defRPr sz="1000" b="1">
                          <a:solidFill>
                            <a:srgbClr val="FFFFFF"/>
                          </a:solidFill>
                          <a:latin typeface="Segoe UI"/>
                        </a:defRPr>
                      </a:pPr>
                      <a:r>
                        <a:rPr sz="1000"/>
                        <a:t>Status</a:t>
                      </a:r>
                    </a:p>
                  </a:txBody>
                  <a:tcPr anchor="ctr" marL="73152" marR="73152" marT="36576" marB="36576">
                    <a:solidFill>
                      <a:srgbClr val="005AA0"/>
                    </a:solidFill>
                  </a:tcPr>
                </a:tc>
                <a:tc>
                  <a:txBody>
                    <a:bodyPr/>
                    <a:lstStyle/>
                    <a:p>
                      <a:pPr algn="l">
                        <a:defRPr sz="1000" b="1">
                          <a:solidFill>
                            <a:srgbClr val="FFFFFF"/>
                          </a:solidFill>
                          <a:latin typeface="Segoe UI"/>
                        </a:defRPr>
                      </a:pPr>
                      <a:r>
                        <a:rPr sz="1000"/>
                        <a:t>Detail</a:t>
                      </a:r>
                    </a:p>
                  </a:txBody>
                  <a:tcPr anchor="ctr" marL="73152" marR="73152" marT="36576" marB="36576">
                    <a:solidFill>
                      <a:srgbClr val="005AA0"/>
                    </a:solidFill>
                  </a:tcPr>
                </a:tc>
              </a:tr>
              <a:tr h="157479">
                <a:tc>
                  <a:txBody>
                    <a:bodyPr/>
                    <a:lstStyle/>
                    <a:p>
                      <a:pPr>
                        <a:defRPr sz="900">
                          <a:solidFill>
                            <a:srgbClr val="FFFFFF"/>
                          </a:solidFill>
                          <a:latin typeface="Segoe UI"/>
                        </a:defRPr>
                      </a:pPr>
                      <a:r>
                        <a:rPr sz="900"/>
                        <a:t>Real-time XPIA detection (Prompt Shields)</a:t>
                      </a:r>
                    </a:p>
                  </a:txBody>
                  <a:tcPr anchor="ctr" marL="73152" marR="73152" marT="27432" marB="27432">
                    <a:solidFill>
                      <a:srgbClr val="0D2244"/>
                    </a:solidFill>
                  </a:tcPr>
                </a:tc>
                <a:tc>
                  <a:txBody>
                    <a:bodyPr/>
                    <a:lstStyle/>
                    <a:p>
                      <a:pPr>
                        <a:defRPr sz="900">
                          <a:solidFill>
                            <a:srgbClr val="FFFFFF"/>
                          </a:solidFill>
                          <a:latin typeface="Segoe UI"/>
                        </a:defRPr>
                      </a:pPr>
                      <a:r>
                        <a:rPr sz="900"/>
                        <a:t>✅ Available</a:t>
                      </a:r>
                    </a:p>
                  </a:txBody>
                  <a:tcPr anchor="ctr" marL="73152" marR="73152" marT="27432" marB="27432">
                    <a:solidFill>
                      <a:srgbClr val="0D2244"/>
                    </a:solidFill>
                  </a:tcPr>
                </a:tc>
                <a:tc>
                  <a:txBody>
                    <a:bodyPr/>
                    <a:lstStyle/>
                    <a:p>
                      <a:pPr>
                        <a:defRPr sz="900">
                          <a:solidFill>
                            <a:srgbClr val="FFFFFF"/>
                          </a:solidFill>
                          <a:latin typeface="Segoe UI"/>
                        </a:defRPr>
                      </a:pPr>
                      <a:r>
                        <a:rPr sz="900"/>
                        <a:t>Blocks known injection patterns before LLM processes</a:t>
                      </a:r>
                    </a:p>
                  </a:txBody>
                  <a:tcPr anchor="ctr" marL="73152" marR="73152" marT="27432" marB="27432">
                    <a:solidFill>
                      <a:srgbClr val="0D2244"/>
                    </a:solidFill>
                  </a:tcPr>
                </a:tc>
              </a:tr>
              <a:tr h="157479">
                <a:tc>
                  <a:txBody>
                    <a:bodyPr/>
                    <a:lstStyle/>
                    <a:p>
                      <a:pPr>
                        <a:defRPr sz="900">
                          <a:solidFill>
                            <a:srgbClr val="FFFFFF"/>
                          </a:solidFill>
                          <a:latin typeface="Segoe UI"/>
                        </a:defRPr>
                      </a:pPr>
                      <a:r>
                        <a:rPr sz="900"/>
                        <a:t>Policy-driven agent governance</a:t>
                      </a:r>
                    </a:p>
                  </a:txBody>
                  <a:tcPr anchor="ctr" marL="73152" marR="73152" marT="27432" marB="27432">
                    <a:solidFill>
                      <a:srgbClr val="123058"/>
                    </a:solidFill>
                  </a:tcPr>
                </a:tc>
                <a:tc>
                  <a:txBody>
                    <a:bodyPr/>
                    <a:lstStyle/>
                    <a:p>
                      <a:pPr>
                        <a:defRPr sz="900">
                          <a:solidFill>
                            <a:srgbClr val="FFFFFF"/>
                          </a:solidFill>
                          <a:latin typeface="Segoe UI"/>
                        </a:defRPr>
                      </a:pPr>
                      <a:r>
                        <a:rPr sz="900"/>
                        <a:t>✅ Available</a:t>
                      </a:r>
                    </a:p>
                  </a:txBody>
                  <a:tcPr anchor="ctr" marL="73152" marR="73152" marT="27432" marB="27432">
                    <a:solidFill>
                      <a:srgbClr val="123058"/>
                    </a:solidFill>
                  </a:tcPr>
                </a:tc>
                <a:tc>
                  <a:txBody>
                    <a:bodyPr/>
                    <a:lstStyle/>
                    <a:p>
                      <a:pPr>
                        <a:defRPr sz="900">
                          <a:solidFill>
                            <a:srgbClr val="FFFFFF"/>
                          </a:solidFill>
                          <a:latin typeface="Segoe UI"/>
                        </a:defRPr>
                      </a:pPr>
                      <a:r>
                        <a:rPr sz="900"/>
                        <a:t>Define what agents can do, access, and output</a:t>
                      </a:r>
                    </a:p>
                  </a:txBody>
                  <a:tcPr anchor="ctr" marL="73152" marR="73152" marT="27432" marB="27432">
                    <a:solidFill>
                      <a:srgbClr val="123058"/>
                    </a:solidFill>
                  </a:tcPr>
                </a:tc>
              </a:tr>
              <a:tr h="157479">
                <a:tc>
                  <a:txBody>
                    <a:bodyPr/>
                    <a:lstStyle/>
                    <a:p>
                      <a:pPr>
                        <a:defRPr sz="900">
                          <a:solidFill>
                            <a:srgbClr val="FFFFFF"/>
                          </a:solidFill>
                          <a:latin typeface="Segoe UI"/>
                        </a:defRPr>
                      </a:pPr>
                      <a:r>
                        <a:rPr sz="900"/>
                        <a:t>AI activity logging &amp; audit trail</a:t>
                      </a:r>
                    </a:p>
                  </a:txBody>
                  <a:tcPr anchor="ctr" marL="73152" marR="73152" marT="27432" marB="27432">
                    <a:solidFill>
                      <a:srgbClr val="0D2244"/>
                    </a:solidFill>
                  </a:tcPr>
                </a:tc>
                <a:tc>
                  <a:txBody>
                    <a:bodyPr/>
                    <a:lstStyle/>
                    <a:p>
                      <a:pPr>
                        <a:defRPr sz="900">
                          <a:solidFill>
                            <a:srgbClr val="FFFFFF"/>
                          </a:solidFill>
                          <a:latin typeface="Segoe UI"/>
                        </a:defRPr>
                      </a:pPr>
                      <a:r>
                        <a:rPr sz="900"/>
                        <a:t>✅ Available</a:t>
                      </a:r>
                    </a:p>
                  </a:txBody>
                  <a:tcPr anchor="ctr" marL="73152" marR="73152" marT="27432" marB="27432">
                    <a:solidFill>
                      <a:srgbClr val="0D2244"/>
                    </a:solidFill>
                  </a:tcPr>
                </a:tc>
                <a:tc>
                  <a:txBody>
                    <a:bodyPr/>
                    <a:lstStyle/>
                    <a:p>
                      <a:pPr>
                        <a:defRPr sz="900">
                          <a:solidFill>
                            <a:srgbClr val="FFFFFF"/>
                          </a:solidFill>
                          <a:latin typeface="Segoe UI"/>
                        </a:defRPr>
                      </a:pPr>
                      <a:r>
                        <a:rPr sz="900"/>
                        <a:t>Purview DSPM for AI + Copilot audit logs</a:t>
                      </a:r>
                    </a:p>
                  </a:txBody>
                  <a:tcPr anchor="ctr" marL="73152" marR="73152" marT="27432" marB="27432">
                    <a:solidFill>
                      <a:srgbClr val="0D2244"/>
                    </a:solidFill>
                  </a:tcPr>
                </a:tc>
              </a:tr>
              <a:tr h="157479">
                <a:tc>
                  <a:txBody>
                    <a:bodyPr/>
                    <a:lstStyle/>
                    <a:p>
                      <a:pPr>
                        <a:defRPr sz="900">
                          <a:solidFill>
                            <a:srgbClr val="FFFFFF"/>
                          </a:solidFill>
                          <a:latin typeface="Segoe UI"/>
                        </a:defRPr>
                      </a:pPr>
                      <a:r>
                        <a:rPr sz="900"/>
                        <a:t>Custom XPIA campaign hunting (KQL)</a:t>
                      </a:r>
                    </a:p>
                  </a:txBody>
                  <a:tcPr anchor="ctr" marL="73152" marR="73152" marT="27432" marB="27432">
                    <a:solidFill>
                      <a:srgbClr val="123058"/>
                    </a:solidFill>
                  </a:tcPr>
                </a:tc>
                <a:tc>
                  <a:txBody>
                    <a:bodyPr/>
                    <a:lstStyle/>
                    <a:p>
                      <a:pPr>
                        <a:defRPr sz="900">
                          <a:solidFill>
                            <a:srgbClr val="FFFFFF"/>
                          </a:solidFill>
                          <a:latin typeface="Segoe UI"/>
                        </a:defRPr>
                      </a:pPr>
                      <a:r>
                        <a:rPr sz="900"/>
                        <a:t>⚠️ Requires Config</a:t>
                      </a:r>
                    </a:p>
                  </a:txBody>
                  <a:tcPr anchor="ctr" marL="73152" marR="73152" marT="27432" marB="27432">
                    <a:solidFill>
                      <a:srgbClr val="123058"/>
                    </a:solidFill>
                  </a:tcPr>
                </a:tc>
                <a:tc>
                  <a:txBody>
                    <a:bodyPr/>
                    <a:lstStyle/>
                    <a:p>
                      <a:pPr>
                        <a:defRPr sz="900">
                          <a:solidFill>
                            <a:srgbClr val="FFFFFF"/>
                          </a:solidFill>
                          <a:latin typeface="Segoe UI"/>
                        </a:defRPr>
                      </a:pPr>
                      <a:r>
                        <a:rPr sz="900"/>
                        <a:t>2-3 days KQL development, Sentinel workspace needed</a:t>
                      </a:r>
                    </a:p>
                  </a:txBody>
                  <a:tcPr anchor="ctr" marL="73152" marR="73152" marT="27432" marB="27432">
                    <a:solidFill>
                      <a:srgbClr val="123058"/>
                    </a:solidFill>
                  </a:tcPr>
                </a:tc>
              </a:tr>
              <a:tr h="157479">
                <a:tc>
                  <a:txBody>
                    <a:bodyPr/>
                    <a:lstStyle/>
                    <a:p>
                      <a:pPr>
                        <a:defRPr sz="900">
                          <a:solidFill>
                            <a:srgbClr val="FFFFFF"/>
                          </a:solidFill>
                          <a:latin typeface="Segoe UI"/>
                        </a:defRPr>
                      </a:pPr>
                      <a:r>
                        <a:rPr sz="900"/>
                        <a:t>Email pre-consumption XPIA scanning</a:t>
                      </a:r>
                    </a:p>
                  </a:txBody>
                  <a:tcPr anchor="ctr" marL="73152" marR="73152" marT="27432" marB="27432">
                    <a:solidFill>
                      <a:srgbClr val="0D2244"/>
                    </a:solidFill>
                  </a:tcPr>
                </a:tc>
                <a:tc>
                  <a:txBody>
                    <a:bodyPr/>
                    <a:lstStyle/>
                    <a:p>
                      <a:pPr>
                        <a:defRPr sz="900">
                          <a:solidFill>
                            <a:srgbClr val="FFFFFF"/>
                          </a:solidFill>
                          <a:latin typeface="Segoe UI"/>
                        </a:defRPr>
                      </a:pPr>
                      <a:r>
                        <a:rPr sz="900"/>
                        <a:t>⚠️ Workaround</a:t>
                      </a:r>
                    </a:p>
                  </a:txBody>
                  <a:tcPr anchor="ctr" marL="73152" marR="73152" marT="27432" marB="27432">
                    <a:solidFill>
                      <a:srgbClr val="0D2244"/>
                    </a:solidFill>
                  </a:tcPr>
                </a:tc>
                <a:tc>
                  <a:txBody>
                    <a:bodyPr/>
                    <a:lstStyle/>
                    <a:p>
                      <a:pPr>
                        <a:defRPr sz="900">
                          <a:solidFill>
                            <a:srgbClr val="FFFFFF"/>
                          </a:solidFill>
                          <a:latin typeface="Segoe UI"/>
                        </a:defRPr>
                      </a:pPr>
                      <a:r>
                        <a:rPr sz="900"/>
                        <a:t>Exchange mail flow rules + custom SIT regex patterns</a:t>
                      </a:r>
                    </a:p>
                  </a:txBody>
                  <a:tcPr anchor="ctr" marL="73152" marR="73152" marT="27432" marB="27432">
                    <a:solidFill>
                      <a:srgbClr val="0D2244"/>
                    </a:solidFill>
                  </a:tcPr>
                </a:tc>
              </a:tr>
              <a:tr h="157479">
                <a:tc>
                  <a:txBody>
                    <a:bodyPr/>
                    <a:lstStyle/>
                    <a:p>
                      <a:pPr>
                        <a:defRPr sz="900">
                          <a:solidFill>
                            <a:srgbClr val="FFFFFF"/>
                          </a:solidFill>
                          <a:latin typeface="Segoe UI"/>
                        </a:defRPr>
                      </a:pPr>
                      <a:r>
                        <a:rPr sz="900"/>
                        <a:t>Native XPIA content classification</a:t>
                      </a:r>
                    </a:p>
                  </a:txBody>
                  <a:tcPr anchor="ctr" marL="73152" marR="73152" marT="27432" marB="27432">
                    <a:solidFill>
                      <a:srgbClr val="123058"/>
                    </a:solidFill>
                  </a:tcPr>
                </a:tc>
                <a:tc>
                  <a:txBody>
                    <a:bodyPr/>
                    <a:lstStyle/>
                    <a:p>
                      <a:pPr>
                        <a:defRPr sz="900">
                          <a:solidFill>
                            <a:srgbClr val="FFFFFF"/>
                          </a:solidFill>
                          <a:latin typeface="Segoe UI"/>
                        </a:defRPr>
                      </a:pPr>
                      <a:r>
                        <a:rPr sz="900"/>
                        <a:t>🔜 Roadmap</a:t>
                      </a:r>
                    </a:p>
                  </a:txBody>
                  <a:tcPr anchor="ctr" marL="73152" marR="73152" marT="27432" marB="27432">
                    <a:solidFill>
                      <a:srgbClr val="123058"/>
                    </a:solidFill>
                  </a:tcPr>
                </a:tc>
                <a:tc>
                  <a:txBody>
                    <a:bodyPr/>
                    <a:lstStyle/>
                    <a:p>
                      <a:pPr>
                        <a:defRPr sz="900">
                          <a:solidFill>
                            <a:srgbClr val="FFFFFF"/>
                          </a:solidFill>
                          <a:latin typeface="Segoe UI"/>
                        </a:defRPr>
                      </a:pPr>
                      <a:r>
                        <a:rPr sz="900"/>
                        <a:t>Product feedback filed for Defender for Office 365</a:t>
                      </a:r>
                    </a:p>
                  </a:txBody>
                  <a:tcPr anchor="ctr" marL="73152" marR="73152" marT="27432" marB="27432">
                    <a:solidFill>
                      <a:srgbClr val="123058"/>
                    </a:solidFill>
                  </a:tcPr>
                </a:tc>
              </a:tr>
              <a:tr h="157479">
                <a:tc>
                  <a:txBody>
                    <a:bodyPr/>
                    <a:lstStyle/>
                    <a:p>
                      <a:pPr>
                        <a:defRPr sz="900">
                          <a:solidFill>
                            <a:srgbClr val="FFFFFF"/>
                          </a:solidFill>
                          <a:latin typeface="Segoe UI"/>
                        </a:defRPr>
                      </a:pPr>
                      <a:r>
                        <a:rPr sz="900"/>
                        <a:t>Automated threat actor attribution</a:t>
                      </a:r>
                    </a:p>
                  </a:txBody>
                  <a:tcPr anchor="ctr" marL="73152" marR="73152" marT="27432" marB="27432">
                    <a:solidFill>
                      <a:srgbClr val="0D2244"/>
                    </a:solidFill>
                  </a:tcPr>
                </a:tc>
                <a:tc>
                  <a:txBody>
                    <a:bodyPr/>
                    <a:lstStyle/>
                    <a:p>
                      <a:pPr>
                        <a:defRPr sz="900">
                          <a:solidFill>
                            <a:srgbClr val="FFFFFF"/>
                          </a:solidFill>
                          <a:latin typeface="Segoe UI"/>
                        </a:defRPr>
                      </a:pPr>
                      <a:r>
                        <a:rPr sz="900"/>
                        <a:t>🔴 Gap</a:t>
                      </a:r>
                    </a:p>
                  </a:txBody>
                  <a:tcPr anchor="ctr" marL="73152" marR="73152" marT="27432" marB="27432">
                    <a:solidFill>
                      <a:srgbClr val="0D2244"/>
                    </a:solidFill>
                  </a:tcPr>
                </a:tc>
                <a:tc>
                  <a:txBody>
                    <a:bodyPr/>
                    <a:lstStyle/>
                    <a:p>
                      <a:pPr>
                        <a:defRPr sz="900">
                          <a:solidFill>
                            <a:srgbClr val="FFFFFF"/>
                          </a:solidFill>
                          <a:latin typeface="Segoe UI"/>
                        </a:defRPr>
                      </a:pPr>
                      <a:r>
                        <a:rPr sz="900"/>
                        <a:t>Custom pipeline buildable; native attribution not available</a:t>
                      </a:r>
                    </a:p>
                  </a:txBody>
                  <a:tcPr anchor="ctr" marL="73152" marR="73152" marT="27432" marB="27432">
                    <a:solidFill>
                      <a:srgbClr val="0D2244"/>
                    </a:solidFill>
                  </a:tcPr>
                </a:tc>
              </a:tr>
              <a:tr h="157479">
                <a:tc>
                  <a:txBody>
                    <a:bodyPr/>
                    <a:lstStyle/>
                    <a:p>
                      <a:pPr>
                        <a:defRPr sz="900">
                          <a:solidFill>
                            <a:srgbClr val="FFFFFF"/>
                          </a:solidFill>
                          <a:latin typeface="Segoe UI"/>
                        </a:defRPr>
                      </a:pPr>
                      <a:r>
                        <a:rPr sz="900"/>
                        <a:t>Confidence scoring for detections</a:t>
                      </a:r>
                    </a:p>
                  </a:txBody>
                  <a:tcPr anchor="ctr" marL="73152" marR="73152" marT="27432" marB="27432">
                    <a:solidFill>
                      <a:srgbClr val="123058"/>
                    </a:solidFill>
                  </a:tcPr>
                </a:tc>
                <a:tc>
                  <a:txBody>
                    <a:bodyPr/>
                    <a:lstStyle/>
                    <a:p>
                      <a:pPr>
                        <a:defRPr sz="900">
                          <a:solidFill>
                            <a:srgbClr val="FFFFFF"/>
                          </a:solidFill>
                          <a:latin typeface="Segoe UI"/>
                        </a:defRPr>
                      </a:pPr>
                      <a:r>
                        <a:rPr sz="900"/>
                        <a:t>🔜 Roadmap</a:t>
                      </a:r>
                    </a:p>
                  </a:txBody>
                  <a:tcPr anchor="ctr" marL="73152" marR="73152" marT="27432" marB="27432">
                    <a:solidFill>
                      <a:srgbClr val="123058"/>
                    </a:solidFill>
                  </a:tcPr>
                </a:tc>
                <a:tc>
                  <a:txBody>
                    <a:bodyPr/>
                    <a:lstStyle/>
                    <a:p>
                      <a:pPr>
                        <a:defRPr sz="900">
                          <a:solidFill>
                            <a:srgbClr val="FFFFFF"/>
                          </a:solidFill>
                          <a:latin typeface="Segoe UI"/>
                        </a:defRPr>
                      </a:pPr>
                      <a:r>
                        <a:rPr sz="900"/>
                        <a:t>H2 2026 estimated — Build 2025 announcements</a:t>
                      </a:r>
                    </a:p>
                  </a:txBody>
                  <a:tcPr anchor="ctr" marL="73152" marR="73152" marT="27432" marB="27432">
                    <a:solidFill>
                      <a:srgbClr val="12305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Gap Analysis — Transparent Assessment</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Honest Evaluation: Current Capabilities vs. Customer Needs</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12</a:t>
            </a:r>
          </a:p>
        </p:txBody>
      </p:sp>
      <p:graphicFrame>
        <p:nvGraphicFramePr>
          <p:cNvPr id="8" name="Table 7"/>
          <p:cNvGraphicFramePr>
            <a:graphicFrameLocks noGrp="1"/>
          </p:cNvGraphicFramePr>
          <p:nvPr/>
        </p:nvGraphicFramePr>
        <p:xfrm>
          <a:off x="274320" y="1371600"/>
          <a:ext cx="11612880" cy="2560320"/>
        </p:xfrm>
        <a:graphic>
          <a:graphicData uri="http://schemas.openxmlformats.org/drawingml/2006/table">
            <a:tbl>
              <a:tblPr firstRow="1" bandRow="1">
                <a:tableStyleId>{5C22544A-7EE6-4342-B048-85BDC9FD1C3A}</a:tableStyleId>
              </a:tblPr>
              <a:tblGrid>
                <a:gridCol w="914400"/>
                <a:gridCol w="4114800"/>
                <a:gridCol w="1097280"/>
                <a:gridCol w="1371600"/>
                <a:gridCol w="4114800"/>
              </a:tblGrid>
              <a:tr h="320040">
                <a:tc>
                  <a:txBody>
                    <a:bodyPr/>
                    <a:lstStyle/>
                    <a:p>
                      <a:pPr algn="l">
                        <a:defRPr sz="1100" b="1">
                          <a:solidFill>
                            <a:srgbClr val="FFFFFF"/>
                          </a:solidFill>
                          <a:latin typeface="Segoe UI"/>
                        </a:defRPr>
                      </a:pPr>
                      <a:r>
                        <a:t>Gap ID</a:t>
                      </a:r>
                    </a:p>
                  </a:txBody>
                  <a:tcPr anchor="ctr" marL="73152" marR="73152" marT="36576" marB="36576">
                    <a:solidFill>
                      <a:srgbClr val="005AA0"/>
                    </a:solidFill>
                  </a:tcPr>
                </a:tc>
                <a:tc>
                  <a:txBody>
                    <a:bodyPr/>
                    <a:lstStyle/>
                    <a:p>
                      <a:pPr algn="l">
                        <a:defRPr sz="1100" b="1">
                          <a:solidFill>
                            <a:srgbClr val="FFFFFF"/>
                          </a:solidFill>
                          <a:latin typeface="Segoe UI"/>
                        </a:defRPr>
                      </a:pPr>
                      <a:r>
                        <a:t>Description</a:t>
                      </a:r>
                    </a:p>
                  </a:txBody>
                  <a:tcPr anchor="ctr" marL="73152" marR="73152" marT="36576" marB="36576">
                    <a:solidFill>
                      <a:srgbClr val="005AA0"/>
                    </a:solidFill>
                  </a:tcPr>
                </a:tc>
                <a:tc>
                  <a:txBody>
                    <a:bodyPr/>
                    <a:lstStyle/>
                    <a:p>
                      <a:pPr algn="l">
                        <a:defRPr sz="1100" b="1">
                          <a:solidFill>
                            <a:srgbClr val="FFFFFF"/>
                          </a:solidFill>
                          <a:latin typeface="Segoe UI"/>
                        </a:defRPr>
                      </a:pPr>
                      <a:r>
                        <a:t>Severity</a:t>
                      </a:r>
                    </a:p>
                  </a:txBody>
                  <a:tcPr anchor="ctr" marL="73152" marR="73152" marT="36576" marB="36576">
                    <a:solidFill>
                      <a:srgbClr val="005AA0"/>
                    </a:solidFill>
                  </a:tcPr>
                </a:tc>
                <a:tc>
                  <a:txBody>
                    <a:bodyPr/>
                    <a:lstStyle/>
                    <a:p>
                      <a:pPr algn="l">
                        <a:defRPr sz="1100" b="1">
                          <a:solidFill>
                            <a:srgbClr val="FFFFFF"/>
                          </a:solidFill>
                          <a:latin typeface="Segoe UI"/>
                        </a:defRPr>
                      </a:pPr>
                      <a:r>
                        <a:t>Status</a:t>
                      </a:r>
                    </a:p>
                  </a:txBody>
                  <a:tcPr anchor="ctr" marL="73152" marR="73152" marT="36576" marB="36576">
                    <a:solidFill>
                      <a:srgbClr val="005AA0"/>
                    </a:solidFill>
                  </a:tcPr>
                </a:tc>
                <a:tc>
                  <a:txBody>
                    <a:bodyPr/>
                    <a:lstStyle/>
                    <a:p>
                      <a:pPr algn="l">
                        <a:defRPr sz="1100" b="1">
                          <a:solidFill>
                            <a:srgbClr val="FFFFFF"/>
                          </a:solidFill>
                          <a:latin typeface="Segoe UI"/>
                        </a:defRPr>
                      </a:pPr>
                      <a:r>
                        <a:t>Workaround</a:t>
                      </a:r>
                    </a:p>
                  </a:txBody>
                  <a:tcPr anchor="ctr" marL="73152" marR="73152" marT="36576" marB="36576">
                    <a:solidFill>
                      <a:srgbClr val="005AA0"/>
                    </a:solidFill>
                  </a:tcPr>
                </a:tc>
              </a:tr>
              <a:tr h="320040">
                <a:tc>
                  <a:txBody>
                    <a:bodyPr/>
                    <a:lstStyle/>
                    <a:p>
                      <a:pPr>
                        <a:defRPr sz="1000">
                          <a:solidFill>
                            <a:srgbClr val="FFFFFF"/>
                          </a:solidFill>
                          <a:latin typeface="Segoe UI"/>
                        </a:defRPr>
                      </a:pPr>
                      <a:r>
                        <a:t>GAP-01</a:t>
                      </a:r>
                    </a:p>
                  </a:txBody>
                  <a:tcPr anchor="ctr" marL="73152" marR="73152" marT="27432" marB="27432">
                    <a:solidFill>
                      <a:srgbClr val="0D2244"/>
                    </a:solidFill>
                  </a:tcPr>
                </a:tc>
                <a:tc>
                  <a:txBody>
                    <a:bodyPr/>
                    <a:lstStyle/>
                    <a:p>
                      <a:pPr>
                        <a:defRPr sz="1000">
                          <a:solidFill>
                            <a:srgbClr val="FFFFFF"/>
                          </a:solidFill>
                          <a:latin typeface="Segoe UI"/>
                        </a:defRPr>
                      </a:pPr>
                      <a:r>
                        <a:t>No XPIA content classification in Defender for Office 365</a:t>
                      </a:r>
                    </a:p>
                  </a:txBody>
                  <a:tcPr anchor="ctr" marL="73152" marR="73152" marT="27432" marB="27432">
                    <a:solidFill>
                      <a:srgbClr val="0D2244"/>
                    </a:solidFill>
                  </a:tcPr>
                </a:tc>
                <a:tc>
                  <a:txBody>
                    <a:bodyPr/>
                    <a:lstStyle/>
                    <a:p>
                      <a:pPr>
                        <a:defRPr sz="1000">
                          <a:solidFill>
                            <a:srgbClr val="FFFFFF"/>
                          </a:solidFill>
                          <a:latin typeface="Segoe UI"/>
                        </a:defRPr>
                      </a:pPr>
                      <a:r>
                        <a:t>HIGH</a:t>
                      </a:r>
                    </a:p>
                  </a:txBody>
                  <a:tcPr anchor="ctr" marL="73152" marR="73152" marT="27432" marB="27432">
                    <a:solidFill>
                      <a:srgbClr val="0D2244"/>
                    </a:solidFill>
                  </a:tcPr>
                </a:tc>
                <a:tc>
                  <a:txBody>
                    <a:bodyPr/>
                    <a:lstStyle/>
                    <a:p>
                      <a:pPr>
                        <a:defRPr sz="1000">
                          <a:solidFill>
                            <a:srgbClr val="FFFFFF"/>
                          </a:solidFill>
                          <a:latin typeface="Segoe UI"/>
                        </a:defRPr>
                      </a:pPr>
                      <a:r>
                        <a:t>🔴 Gap</a:t>
                      </a:r>
                    </a:p>
                  </a:txBody>
                  <a:tcPr anchor="ctr" marL="73152" marR="73152" marT="27432" marB="27432">
                    <a:solidFill>
                      <a:srgbClr val="0D2244"/>
                    </a:solidFill>
                  </a:tcPr>
                </a:tc>
                <a:tc>
                  <a:txBody>
                    <a:bodyPr/>
                    <a:lstStyle/>
                    <a:p>
                      <a:pPr>
                        <a:defRPr sz="1000">
                          <a:solidFill>
                            <a:srgbClr val="FFFFFF"/>
                          </a:solidFill>
                          <a:latin typeface="Segoe UI"/>
                        </a:defRPr>
                      </a:pPr>
                      <a:r>
                        <a:t>Exchange mail flow rules + custom SIT</a:t>
                      </a:r>
                    </a:p>
                  </a:txBody>
                  <a:tcPr anchor="ctr" marL="73152" marR="73152" marT="27432" marB="27432">
                    <a:solidFill>
                      <a:srgbClr val="0D2244"/>
                    </a:solidFill>
                  </a:tcPr>
                </a:tc>
              </a:tr>
              <a:tr h="320040">
                <a:tc>
                  <a:txBody>
                    <a:bodyPr/>
                    <a:lstStyle/>
                    <a:p>
                      <a:pPr>
                        <a:defRPr sz="1000">
                          <a:solidFill>
                            <a:srgbClr val="FFFFFF"/>
                          </a:solidFill>
                          <a:latin typeface="Segoe UI"/>
                        </a:defRPr>
                      </a:pPr>
                      <a:r>
                        <a:t>GAP-02</a:t>
                      </a:r>
                    </a:p>
                  </a:txBody>
                  <a:tcPr anchor="ctr" marL="73152" marR="73152" marT="27432" marB="27432">
                    <a:solidFill>
                      <a:srgbClr val="123058"/>
                    </a:solidFill>
                  </a:tcPr>
                </a:tc>
                <a:tc>
                  <a:txBody>
                    <a:bodyPr/>
                    <a:lstStyle/>
                    <a:p>
                      <a:pPr>
                        <a:defRPr sz="1000">
                          <a:solidFill>
                            <a:srgbClr val="FFFFFF"/>
                          </a:solidFill>
                          <a:latin typeface="Segoe UI"/>
                        </a:defRPr>
                      </a:pPr>
                      <a:r>
                        <a:t>No automated XPIA campaign detection (50-user scenario)</a:t>
                      </a:r>
                    </a:p>
                  </a:txBody>
                  <a:tcPr anchor="ctr" marL="73152" marR="73152" marT="27432" marB="27432">
                    <a:solidFill>
                      <a:srgbClr val="123058"/>
                    </a:solidFill>
                  </a:tcPr>
                </a:tc>
                <a:tc>
                  <a:txBody>
                    <a:bodyPr/>
                    <a:lstStyle/>
                    <a:p>
                      <a:pPr>
                        <a:defRPr sz="1000">
                          <a:solidFill>
                            <a:srgbClr val="FFFFFF"/>
                          </a:solidFill>
                          <a:latin typeface="Segoe UI"/>
                        </a:defRPr>
                      </a:pPr>
                      <a:r>
                        <a:t>HIGH</a:t>
                      </a:r>
                    </a:p>
                  </a:txBody>
                  <a:tcPr anchor="ctr" marL="73152" marR="73152" marT="27432" marB="27432">
                    <a:solidFill>
                      <a:srgbClr val="123058"/>
                    </a:solidFill>
                  </a:tcPr>
                </a:tc>
                <a:tc>
                  <a:txBody>
                    <a:bodyPr/>
                    <a:lstStyle/>
                    <a:p>
                      <a:pPr>
                        <a:defRPr sz="1000">
                          <a:solidFill>
                            <a:srgbClr val="FFFFFF"/>
                          </a:solidFill>
                          <a:latin typeface="Segoe UI"/>
                        </a:defRPr>
                      </a:pPr>
                      <a:r>
                        <a:t>🟡 Workaround</a:t>
                      </a:r>
                    </a:p>
                  </a:txBody>
                  <a:tcPr anchor="ctr" marL="73152" marR="73152" marT="27432" marB="27432">
                    <a:solidFill>
                      <a:srgbClr val="123058"/>
                    </a:solidFill>
                  </a:tcPr>
                </a:tc>
                <a:tc>
                  <a:txBody>
                    <a:bodyPr/>
                    <a:lstStyle/>
                    <a:p>
                      <a:pPr>
                        <a:defRPr sz="1000">
                          <a:solidFill>
                            <a:srgbClr val="FFFFFF"/>
                          </a:solidFill>
                          <a:latin typeface="Segoe UI"/>
                        </a:defRPr>
                      </a:pPr>
                      <a:r>
                        <a:t>Custom KQL in Sentinel (2-3 days)</a:t>
                      </a:r>
                    </a:p>
                  </a:txBody>
                  <a:tcPr anchor="ctr" marL="73152" marR="73152" marT="27432" marB="27432">
                    <a:solidFill>
                      <a:srgbClr val="123058"/>
                    </a:solidFill>
                  </a:tcPr>
                </a:tc>
              </a:tr>
              <a:tr h="320040">
                <a:tc>
                  <a:txBody>
                    <a:bodyPr/>
                    <a:lstStyle/>
                    <a:p>
                      <a:pPr>
                        <a:defRPr sz="1000">
                          <a:solidFill>
                            <a:srgbClr val="FFFFFF"/>
                          </a:solidFill>
                          <a:latin typeface="Segoe UI"/>
                        </a:defRPr>
                      </a:pPr>
                      <a:r>
                        <a:t>GAP-03</a:t>
                      </a:r>
                    </a:p>
                  </a:txBody>
                  <a:tcPr anchor="ctr" marL="73152" marR="73152" marT="27432" marB="27432">
                    <a:solidFill>
                      <a:srgbClr val="0D2244"/>
                    </a:solidFill>
                  </a:tcPr>
                </a:tc>
                <a:tc>
                  <a:txBody>
                    <a:bodyPr/>
                    <a:lstStyle/>
                    <a:p>
                      <a:pPr>
                        <a:defRPr sz="1000">
                          <a:solidFill>
                            <a:srgbClr val="FFFFFF"/>
                          </a:solidFill>
                          <a:latin typeface="Segoe UI"/>
                        </a:defRPr>
                      </a:pPr>
                      <a:r>
                        <a:t>No document-at-rest XPIA scanning</a:t>
                      </a:r>
                    </a:p>
                  </a:txBody>
                  <a:tcPr anchor="ctr" marL="73152" marR="73152" marT="27432" marB="27432">
                    <a:solidFill>
                      <a:srgbClr val="0D2244"/>
                    </a:solidFill>
                  </a:tcPr>
                </a:tc>
                <a:tc>
                  <a:txBody>
                    <a:bodyPr/>
                    <a:lstStyle/>
                    <a:p>
                      <a:pPr>
                        <a:defRPr sz="1000">
                          <a:solidFill>
                            <a:srgbClr val="FFFFFF"/>
                          </a:solidFill>
                          <a:latin typeface="Segoe UI"/>
                        </a:defRPr>
                      </a:pPr>
                      <a:r>
                        <a:t>HIGH</a:t>
                      </a:r>
                    </a:p>
                  </a:txBody>
                  <a:tcPr anchor="ctr" marL="73152" marR="73152" marT="27432" marB="27432">
                    <a:solidFill>
                      <a:srgbClr val="0D2244"/>
                    </a:solidFill>
                  </a:tcPr>
                </a:tc>
                <a:tc>
                  <a:txBody>
                    <a:bodyPr/>
                    <a:lstStyle/>
                    <a:p>
                      <a:pPr>
                        <a:defRPr sz="1000">
                          <a:solidFill>
                            <a:srgbClr val="FFFFFF"/>
                          </a:solidFill>
                          <a:latin typeface="Segoe UI"/>
                        </a:defRPr>
                      </a:pPr>
                      <a:r>
                        <a:t>🟡 Partial</a:t>
                      </a:r>
                    </a:p>
                  </a:txBody>
                  <a:tcPr anchor="ctr" marL="73152" marR="73152" marT="27432" marB="27432">
                    <a:solidFill>
                      <a:srgbClr val="0D2244"/>
                    </a:solidFill>
                  </a:tcPr>
                </a:tc>
                <a:tc>
                  <a:txBody>
                    <a:bodyPr/>
                    <a:lstStyle/>
                    <a:p>
                      <a:pPr>
                        <a:defRPr sz="1000">
                          <a:solidFill>
                            <a:srgbClr val="FFFFFF"/>
                          </a:solidFill>
                          <a:latin typeface="Segoe UI"/>
                        </a:defRPr>
                      </a:pPr>
                      <a:r>
                        <a:t>Custom SIT + DLP catches pattern-based injection</a:t>
                      </a:r>
                    </a:p>
                  </a:txBody>
                  <a:tcPr anchor="ctr" marL="73152" marR="73152" marT="27432" marB="27432">
                    <a:solidFill>
                      <a:srgbClr val="0D2244"/>
                    </a:solidFill>
                  </a:tcPr>
                </a:tc>
              </a:tr>
              <a:tr h="320040">
                <a:tc>
                  <a:txBody>
                    <a:bodyPr/>
                    <a:lstStyle/>
                    <a:p>
                      <a:pPr>
                        <a:defRPr sz="1000">
                          <a:solidFill>
                            <a:srgbClr val="FFFFFF"/>
                          </a:solidFill>
                          <a:latin typeface="Segoe UI"/>
                        </a:defRPr>
                      </a:pPr>
                      <a:r>
                        <a:t>GAP-04</a:t>
                      </a:r>
                    </a:p>
                  </a:txBody>
                  <a:tcPr anchor="ctr" marL="73152" marR="73152" marT="27432" marB="27432">
                    <a:solidFill>
                      <a:srgbClr val="123058"/>
                    </a:solidFill>
                  </a:tcPr>
                </a:tc>
                <a:tc>
                  <a:txBody>
                    <a:bodyPr/>
                    <a:lstStyle/>
                    <a:p>
                      <a:pPr>
                        <a:defRPr sz="1000">
                          <a:solidFill>
                            <a:srgbClr val="FFFFFF"/>
                          </a:solidFill>
                          <a:latin typeface="Segoe UI"/>
                        </a:defRPr>
                      </a:pPr>
                      <a:r>
                        <a:t>XDR reporting for XPIA is minimal (binary, no payload detail)</a:t>
                      </a:r>
                    </a:p>
                  </a:txBody>
                  <a:tcPr anchor="ctr" marL="73152" marR="73152" marT="27432" marB="27432">
                    <a:solidFill>
                      <a:srgbClr val="123058"/>
                    </a:solidFill>
                  </a:tcPr>
                </a:tc>
                <a:tc>
                  <a:txBody>
                    <a:bodyPr/>
                    <a:lstStyle/>
                    <a:p>
                      <a:pPr>
                        <a:defRPr sz="1000">
                          <a:solidFill>
                            <a:srgbClr val="FFFFFF"/>
                          </a:solidFill>
                          <a:latin typeface="Segoe UI"/>
                        </a:defRPr>
                      </a:pPr>
                      <a:r>
                        <a:t>MEDIUM</a:t>
                      </a:r>
                    </a:p>
                  </a:txBody>
                  <a:tcPr anchor="ctr" marL="73152" marR="73152" marT="27432" marB="27432">
                    <a:solidFill>
                      <a:srgbClr val="123058"/>
                    </a:solidFill>
                  </a:tcPr>
                </a:tc>
                <a:tc>
                  <a:txBody>
                    <a:bodyPr/>
                    <a:lstStyle/>
                    <a:p>
                      <a:pPr>
                        <a:defRPr sz="1000">
                          <a:solidFill>
                            <a:srgbClr val="FFFFFF"/>
                          </a:solidFill>
                          <a:latin typeface="Segoe UI"/>
                        </a:defRPr>
                      </a:pPr>
                      <a:r>
                        <a:t>🟡 Workaround</a:t>
                      </a:r>
                    </a:p>
                  </a:txBody>
                  <a:tcPr anchor="ctr" marL="73152" marR="73152" marT="27432" marB="27432">
                    <a:solidFill>
                      <a:srgbClr val="123058"/>
                    </a:solidFill>
                  </a:tcPr>
                </a:tc>
                <a:tc>
                  <a:txBody>
                    <a:bodyPr/>
                    <a:lstStyle/>
                    <a:p>
                      <a:pPr>
                        <a:defRPr sz="1000">
                          <a:solidFill>
                            <a:srgbClr val="FFFFFF"/>
                          </a:solidFill>
                          <a:latin typeface="Segoe UI"/>
                        </a:defRPr>
                      </a:pPr>
                      <a:r>
                        <a:t>Custom KQL enhances visibility</a:t>
                      </a:r>
                    </a:p>
                  </a:txBody>
                  <a:tcPr anchor="ctr" marL="73152" marR="73152" marT="27432" marB="27432">
                    <a:solidFill>
                      <a:srgbClr val="123058"/>
                    </a:solidFill>
                  </a:tcPr>
                </a:tc>
              </a:tr>
              <a:tr h="320040">
                <a:tc>
                  <a:txBody>
                    <a:bodyPr/>
                    <a:lstStyle/>
                    <a:p>
                      <a:pPr>
                        <a:defRPr sz="1000">
                          <a:solidFill>
                            <a:srgbClr val="FFFFFF"/>
                          </a:solidFill>
                          <a:latin typeface="Segoe UI"/>
                        </a:defRPr>
                      </a:pPr>
                      <a:r>
                        <a:t>GAP-05</a:t>
                      </a:r>
                    </a:p>
                  </a:txBody>
                  <a:tcPr anchor="ctr" marL="73152" marR="73152" marT="27432" marB="27432">
                    <a:solidFill>
                      <a:srgbClr val="0D2244"/>
                    </a:solidFill>
                  </a:tcPr>
                </a:tc>
                <a:tc>
                  <a:txBody>
                    <a:bodyPr/>
                    <a:lstStyle/>
                    <a:p>
                      <a:pPr>
                        <a:defRPr sz="1000">
                          <a:solidFill>
                            <a:srgbClr val="FFFFFF"/>
                          </a:solidFill>
                          <a:latin typeface="Segoe UI"/>
                        </a:defRPr>
                      </a:pPr>
                      <a:r>
                        <a:t>No threat actor attribution in XPIA alerts</a:t>
                      </a:r>
                    </a:p>
                  </a:txBody>
                  <a:tcPr anchor="ctr" marL="73152" marR="73152" marT="27432" marB="27432">
                    <a:solidFill>
                      <a:srgbClr val="0D2244"/>
                    </a:solidFill>
                  </a:tcPr>
                </a:tc>
                <a:tc>
                  <a:txBody>
                    <a:bodyPr/>
                    <a:lstStyle/>
                    <a:p>
                      <a:pPr>
                        <a:defRPr sz="1000">
                          <a:solidFill>
                            <a:srgbClr val="FFFFFF"/>
                          </a:solidFill>
                          <a:latin typeface="Segoe UI"/>
                        </a:defRPr>
                      </a:pPr>
                      <a:r>
                        <a:t>MEDIUM</a:t>
                      </a:r>
                    </a:p>
                  </a:txBody>
                  <a:tcPr anchor="ctr" marL="73152" marR="73152" marT="27432" marB="27432">
                    <a:solidFill>
                      <a:srgbClr val="0D2244"/>
                    </a:solidFill>
                  </a:tcPr>
                </a:tc>
                <a:tc>
                  <a:txBody>
                    <a:bodyPr/>
                    <a:lstStyle/>
                    <a:p>
                      <a:pPr>
                        <a:defRPr sz="1000">
                          <a:solidFill>
                            <a:srgbClr val="FFFFFF"/>
                          </a:solidFill>
                          <a:latin typeface="Segoe UI"/>
                        </a:defRPr>
                      </a:pPr>
                      <a:r>
                        <a:t>🟡 Partial</a:t>
                      </a:r>
                    </a:p>
                  </a:txBody>
                  <a:tcPr anchor="ctr" marL="73152" marR="73152" marT="27432" marB="27432">
                    <a:solidFill>
                      <a:srgbClr val="0D2244"/>
                    </a:solidFill>
                  </a:tcPr>
                </a:tc>
                <a:tc>
                  <a:txBody>
                    <a:bodyPr/>
                    <a:lstStyle/>
                    <a:p>
                      <a:pPr>
                        <a:defRPr sz="1000">
                          <a:solidFill>
                            <a:srgbClr val="FFFFFF"/>
                          </a:solidFill>
                          <a:latin typeface="Segoe UI"/>
                        </a:defRPr>
                      </a:pPr>
                      <a:r>
                        <a:t>Sender domain correlation via custom KQL</a:t>
                      </a:r>
                    </a:p>
                  </a:txBody>
                  <a:tcPr anchor="ctr" marL="73152" marR="73152" marT="27432" marB="27432">
                    <a:solidFill>
                      <a:srgbClr val="0D2244"/>
                    </a:solidFill>
                  </a:tcPr>
                </a:tc>
              </a:tr>
              <a:tr h="320040">
                <a:tc>
                  <a:txBody>
                    <a:bodyPr/>
                    <a:lstStyle/>
                    <a:p>
                      <a:pPr>
                        <a:defRPr sz="1000">
                          <a:solidFill>
                            <a:srgbClr val="FFFFFF"/>
                          </a:solidFill>
                          <a:latin typeface="Segoe UI"/>
                        </a:defRPr>
                      </a:pPr>
                      <a:r>
                        <a:t>GAP-06</a:t>
                      </a:r>
                    </a:p>
                  </a:txBody>
                  <a:tcPr anchor="ctr" marL="73152" marR="73152" marT="27432" marB="27432">
                    <a:solidFill>
                      <a:srgbClr val="123058"/>
                    </a:solidFill>
                  </a:tcPr>
                </a:tc>
                <a:tc>
                  <a:txBody>
                    <a:bodyPr/>
                    <a:lstStyle/>
                    <a:p>
                      <a:pPr>
                        <a:defRPr sz="1000">
                          <a:solidFill>
                            <a:srgbClr val="FFFFFF"/>
                          </a:solidFill>
                          <a:latin typeface="Segoe UI"/>
                        </a:defRPr>
                      </a:pPr>
                      <a:r>
                        <a:t>XPIA not surfaced as distinct category in Purview DSPM</a:t>
                      </a:r>
                    </a:p>
                  </a:txBody>
                  <a:tcPr anchor="ctr" marL="73152" marR="73152" marT="27432" marB="27432">
                    <a:solidFill>
                      <a:srgbClr val="123058"/>
                    </a:solidFill>
                  </a:tcPr>
                </a:tc>
                <a:tc>
                  <a:txBody>
                    <a:bodyPr/>
                    <a:lstStyle/>
                    <a:p>
                      <a:pPr>
                        <a:defRPr sz="1000">
                          <a:solidFill>
                            <a:srgbClr val="FFFFFF"/>
                          </a:solidFill>
                          <a:latin typeface="Segoe UI"/>
                        </a:defRPr>
                      </a:pPr>
                      <a:r>
                        <a:t>MEDIUM</a:t>
                      </a:r>
                    </a:p>
                  </a:txBody>
                  <a:tcPr anchor="ctr" marL="73152" marR="73152" marT="27432" marB="27432">
                    <a:solidFill>
                      <a:srgbClr val="123058"/>
                    </a:solidFill>
                  </a:tcPr>
                </a:tc>
                <a:tc>
                  <a:txBody>
                    <a:bodyPr/>
                    <a:lstStyle/>
                    <a:p>
                      <a:pPr>
                        <a:defRPr sz="1000">
                          <a:solidFill>
                            <a:srgbClr val="FFFFFF"/>
                          </a:solidFill>
                          <a:latin typeface="Segoe UI"/>
                        </a:defRPr>
                      </a:pPr>
                      <a:r>
                        <a:t>🟡 Partial</a:t>
                      </a:r>
                    </a:p>
                  </a:txBody>
                  <a:tcPr anchor="ctr" marL="73152" marR="73152" marT="27432" marB="27432">
                    <a:solidFill>
                      <a:srgbClr val="123058"/>
                    </a:solidFill>
                  </a:tcPr>
                </a:tc>
                <a:tc>
                  <a:txBody>
                    <a:bodyPr/>
                    <a:lstStyle/>
                    <a:p>
                      <a:pPr>
                        <a:defRPr sz="1000">
                          <a:solidFill>
                            <a:srgbClr val="FFFFFF"/>
                          </a:solidFill>
                          <a:latin typeface="Segoe UI"/>
                        </a:defRPr>
                      </a:pPr>
                      <a:r>
                        <a:t>Sensitivity labels on flagged content → DSPM</a:t>
                      </a:r>
                    </a:p>
                  </a:txBody>
                  <a:tcPr anchor="ctr" marL="73152" marR="73152" marT="27432" marB="27432">
                    <a:solidFill>
                      <a:srgbClr val="123058"/>
                    </a:solidFill>
                  </a:tcPr>
                </a:tc>
              </a:tr>
              <a:tr h="320040">
                <a:tc>
                  <a:txBody>
                    <a:bodyPr/>
                    <a:lstStyle/>
                    <a:p>
                      <a:pPr>
                        <a:defRPr sz="1000">
                          <a:solidFill>
                            <a:srgbClr val="FFFFFF"/>
                          </a:solidFill>
                          <a:latin typeface="Segoe UI"/>
                        </a:defRPr>
                      </a:pPr>
                      <a:r>
                        <a:t>GAP-07</a:t>
                      </a:r>
                    </a:p>
                  </a:txBody>
                  <a:tcPr anchor="ctr" marL="73152" marR="73152" marT="27432" marB="27432">
                    <a:solidFill>
                      <a:srgbClr val="0D2244"/>
                    </a:solidFill>
                  </a:tcPr>
                </a:tc>
                <a:tc>
                  <a:txBody>
                    <a:bodyPr/>
                    <a:lstStyle/>
                    <a:p>
                      <a:pPr>
                        <a:defRPr sz="1000">
                          <a:solidFill>
                            <a:srgbClr val="FFFFFF"/>
                          </a:solidFill>
                          <a:latin typeface="Segoe UI"/>
                        </a:defRPr>
                      </a:pPr>
                      <a:r>
                        <a:t>Full prompt/response audit trail not universally available</a:t>
                      </a:r>
                    </a:p>
                  </a:txBody>
                  <a:tcPr anchor="ctr" marL="73152" marR="73152" marT="27432" marB="27432">
                    <a:solidFill>
                      <a:srgbClr val="0D2244"/>
                    </a:solidFill>
                  </a:tcPr>
                </a:tc>
                <a:tc>
                  <a:txBody>
                    <a:bodyPr/>
                    <a:lstStyle/>
                    <a:p>
                      <a:pPr>
                        <a:defRPr sz="1000">
                          <a:solidFill>
                            <a:srgbClr val="FFFFFF"/>
                          </a:solidFill>
                          <a:latin typeface="Segoe UI"/>
                        </a:defRPr>
                      </a:pPr>
                      <a:r>
                        <a:t>MEDIUM</a:t>
                      </a:r>
                    </a:p>
                  </a:txBody>
                  <a:tcPr anchor="ctr" marL="73152" marR="73152" marT="27432" marB="27432">
                    <a:solidFill>
                      <a:srgbClr val="0D2244"/>
                    </a:solidFill>
                  </a:tcPr>
                </a:tc>
                <a:tc>
                  <a:txBody>
                    <a:bodyPr/>
                    <a:lstStyle/>
                    <a:p>
                      <a:pPr>
                        <a:defRPr sz="1000">
                          <a:solidFill>
                            <a:srgbClr val="FFFFFF"/>
                          </a:solidFill>
                          <a:latin typeface="Segoe UI"/>
                        </a:defRPr>
                      </a:pPr>
                      <a:r>
                        <a:t>🟡 Partial</a:t>
                      </a:r>
                    </a:p>
                  </a:txBody>
                  <a:tcPr anchor="ctr" marL="73152" marR="73152" marT="27432" marB="27432">
                    <a:solidFill>
                      <a:srgbClr val="0D2244"/>
                    </a:solidFill>
                  </a:tcPr>
                </a:tc>
                <a:tc>
                  <a:txBody>
                    <a:bodyPr/>
                    <a:lstStyle/>
                    <a:p>
                      <a:pPr>
                        <a:defRPr sz="1000">
                          <a:solidFill>
                            <a:srgbClr val="FFFFFF"/>
                          </a:solidFill>
                          <a:latin typeface="Segoe UI"/>
                        </a:defRPr>
                      </a:pPr>
                      <a:r>
                        <a:t>Azure OpenAI diagnostic logging for some scenarios</a:t>
                      </a:r>
                    </a:p>
                  </a:txBody>
                  <a:tcPr anchor="ctr" marL="73152" marR="73152" marT="27432" marB="27432">
                    <a:solidFill>
                      <a:srgbClr val="0D2244"/>
                    </a:solidFill>
                  </a:tcPr>
                </a:tc>
              </a:tr>
            </a:tbl>
          </a:graphicData>
        </a:graphic>
      </p:graphicFrame>
      <p:sp>
        <p:nvSpPr>
          <p:cNvPr id="9" name="Rounded Rectangle 8"/>
          <p:cNvSpPr/>
          <p:nvPr/>
        </p:nvSpPr>
        <p:spPr>
          <a:xfrm>
            <a:off x="365760" y="4572000"/>
            <a:ext cx="11430000" cy="155448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4572000"/>
            <a:ext cx="114300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709160"/>
            <a:ext cx="10972800" cy="320040"/>
          </a:xfrm>
          <a:prstGeom prst="rect">
            <a:avLst/>
          </a:prstGeom>
          <a:noFill/>
        </p:spPr>
        <p:txBody>
          <a:bodyPr wrap="square">
            <a:spAutoFit/>
          </a:bodyPr>
          <a:lstStyle/>
          <a:p>
            <a:pPr algn="l">
              <a:defRPr sz="1400" b="1">
                <a:solidFill>
                  <a:srgbClr val="0078D4"/>
                </a:solidFill>
                <a:latin typeface="Segoe UI"/>
              </a:defRPr>
            </a:pPr>
            <a:r>
              <a:t>Competitive Context — These Gaps Are Industry-Wide</a:t>
            </a:r>
          </a:p>
        </p:txBody>
      </p:sp>
      <p:sp>
        <p:nvSpPr>
          <p:cNvPr id="12" name="TextBox 11"/>
          <p:cNvSpPr txBox="1"/>
          <p:nvPr/>
        </p:nvSpPr>
        <p:spPr>
          <a:xfrm>
            <a:off x="640080" y="5074920"/>
            <a:ext cx="10789920" cy="914400"/>
          </a:xfrm>
          <a:prstGeom prst="rect">
            <a:avLst/>
          </a:prstGeom>
          <a:noFill/>
        </p:spPr>
        <p:txBody>
          <a:bodyPr wrap="square">
            <a:spAutoFit/>
          </a:bodyPr>
          <a:lstStyle/>
          <a:p>
            <a:pPr algn="l">
              <a:spcAft>
                <a:spcPts val="600"/>
              </a:spcAft>
              <a:defRPr sz="1100" b="0">
                <a:solidFill>
                  <a:srgbClr val="E8EBEF"/>
                </a:solidFill>
                <a:latin typeface="Segoe UI"/>
              </a:defRPr>
            </a:pPr>
            <a:r>
              <a:t>  •  No vendor currently offers native email-level XPIA scanning before AI agent processing</a:t>
            </a:r>
          </a:p>
          <a:p>
            <a:pPr>
              <a:spcAft>
                <a:spcPts val="600"/>
              </a:spcAft>
              <a:defRPr sz="1100">
                <a:solidFill>
                  <a:srgbClr val="E8EBEF"/>
                </a:solidFill>
                <a:latin typeface="Segoe UI"/>
              </a:defRPr>
            </a:pPr>
            <a:r>
              <a:t>  •  No vendor offers automated XPIA campaign correlation or document-at-rest XPIA detection</a:t>
            </a:r>
          </a:p>
          <a:p>
            <a:pPr>
              <a:spcAft>
                <a:spcPts val="600"/>
              </a:spcAft>
              <a:defRPr sz="1100">
                <a:solidFill>
                  <a:srgbClr val="E8EBEF"/>
                </a:solidFill>
                <a:latin typeface="Segoe UI"/>
              </a:defRPr>
            </a:pPr>
            <a:r>
              <a:t>  •  Microsoft's advantage: integrated stack (Prompt Shields + Spotlighting + Defender XDR + Purview DSPM) provides the deepest defense-in-depth available</a:t>
            </a:r>
          </a:p>
          <a:p>
            <a:pPr>
              <a:spcAft>
                <a:spcPts val="600"/>
              </a:spcAft>
              <a:defRPr sz="1100">
                <a:solidFill>
                  <a:srgbClr val="E8EBEF"/>
                </a:solidFill>
                <a:latin typeface="Segoe UI"/>
              </a:defRPr>
            </a:pPr>
            <a:r>
              <a:t>  •  Workarounds using custom KQL, DLP, and SIT are achievable within existing E5 + Agent 365 licensing — no third-party tools needed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Roadmap &amp; Product Feedback</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What's Coming and What We're Pushing For</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13</a:t>
            </a:r>
          </a:p>
        </p:txBody>
      </p:sp>
      <p:sp>
        <p:nvSpPr>
          <p:cNvPr id="8" name="TextBox 7"/>
          <p:cNvSpPr txBox="1"/>
          <p:nvPr/>
        </p:nvSpPr>
        <p:spPr>
          <a:xfrm>
            <a:off x="365760" y="1371600"/>
            <a:ext cx="5486400" cy="365760"/>
          </a:xfrm>
          <a:prstGeom prst="rect">
            <a:avLst/>
          </a:prstGeom>
          <a:noFill/>
        </p:spPr>
        <p:txBody>
          <a:bodyPr wrap="square">
            <a:spAutoFit/>
          </a:bodyPr>
          <a:lstStyle/>
          <a:p>
            <a:pPr algn="l">
              <a:defRPr sz="1600" b="1">
                <a:solidFill>
                  <a:srgbClr val="FFFFFF"/>
                </a:solidFill>
                <a:latin typeface="Segoe UI"/>
              </a:defRPr>
            </a:pPr>
            <a:r>
              <a:t>Microsoft Roadmap</a:t>
            </a:r>
          </a:p>
        </p:txBody>
      </p:sp>
      <p:graphicFrame>
        <p:nvGraphicFramePr>
          <p:cNvPr id="9" name="Table 8"/>
          <p:cNvGraphicFramePr>
            <a:graphicFrameLocks noGrp="1"/>
          </p:cNvGraphicFramePr>
          <p:nvPr/>
        </p:nvGraphicFramePr>
        <p:xfrm>
          <a:off x="274320" y="1828800"/>
          <a:ext cx="5669280" cy="2240279"/>
        </p:xfrm>
        <a:graphic>
          <a:graphicData uri="http://schemas.openxmlformats.org/drawingml/2006/table">
            <a:tbl>
              <a:tblPr firstRow="1" bandRow="1">
                <a:tableStyleId>{5C22544A-7EE6-4342-B048-85BDC9FD1C3A}</a:tableStyleId>
              </a:tblPr>
              <a:tblGrid>
                <a:gridCol w="2560320"/>
                <a:gridCol w="1371600"/>
                <a:gridCol w="1737360"/>
              </a:tblGrid>
              <a:tr h="320039">
                <a:tc>
                  <a:txBody>
                    <a:bodyPr/>
                    <a:lstStyle/>
                    <a:p>
                      <a:pPr algn="l">
                        <a:defRPr sz="1100" b="1">
                          <a:solidFill>
                            <a:srgbClr val="FFFFFF"/>
                          </a:solidFill>
                          <a:latin typeface="Segoe UI"/>
                        </a:defRPr>
                      </a:pPr>
                      <a:r>
                        <a:t>Feature</a:t>
                      </a:r>
                    </a:p>
                  </a:txBody>
                  <a:tcPr anchor="ctr" marL="73152" marR="73152" marT="36576" marB="36576">
                    <a:solidFill>
                      <a:srgbClr val="005AA0"/>
                    </a:solidFill>
                  </a:tcPr>
                </a:tc>
                <a:tc>
                  <a:txBody>
                    <a:bodyPr/>
                    <a:lstStyle/>
                    <a:p>
                      <a:pPr algn="l">
                        <a:defRPr sz="1100" b="1">
                          <a:solidFill>
                            <a:srgbClr val="FFFFFF"/>
                          </a:solidFill>
                          <a:latin typeface="Segoe UI"/>
                        </a:defRPr>
                      </a:pPr>
                      <a:r>
                        <a:t>Timeline</a:t>
                      </a:r>
                    </a:p>
                  </a:txBody>
                  <a:tcPr anchor="ctr" marL="73152" marR="73152" marT="36576" marB="36576">
                    <a:solidFill>
                      <a:srgbClr val="005AA0"/>
                    </a:solidFill>
                  </a:tcPr>
                </a:tc>
                <a:tc>
                  <a:txBody>
                    <a:bodyPr/>
                    <a:lstStyle/>
                    <a:p>
                      <a:pPr algn="l">
                        <a:defRPr sz="1100" b="1">
                          <a:solidFill>
                            <a:srgbClr val="FFFFFF"/>
                          </a:solidFill>
                          <a:latin typeface="Segoe UI"/>
                        </a:defRPr>
                      </a:pPr>
                      <a:r>
                        <a:t>Impact</a:t>
                      </a:r>
                    </a:p>
                  </a:txBody>
                  <a:tcPr anchor="ctr" marL="73152" marR="73152" marT="36576" marB="36576">
                    <a:solidFill>
                      <a:srgbClr val="005AA0"/>
                    </a:solidFill>
                  </a:tcPr>
                </a:tc>
              </a:tr>
              <a:tr h="320039">
                <a:tc>
                  <a:txBody>
                    <a:bodyPr/>
                    <a:lstStyle/>
                    <a:p>
                      <a:pPr>
                        <a:defRPr sz="1000">
                          <a:solidFill>
                            <a:srgbClr val="FFFFFF"/>
                          </a:solidFill>
                          <a:latin typeface="Segoe UI"/>
                        </a:defRPr>
                      </a:pPr>
                      <a:r>
                        <a:t>Unified DSPM experience</a:t>
                      </a:r>
                    </a:p>
                  </a:txBody>
                  <a:tcPr anchor="ctr" marL="73152" marR="73152" marT="27432" marB="27432">
                    <a:solidFill>
                      <a:srgbClr val="0D2244"/>
                    </a:solidFill>
                  </a:tcPr>
                </a:tc>
                <a:tc>
                  <a:txBody>
                    <a:bodyPr/>
                    <a:lstStyle/>
                    <a:p>
                      <a:pPr>
                        <a:defRPr sz="1000">
                          <a:solidFill>
                            <a:srgbClr val="FFFFFF"/>
                          </a:solidFill>
                          <a:latin typeface="Segoe UI"/>
                        </a:defRPr>
                      </a:pPr>
                      <a:r>
                        <a:t>H1 2026 GA</a:t>
                      </a:r>
                    </a:p>
                  </a:txBody>
                  <a:tcPr anchor="ctr" marL="73152" marR="73152" marT="27432" marB="27432">
                    <a:solidFill>
                      <a:srgbClr val="0D2244"/>
                    </a:solidFill>
                  </a:tcPr>
                </a:tc>
                <a:tc>
                  <a:txBody>
                    <a:bodyPr/>
                    <a:lstStyle/>
                    <a:p>
                      <a:pPr>
                        <a:defRPr sz="1000">
                          <a:solidFill>
                            <a:srgbClr val="FFFFFF"/>
                          </a:solidFill>
                          <a:latin typeface="Segoe UI"/>
                        </a:defRPr>
                      </a:pPr>
                      <a:r>
                        <a:t>Single-pane AI governance visibility</a:t>
                      </a:r>
                    </a:p>
                  </a:txBody>
                  <a:tcPr anchor="ctr" marL="73152" marR="73152" marT="27432" marB="27432">
                    <a:solidFill>
                      <a:srgbClr val="0D2244"/>
                    </a:solidFill>
                  </a:tcPr>
                </a:tc>
              </a:tr>
              <a:tr h="320039">
                <a:tc>
                  <a:txBody>
                    <a:bodyPr/>
                    <a:lstStyle/>
                    <a:p>
                      <a:pPr>
                        <a:defRPr sz="1000">
                          <a:solidFill>
                            <a:srgbClr val="FFFFFF"/>
                          </a:solidFill>
                          <a:latin typeface="Segoe UI"/>
                        </a:defRPr>
                      </a:pPr>
                      <a:r>
                        <a:t>XPIA-specific signals in DSPM</a:t>
                      </a:r>
                    </a:p>
                  </a:txBody>
                  <a:tcPr anchor="ctr" marL="73152" marR="73152" marT="27432" marB="27432">
                    <a:solidFill>
                      <a:srgbClr val="0D2244"/>
                    </a:solidFill>
                  </a:tcPr>
                </a:tc>
                <a:tc>
                  <a:txBody>
                    <a:bodyPr/>
                    <a:lstStyle/>
                    <a:p>
                      <a:pPr>
                        <a:defRPr sz="1000">
                          <a:solidFill>
                            <a:srgbClr val="FFFFFF"/>
                          </a:solidFill>
                          <a:latin typeface="Segoe UI"/>
                        </a:defRPr>
                      </a:pPr>
                      <a:r>
                        <a:t>Timing TBD</a:t>
                      </a:r>
                    </a:p>
                  </a:txBody>
                  <a:tcPr anchor="ctr" marL="73152" marR="73152" marT="27432" marB="27432">
                    <a:solidFill>
                      <a:srgbClr val="0D2244"/>
                    </a:solidFill>
                  </a:tcPr>
                </a:tc>
                <a:tc>
                  <a:txBody>
                    <a:bodyPr/>
                    <a:lstStyle/>
                    <a:p>
                      <a:pPr>
                        <a:defRPr sz="1000">
                          <a:solidFill>
                            <a:srgbClr val="FFFFFF"/>
                          </a:solidFill>
                          <a:latin typeface="Segoe UI"/>
                        </a:defRPr>
                      </a:pPr>
                      <a:r>
                        <a:t>Product feedback filed</a:t>
                      </a:r>
                    </a:p>
                  </a:txBody>
                  <a:tcPr anchor="ctr" marL="73152" marR="73152" marT="27432" marB="27432">
                    <a:solidFill>
                      <a:srgbClr val="0D2244"/>
                    </a:solidFill>
                  </a:tcPr>
                </a:tc>
              </a:tr>
              <a:tr h="320039">
                <a:tc>
                  <a:txBody>
                    <a:bodyPr/>
                    <a:lstStyle/>
                    <a:p>
                      <a:pPr>
                        <a:defRPr sz="1000">
                          <a:solidFill>
                            <a:srgbClr val="FFFFFF"/>
                          </a:solidFill>
                          <a:latin typeface="Segoe UI"/>
                        </a:defRPr>
                      </a:pPr>
                      <a:r>
                        <a:t>IRM network detection for GenAI</a:t>
                      </a:r>
                    </a:p>
                  </a:txBody>
                  <a:tcPr anchor="ctr" marL="73152" marR="73152" marT="27432" marB="27432">
                    <a:solidFill>
                      <a:srgbClr val="123058"/>
                    </a:solidFill>
                  </a:tcPr>
                </a:tc>
                <a:tc>
                  <a:txBody>
                    <a:bodyPr/>
                    <a:lstStyle/>
                    <a:p>
                      <a:pPr>
                        <a:defRPr sz="1000">
                          <a:solidFill>
                            <a:srgbClr val="FFFFFF"/>
                          </a:solidFill>
                          <a:latin typeface="Segoe UI"/>
                        </a:defRPr>
                      </a:pPr>
                      <a:r>
                        <a:t>Rolling out now</a:t>
                      </a:r>
                    </a:p>
                  </a:txBody>
                  <a:tcPr anchor="ctr" marL="73152" marR="73152" marT="27432" marB="27432">
                    <a:solidFill>
                      <a:srgbClr val="123058"/>
                    </a:solidFill>
                  </a:tcPr>
                </a:tc>
                <a:tc>
                  <a:txBody>
                    <a:bodyPr/>
                    <a:lstStyle/>
                    <a:p>
                      <a:pPr>
                        <a:defRPr sz="1000">
                          <a:solidFill>
                            <a:srgbClr val="FFFFFF"/>
                          </a:solidFill>
                          <a:latin typeface="Segoe UI"/>
                        </a:defRPr>
                      </a:pPr>
                      <a:r>
                        <a:t>Insider XPIA detection at network layer</a:t>
                      </a:r>
                    </a:p>
                  </a:txBody>
                  <a:tcPr anchor="ctr" marL="73152" marR="73152" marT="27432" marB="27432">
                    <a:solidFill>
                      <a:srgbClr val="123058"/>
                    </a:solidFill>
                  </a:tcPr>
                </a:tc>
              </a:tr>
              <a:tr h="320039">
                <a:tc>
                  <a:txBody>
                    <a:bodyPr/>
                    <a:lstStyle/>
                    <a:p>
                      <a:pPr>
                        <a:defRPr sz="1000">
                          <a:solidFill>
                            <a:srgbClr val="FFFFFF"/>
                          </a:solidFill>
                          <a:latin typeface="Segoe UI"/>
                        </a:defRPr>
                      </a:pPr>
                      <a:r>
                        <a:t>Enhanced Prompt Shield models</a:t>
                      </a:r>
                    </a:p>
                  </a:txBody>
                  <a:tcPr anchor="ctr" marL="73152" marR="73152" marT="27432" marB="27432">
                    <a:solidFill>
                      <a:srgbClr val="0D2244"/>
                    </a:solidFill>
                  </a:tcPr>
                </a:tc>
                <a:tc>
                  <a:txBody>
                    <a:bodyPr/>
                    <a:lstStyle/>
                    <a:p>
                      <a:pPr>
                        <a:defRPr sz="1000">
                          <a:solidFill>
                            <a:srgbClr val="FFFFFF"/>
                          </a:solidFill>
                          <a:latin typeface="Segoe UI"/>
                        </a:defRPr>
                      </a:pPr>
                      <a:r>
                        <a:t>Continuous</a:t>
                      </a:r>
                    </a:p>
                  </a:txBody>
                  <a:tcPr anchor="ctr" marL="73152" marR="73152" marT="27432" marB="27432">
                    <a:solidFill>
                      <a:srgbClr val="0D2244"/>
                    </a:solidFill>
                  </a:tcPr>
                </a:tc>
                <a:tc>
                  <a:txBody>
                    <a:bodyPr/>
                    <a:lstStyle/>
                    <a:p>
                      <a:pPr>
                        <a:defRPr sz="1000">
                          <a:solidFill>
                            <a:srgbClr val="FFFFFF"/>
                          </a:solidFill>
                          <a:latin typeface="Segoe UI"/>
                        </a:defRPr>
                      </a:pPr>
                      <a:r>
                        <a:t>Improved detection rates</a:t>
                      </a:r>
                    </a:p>
                  </a:txBody>
                  <a:tcPr anchor="ctr" marL="73152" marR="73152" marT="27432" marB="27432">
                    <a:solidFill>
                      <a:srgbClr val="0D2244"/>
                    </a:solidFill>
                  </a:tcPr>
                </a:tc>
              </a:tr>
              <a:tr h="320039">
                <a:tc>
                  <a:txBody>
                    <a:bodyPr/>
                    <a:lstStyle/>
                    <a:p>
                      <a:pPr>
                        <a:defRPr sz="1000">
                          <a:solidFill>
                            <a:srgbClr val="FFFFFF"/>
                          </a:solidFill>
                          <a:latin typeface="Segoe UI"/>
                        </a:defRPr>
                      </a:pPr>
                      <a:r>
                        <a:t>Confidence scoring for Prompt Shields</a:t>
                      </a:r>
                    </a:p>
                  </a:txBody>
                  <a:tcPr anchor="ctr" marL="73152" marR="73152" marT="27432" marB="27432">
                    <a:solidFill>
                      <a:srgbClr val="123058"/>
                    </a:solidFill>
                  </a:tcPr>
                </a:tc>
                <a:tc>
                  <a:txBody>
                    <a:bodyPr/>
                    <a:lstStyle/>
                    <a:p>
                      <a:pPr>
                        <a:defRPr sz="1000">
                          <a:solidFill>
                            <a:srgbClr val="FFFFFF"/>
                          </a:solidFill>
                          <a:latin typeface="Segoe UI"/>
                        </a:defRPr>
                      </a:pPr>
                      <a:r>
                        <a:t>H2 2026 est.</a:t>
                      </a:r>
                    </a:p>
                  </a:txBody>
                  <a:tcPr anchor="ctr" marL="73152" marR="73152" marT="27432" marB="27432">
                    <a:solidFill>
                      <a:srgbClr val="123058"/>
                    </a:solidFill>
                  </a:tcPr>
                </a:tc>
                <a:tc>
                  <a:txBody>
                    <a:bodyPr/>
                    <a:lstStyle/>
                    <a:p>
                      <a:pPr>
                        <a:defRPr sz="1000">
                          <a:solidFill>
                            <a:srgbClr val="FFFFFF"/>
                          </a:solidFill>
                          <a:latin typeface="Segoe UI"/>
                        </a:defRPr>
                      </a:pPr>
                      <a:r>
                        <a:t>Threshold-based tuning</a:t>
                      </a:r>
                    </a:p>
                  </a:txBody>
                  <a:tcPr anchor="ctr" marL="73152" marR="73152" marT="27432" marB="27432">
                    <a:solidFill>
                      <a:srgbClr val="123058"/>
                    </a:solidFill>
                  </a:tcPr>
                </a:tc>
              </a:tr>
              <a:tr h="320039">
                <a:tc>
                  <a:txBody>
                    <a:bodyPr/>
                    <a:lstStyle/>
                    <a:p>
                      <a:pPr>
                        <a:defRPr sz="1000">
                          <a:solidFill>
                            <a:srgbClr val="FFFFFF"/>
                          </a:solidFill>
                          <a:latin typeface="Segoe UI"/>
                        </a:defRPr>
                      </a:pPr>
                      <a:r>
                        <a:t>Enhanced XPIA telemetry in XDR</a:t>
                      </a:r>
                    </a:p>
                  </a:txBody>
                  <a:tcPr anchor="ctr" marL="73152" marR="73152" marT="27432" marB="27432">
                    <a:solidFill>
                      <a:srgbClr val="0D2244"/>
                    </a:solidFill>
                  </a:tcPr>
                </a:tc>
                <a:tc>
                  <a:txBody>
                    <a:bodyPr/>
                    <a:lstStyle/>
                    <a:p>
                      <a:pPr>
                        <a:defRPr sz="1000">
                          <a:solidFill>
                            <a:srgbClr val="FFFFFF"/>
                          </a:solidFill>
                          <a:latin typeface="Segoe UI"/>
                        </a:defRPr>
                      </a:pPr>
                      <a:r>
                        <a:t>H1 2026 est.</a:t>
                      </a:r>
                    </a:p>
                  </a:txBody>
                  <a:tcPr anchor="ctr" marL="73152" marR="73152" marT="27432" marB="27432">
                    <a:solidFill>
                      <a:srgbClr val="0D2244"/>
                    </a:solidFill>
                  </a:tcPr>
                </a:tc>
                <a:tc>
                  <a:txBody>
                    <a:bodyPr/>
                    <a:lstStyle/>
                    <a:p>
                      <a:pPr>
                        <a:defRPr sz="1000">
                          <a:solidFill>
                            <a:srgbClr val="FFFFFF"/>
                          </a:solidFill>
                          <a:latin typeface="Segoe UI"/>
                        </a:defRPr>
                      </a:pPr>
                      <a:r>
                        <a:t>Richer alert context</a:t>
                      </a:r>
                    </a:p>
                  </a:txBody>
                  <a:tcPr anchor="ctr" marL="73152" marR="73152" marT="27432" marB="27432">
                    <a:solidFill>
                      <a:srgbClr val="0D2244"/>
                    </a:solidFill>
                  </a:tcPr>
                </a:tc>
              </a:tr>
              <a:tr h="320045">
                <a:tc>
                  <a:txBody>
                    <a:bodyPr/>
                    <a:lstStyle/>
                    <a:p>
                      <a:pPr>
                        <a:defRPr sz="1000">
                          <a:solidFill>
                            <a:srgbClr val="FFFFFF"/>
                          </a:solidFill>
                          <a:latin typeface="Segoe UI"/>
                        </a:defRPr>
                      </a:pPr>
                      <a:r>
                        <a:t>TaskTracker activation monitoring</a:t>
                      </a:r>
                    </a:p>
                  </a:txBody>
                  <a:tcPr anchor="ctr" marL="73152" marR="73152" marT="27432" marB="27432">
                    <a:solidFill>
                      <a:srgbClr val="123058"/>
                    </a:solidFill>
                  </a:tcPr>
                </a:tc>
                <a:tc>
                  <a:txBody>
                    <a:bodyPr/>
                    <a:lstStyle/>
                    <a:p>
                      <a:pPr>
                        <a:defRPr sz="1000">
                          <a:solidFill>
                            <a:srgbClr val="FFFFFF"/>
                          </a:solidFill>
                          <a:latin typeface="Segoe UI"/>
                        </a:defRPr>
                      </a:pPr>
                      <a:r>
                        <a:t>Research/Preview</a:t>
                      </a:r>
                    </a:p>
                  </a:txBody>
                  <a:tcPr anchor="ctr" marL="73152" marR="73152" marT="27432" marB="27432">
                    <a:solidFill>
                      <a:srgbClr val="123058"/>
                    </a:solidFill>
                  </a:tcPr>
                </a:tc>
                <a:tc>
                  <a:txBody>
                    <a:bodyPr/>
                    <a:lstStyle/>
                    <a:p>
                      <a:pPr>
                        <a:defRPr sz="1000">
                          <a:solidFill>
                            <a:srgbClr val="FFFFFF"/>
                          </a:solidFill>
                          <a:latin typeface="Segoe UI"/>
                        </a:defRPr>
                      </a:pPr>
                      <a:r>
                        <a:t>LLM activation behavior tracking</a:t>
                      </a:r>
                    </a:p>
                  </a:txBody>
                  <a:tcPr anchor="ctr" marL="73152" marR="73152" marT="27432" marB="27432">
                    <a:solidFill>
                      <a:srgbClr val="123058"/>
                    </a:solidFill>
                  </a:tcPr>
                </a:tc>
              </a:tr>
            </a:tbl>
          </a:graphicData>
        </a:graphic>
      </p:graphicFrame>
      <p:sp>
        <p:nvSpPr>
          <p:cNvPr id="10" name="TextBox 9"/>
          <p:cNvSpPr txBox="1"/>
          <p:nvPr/>
        </p:nvSpPr>
        <p:spPr>
          <a:xfrm>
            <a:off x="6309360" y="1371600"/>
            <a:ext cx="5486400" cy="365760"/>
          </a:xfrm>
          <a:prstGeom prst="rect">
            <a:avLst/>
          </a:prstGeom>
          <a:noFill/>
        </p:spPr>
        <p:txBody>
          <a:bodyPr wrap="square">
            <a:spAutoFit/>
          </a:bodyPr>
          <a:lstStyle/>
          <a:p>
            <a:pPr algn="l">
              <a:defRPr sz="1600" b="1">
                <a:solidFill>
                  <a:srgbClr val="FFFFFF"/>
                </a:solidFill>
                <a:latin typeface="Segoe UI"/>
              </a:defRPr>
            </a:pPr>
            <a:r>
              <a:t>Product Feedback Filed (6 Items)</a:t>
            </a:r>
          </a:p>
        </p:txBody>
      </p:sp>
      <p:sp>
        <p:nvSpPr>
          <p:cNvPr id="11" name="TextBox 10"/>
          <p:cNvSpPr txBox="1"/>
          <p:nvPr/>
        </p:nvSpPr>
        <p:spPr>
          <a:xfrm>
            <a:off x="6309360" y="1920240"/>
            <a:ext cx="5577840" cy="3200400"/>
          </a:xfrm>
          <a:prstGeom prst="rect">
            <a:avLst/>
          </a:prstGeom>
          <a:noFill/>
        </p:spPr>
        <p:txBody>
          <a:bodyPr wrap="square">
            <a:spAutoFit/>
          </a:bodyPr>
          <a:lstStyle/>
          <a:p>
            <a:pPr algn="l">
              <a:spcAft>
                <a:spcPts val="800"/>
              </a:spcAft>
              <a:defRPr sz="1100" b="0">
                <a:solidFill>
                  <a:srgbClr val="E8EBEF"/>
                </a:solidFill>
                <a:latin typeface="Segoe UI"/>
              </a:defRPr>
            </a:pPr>
            <a:r>
              <a:t>  1. XPIA as detection category in Defender for Office 365</a:t>
            </a:r>
          </a:p>
          <a:p>
            <a:pPr>
              <a:spcAft>
                <a:spcPts val="800"/>
              </a:spcAft>
              <a:defRPr sz="1100">
                <a:solidFill>
                  <a:srgbClr val="E8EBEF"/>
                </a:solidFill>
                <a:latin typeface="Segoe UI"/>
              </a:defRPr>
            </a:pPr>
            <a:r>
              <a:t>  2. Prompt Shield blocks as XDR incidents with attribution</a:t>
            </a:r>
          </a:p>
          <a:p>
            <a:pPr>
              <a:spcAft>
                <a:spcPts val="800"/>
              </a:spcAft>
              <a:defRPr sz="1100">
                <a:solidFill>
                  <a:srgbClr val="E8EBEF"/>
                </a:solidFill>
                <a:latin typeface="Segoe UI"/>
              </a:defRPr>
            </a:pPr>
            <a:r>
              <a:t>  3. XPIA risk signals in DSPM dashboard</a:t>
            </a:r>
          </a:p>
          <a:p>
            <a:pPr>
              <a:spcAft>
                <a:spcPts val="800"/>
              </a:spcAft>
              <a:defRPr sz="1100">
                <a:solidFill>
                  <a:srgbClr val="E8EBEF"/>
                </a:solidFill>
                <a:latin typeface="Segoe UI"/>
              </a:defRPr>
            </a:pPr>
            <a:r>
              <a:t>  4. Pre-consumption XPIA scanning in mail flow / document ingestion</a:t>
            </a:r>
          </a:p>
          <a:p>
            <a:pPr>
              <a:spcAft>
                <a:spcPts val="800"/>
              </a:spcAft>
              <a:defRPr sz="1100">
                <a:solidFill>
                  <a:srgbClr val="E8EBEF"/>
                </a:solidFill>
                <a:latin typeface="Segoe UI"/>
              </a:defRPr>
            </a:pPr>
            <a:r>
              <a:t>  5. Automated attribution chain: AI defense event → content source → sender ID</a:t>
            </a:r>
          </a:p>
          <a:p>
            <a:pPr>
              <a:spcAft>
                <a:spcPts val="800"/>
              </a:spcAft>
              <a:defRPr sz="1100">
                <a:solidFill>
                  <a:srgbClr val="E8EBEF"/>
                </a:solidFill>
                <a:latin typeface="Segoe UI"/>
              </a:defRPr>
            </a:pPr>
            <a:r>
              <a:t>  6. Campaign view linking multiple blocked attempts to common threat actor</a:t>
            </a:r>
          </a:p>
        </p:txBody>
      </p:sp>
      <p:sp>
        <p:nvSpPr>
          <p:cNvPr id="12" name="TextBox 11"/>
          <p:cNvSpPr txBox="1"/>
          <p:nvPr/>
        </p:nvSpPr>
        <p:spPr>
          <a:xfrm>
            <a:off x="365760" y="4709160"/>
            <a:ext cx="10972800" cy="274320"/>
          </a:xfrm>
          <a:prstGeom prst="rect">
            <a:avLst/>
          </a:prstGeom>
          <a:noFill/>
        </p:spPr>
        <p:txBody>
          <a:bodyPr wrap="square">
            <a:spAutoFit/>
          </a:bodyPr>
          <a:lstStyle/>
          <a:p>
            <a:pPr algn="l">
              <a:defRPr sz="1200" b="1">
                <a:solidFill>
                  <a:srgbClr val="FFFFFF"/>
                </a:solidFill>
                <a:latin typeface="Segoe UI"/>
              </a:defRPr>
            </a:pPr>
            <a:r>
              <a:rPr sz="1200"/>
              <a:t>Governance Maturity Curve</a:t>
            </a:r>
          </a:p>
        </p:txBody>
      </p:sp>
      <p:graphicFrame>
        <p:nvGraphicFramePr>
          <p:cNvPr id="13" name="Table 12"/>
          <p:cNvGraphicFramePr>
            <a:graphicFrameLocks noGrp="1"/>
          </p:cNvGraphicFramePr>
          <p:nvPr/>
        </p:nvGraphicFramePr>
        <p:xfrm>
          <a:off x="365760" y="4983480"/>
          <a:ext cx="11430000" cy="1417315"/>
        </p:xfrm>
        <a:graphic>
          <a:graphicData uri="http://schemas.openxmlformats.org/drawingml/2006/table">
            <a:tbl>
              <a:tblPr firstRow="1" bandRow="1">
                <a:tableStyleId>{5C22544A-7EE6-4342-B048-85BDC9FD1C3A}</a:tableStyleId>
              </a:tblPr>
              <a:tblGrid>
                <a:gridCol w="2011680"/>
                <a:gridCol w="4572000"/>
                <a:gridCol w="5029200"/>
              </a:tblGrid>
              <a:tr h="283463">
                <a:tc>
                  <a:txBody>
                    <a:bodyPr/>
                    <a:lstStyle/>
                    <a:p>
                      <a:pPr algn="l">
                        <a:defRPr sz="1000" b="1">
                          <a:solidFill>
                            <a:srgbClr val="FFFFFF"/>
                          </a:solidFill>
                          <a:latin typeface="Segoe UI"/>
                        </a:defRPr>
                      </a:pPr>
                      <a:r>
                        <a:rPr sz="1000"/>
                        <a:t>Level</a:t>
                      </a:r>
                    </a:p>
                  </a:txBody>
                  <a:tcPr anchor="ctr" marL="73152" marR="73152" marT="36576" marB="36576">
                    <a:solidFill>
                      <a:srgbClr val="005AA0"/>
                    </a:solidFill>
                  </a:tcPr>
                </a:tc>
                <a:tc>
                  <a:txBody>
                    <a:bodyPr/>
                    <a:lstStyle/>
                    <a:p>
                      <a:pPr algn="l">
                        <a:defRPr sz="1000" b="1">
                          <a:solidFill>
                            <a:srgbClr val="FFFFFF"/>
                          </a:solidFill>
                          <a:latin typeface="Segoe UI"/>
                        </a:defRPr>
                      </a:pPr>
                      <a:r>
                        <a:rPr sz="1000"/>
                        <a:t>Capability</a:t>
                      </a:r>
                    </a:p>
                  </a:txBody>
                  <a:tcPr anchor="ctr" marL="73152" marR="73152" marT="36576" marB="36576">
                    <a:solidFill>
                      <a:srgbClr val="005AA0"/>
                    </a:solidFill>
                  </a:tcPr>
                </a:tc>
                <a:tc>
                  <a:txBody>
                    <a:bodyPr/>
                    <a:lstStyle/>
                    <a:p>
                      <a:pPr algn="l">
                        <a:defRPr sz="1000" b="1">
                          <a:solidFill>
                            <a:srgbClr val="FFFFFF"/>
                          </a:solidFill>
                          <a:latin typeface="Segoe UI"/>
                        </a:defRPr>
                      </a:pPr>
                      <a:r>
                        <a:rPr sz="1000"/>
                        <a:t>What You Need</a:t>
                      </a:r>
                    </a:p>
                  </a:txBody>
                  <a:tcPr anchor="ctr" marL="73152" marR="73152" marT="36576" marB="36576">
                    <a:solidFill>
                      <a:srgbClr val="005AA0"/>
                    </a:solidFill>
                  </a:tcPr>
                </a:tc>
              </a:tr>
              <a:tr h="283463">
                <a:tc>
                  <a:txBody>
                    <a:bodyPr/>
                    <a:lstStyle/>
                    <a:p>
                      <a:pPr>
                        <a:defRPr sz="900">
                          <a:solidFill>
                            <a:srgbClr val="FFFFFF"/>
                          </a:solidFill>
                          <a:latin typeface="Segoe UI"/>
                        </a:defRPr>
                      </a:pPr>
                      <a:r>
                        <a:rPr sz="900"/>
                        <a:t>Level 1: Reactive</a:t>
                      </a:r>
                    </a:p>
                  </a:txBody>
                  <a:tcPr anchor="ctr" marL="73152" marR="73152" marT="27432" marB="27432">
                    <a:solidFill>
                      <a:srgbClr val="0D2244"/>
                    </a:solidFill>
                  </a:tcPr>
                </a:tc>
                <a:tc>
                  <a:txBody>
                    <a:bodyPr/>
                    <a:lstStyle/>
                    <a:p>
                      <a:pPr>
                        <a:defRPr sz="900">
                          <a:solidFill>
                            <a:srgbClr val="FFFFFF"/>
                          </a:solidFill>
                          <a:latin typeface="Segoe UI"/>
                        </a:defRPr>
                      </a:pPr>
                      <a:r>
                        <a:rPr sz="900"/>
                        <a:t>Respond to detected XPIA attacks after they occur</a:t>
                      </a:r>
                    </a:p>
                  </a:txBody>
                  <a:tcPr anchor="ctr" marL="73152" marR="73152" marT="27432" marB="27432">
                    <a:solidFill>
                      <a:srgbClr val="0D2244"/>
                    </a:solidFill>
                  </a:tcPr>
                </a:tc>
                <a:tc>
                  <a:txBody>
                    <a:bodyPr/>
                    <a:lstStyle/>
                    <a:p>
                      <a:pPr>
                        <a:defRPr sz="900">
                          <a:solidFill>
                            <a:srgbClr val="FFFFFF"/>
                          </a:solidFill>
                          <a:latin typeface="Segoe UI"/>
                        </a:defRPr>
                      </a:pPr>
                      <a:r>
                        <a:rPr sz="900"/>
                        <a:t>Agent 365 + SOC triage (achievable now)</a:t>
                      </a:r>
                    </a:p>
                  </a:txBody>
                  <a:tcPr anchor="ctr" marL="73152" marR="73152" marT="27432" marB="27432">
                    <a:solidFill>
                      <a:srgbClr val="0D2244"/>
                    </a:solidFill>
                  </a:tcPr>
                </a:tc>
              </a:tr>
              <a:tr h="283463">
                <a:tc>
                  <a:txBody>
                    <a:bodyPr/>
                    <a:lstStyle/>
                    <a:p>
                      <a:pPr>
                        <a:defRPr sz="900">
                          <a:solidFill>
                            <a:srgbClr val="FFFFFF"/>
                          </a:solidFill>
                          <a:latin typeface="Segoe UI"/>
                        </a:defRPr>
                      </a:pPr>
                      <a:r>
                        <a:rPr sz="900"/>
                        <a:t>Level 2: Proactive</a:t>
                      </a:r>
                    </a:p>
                  </a:txBody>
                  <a:tcPr anchor="ctr" marL="73152" marR="73152" marT="27432" marB="27432">
                    <a:solidFill>
                      <a:srgbClr val="123058"/>
                    </a:solidFill>
                  </a:tcPr>
                </a:tc>
                <a:tc>
                  <a:txBody>
                    <a:bodyPr/>
                    <a:lstStyle/>
                    <a:p>
                      <a:pPr>
                        <a:defRPr sz="900">
                          <a:solidFill>
                            <a:srgbClr val="FFFFFF"/>
                          </a:solidFill>
                          <a:latin typeface="Segoe UI"/>
                        </a:defRPr>
                      </a:pPr>
                      <a:r>
                        <a:rPr sz="900"/>
                        <a:t>Simulate XPIA attacks; test agent resilience before deployment</a:t>
                      </a:r>
                    </a:p>
                  </a:txBody>
                  <a:tcPr anchor="ctr" marL="73152" marR="73152" marT="27432" marB="27432">
                    <a:solidFill>
                      <a:srgbClr val="123058"/>
                    </a:solidFill>
                  </a:tcPr>
                </a:tc>
                <a:tc>
                  <a:txBody>
                    <a:bodyPr/>
                    <a:lstStyle/>
                    <a:p>
                      <a:pPr>
                        <a:defRPr sz="900">
                          <a:solidFill>
                            <a:srgbClr val="FFFFFF"/>
                          </a:solidFill>
                          <a:latin typeface="Segoe UI"/>
                        </a:defRPr>
                      </a:pPr>
                      <a:r>
                        <a:rPr sz="900"/>
                        <a:t>Agent 365 + PyRIT Red Team Module</a:t>
                      </a:r>
                    </a:p>
                  </a:txBody>
                  <a:tcPr anchor="ctr" marL="73152" marR="73152" marT="27432" marB="27432">
                    <a:solidFill>
                      <a:srgbClr val="123058"/>
                    </a:solidFill>
                  </a:tcPr>
                </a:tc>
              </a:tr>
              <a:tr h="283463">
                <a:tc>
                  <a:txBody>
                    <a:bodyPr/>
                    <a:lstStyle/>
                    <a:p>
                      <a:pPr>
                        <a:defRPr sz="900">
                          <a:solidFill>
                            <a:srgbClr val="FFFFFF"/>
                          </a:solidFill>
                          <a:latin typeface="Segoe UI"/>
                        </a:defRPr>
                      </a:pPr>
                      <a:r>
                        <a:rPr sz="900"/>
                        <a:t>Level 3: Predictive</a:t>
                      </a:r>
                    </a:p>
                  </a:txBody>
                  <a:tcPr anchor="ctr" marL="73152" marR="73152" marT="27432" marB="27432">
                    <a:solidFill>
                      <a:srgbClr val="0D2244"/>
                    </a:solidFill>
                  </a:tcPr>
                </a:tc>
                <a:tc>
                  <a:txBody>
                    <a:bodyPr/>
                    <a:lstStyle/>
                    <a:p>
                      <a:pPr>
                        <a:defRPr sz="900">
                          <a:solidFill>
                            <a:srgbClr val="FFFFFF"/>
                          </a:solidFill>
                          <a:latin typeface="Segoe UI"/>
                        </a:defRPr>
                      </a:pPr>
                      <a:r>
                        <a:rPr sz="900"/>
                        <a:t>Use threat intelligence to anticipate attack variants</a:t>
                      </a:r>
                    </a:p>
                  </a:txBody>
                  <a:tcPr anchor="ctr" marL="73152" marR="73152" marT="27432" marB="27432">
                    <a:solidFill>
                      <a:srgbClr val="0D2244"/>
                    </a:solidFill>
                  </a:tcPr>
                </a:tc>
                <a:tc>
                  <a:txBody>
                    <a:bodyPr/>
                    <a:lstStyle/>
                    <a:p>
                      <a:pPr>
                        <a:defRPr sz="900">
                          <a:solidFill>
                            <a:srgbClr val="FFFFFF"/>
                          </a:solidFill>
                          <a:latin typeface="Segoe UI"/>
                        </a:defRPr>
                      </a:pPr>
                      <a:r>
                        <a:rPr sz="900"/>
                        <a:t>Agent 365 + Threat Intel Feed</a:t>
                      </a:r>
                    </a:p>
                  </a:txBody>
                  <a:tcPr anchor="ctr" marL="73152" marR="73152" marT="27432" marB="27432">
                    <a:solidFill>
                      <a:srgbClr val="0D2244"/>
                    </a:solidFill>
                  </a:tcPr>
                </a:tc>
              </a:tr>
              <a:tr h="283463">
                <a:tc>
                  <a:txBody>
                    <a:bodyPr/>
                    <a:lstStyle/>
                    <a:p>
                      <a:pPr>
                        <a:defRPr sz="900">
                          <a:solidFill>
                            <a:srgbClr val="FFFFFF"/>
                          </a:solidFill>
                          <a:latin typeface="Segoe UI"/>
                        </a:defRPr>
                      </a:pPr>
                      <a:r>
                        <a:rPr sz="900"/>
                        <a:t>Level 4: Strategic</a:t>
                      </a:r>
                    </a:p>
                  </a:txBody>
                  <a:tcPr anchor="ctr" marL="73152" marR="73152" marT="27432" marB="27432">
                    <a:solidFill>
                      <a:srgbClr val="123058"/>
                    </a:solidFill>
                  </a:tcPr>
                </a:tc>
                <a:tc>
                  <a:txBody>
                    <a:bodyPr/>
                    <a:lstStyle/>
                    <a:p>
                      <a:pPr>
                        <a:defRPr sz="900">
                          <a:solidFill>
                            <a:srgbClr val="FFFFFF"/>
                          </a:solidFill>
                          <a:latin typeface="Segoe UI"/>
                        </a:defRPr>
                      </a:pPr>
                      <a:r>
                        <a:rPr sz="900"/>
                        <a:t>Build FSI-specific XPIA governance standards</a:t>
                      </a:r>
                    </a:p>
                  </a:txBody>
                  <a:tcPr anchor="ctr" marL="73152" marR="73152" marT="27432" marB="27432">
                    <a:solidFill>
                      <a:srgbClr val="123058"/>
                    </a:solidFill>
                  </a:tcPr>
                </a:tc>
                <a:tc>
                  <a:txBody>
                    <a:bodyPr/>
                    <a:lstStyle/>
                    <a:p>
                      <a:pPr>
                        <a:defRPr sz="900">
                          <a:solidFill>
                            <a:srgbClr val="FFFFFF"/>
                          </a:solidFill>
                          <a:latin typeface="Segoe UI"/>
                        </a:defRPr>
                      </a:pPr>
                      <a:r>
                        <a:rPr sz="900"/>
                        <a:t>Agent 365 + Cross-Org Community</a:t>
                      </a:r>
                    </a:p>
                  </a:txBody>
                  <a:tcPr anchor="ctr" marL="73152" marR="73152" marT="27432" marB="27432">
                    <a:solidFill>
                      <a:srgbClr val="12305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Demo Plan — 5-Station Flow</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90-Minute Technical Demonstration | Detect → Validate → Respond → Prevent → Roadmap</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14</a:t>
            </a:r>
          </a:p>
        </p:txBody>
      </p:sp>
      <p:sp>
        <p:nvSpPr>
          <p:cNvPr id="8" name="Rounded Rectangle 7"/>
          <p:cNvSpPr/>
          <p:nvPr/>
        </p:nvSpPr>
        <p:spPr>
          <a:xfrm>
            <a:off x="182880" y="1371600"/>
            <a:ext cx="2240280" cy="47548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371600"/>
            <a:ext cx="224028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508760"/>
            <a:ext cx="2057400" cy="640080"/>
          </a:xfrm>
          <a:prstGeom prst="rect">
            <a:avLst/>
          </a:prstGeom>
          <a:noFill/>
        </p:spPr>
        <p:txBody>
          <a:bodyPr wrap="square">
            <a:spAutoFit/>
          </a:bodyPr>
          <a:lstStyle/>
          <a:p>
            <a:pPr algn="ctr">
              <a:defRPr sz="1300" b="1">
                <a:solidFill>
                  <a:srgbClr val="0078D4"/>
                </a:solidFill>
                <a:latin typeface="Segoe UI"/>
              </a:defRPr>
            </a:pPr>
            <a:r>
              <a:t>Station 1</a:t>
            </a:r>
            <a:br/>
            <a:r>
              <a:t>DETECT</a:t>
            </a:r>
          </a:p>
        </p:txBody>
      </p:sp>
      <p:sp>
        <p:nvSpPr>
          <p:cNvPr id="11" name="TextBox 10"/>
          <p:cNvSpPr txBox="1"/>
          <p:nvPr/>
        </p:nvSpPr>
        <p:spPr>
          <a:xfrm>
            <a:off x="274320" y="2148840"/>
            <a:ext cx="2057400" cy="274320"/>
          </a:xfrm>
          <a:prstGeom prst="rect">
            <a:avLst/>
          </a:prstGeom>
          <a:noFill/>
        </p:spPr>
        <p:txBody>
          <a:bodyPr wrap="square">
            <a:spAutoFit/>
          </a:bodyPr>
          <a:lstStyle/>
          <a:p>
            <a:pPr algn="ctr">
              <a:defRPr sz="1000" b="0">
                <a:solidFill>
                  <a:srgbClr val="9BA0A8"/>
                </a:solidFill>
                <a:latin typeface="Segoe UI"/>
              </a:defRPr>
            </a:pPr>
            <a:r>
              <a:t>20 min</a:t>
            </a:r>
          </a:p>
        </p:txBody>
      </p:sp>
      <p:sp>
        <p:nvSpPr>
          <p:cNvPr id="12" name="TextBox 11"/>
          <p:cNvSpPr txBox="1"/>
          <p:nvPr/>
        </p:nvSpPr>
        <p:spPr>
          <a:xfrm>
            <a:off x="274320" y="2423160"/>
            <a:ext cx="2057400" cy="457200"/>
          </a:xfrm>
          <a:prstGeom prst="rect">
            <a:avLst/>
          </a:prstGeom>
          <a:noFill/>
        </p:spPr>
        <p:txBody>
          <a:bodyPr wrap="square">
            <a:spAutoFit/>
          </a:bodyPr>
          <a:lstStyle/>
          <a:p>
            <a:pPr algn="ctr">
              <a:defRPr sz="1100" b="1">
                <a:solidFill>
                  <a:srgbClr val="FFFFFF"/>
                </a:solidFill>
                <a:latin typeface="Segoe UI"/>
              </a:defRPr>
            </a:pPr>
            <a:r>
              <a:t>XPIA Protection</a:t>
            </a:r>
            <a:br/>
            <a:r>
              <a:t>in Action</a:t>
            </a:r>
          </a:p>
        </p:txBody>
      </p:sp>
      <p:sp>
        <p:nvSpPr>
          <p:cNvPr id="13" name="TextBox 12"/>
          <p:cNvSpPr txBox="1"/>
          <p:nvPr/>
        </p:nvSpPr>
        <p:spPr>
          <a:xfrm>
            <a:off x="274320" y="3017520"/>
            <a:ext cx="2057400" cy="2926080"/>
          </a:xfrm>
          <a:prstGeom prst="rect">
            <a:avLst/>
          </a:prstGeom>
          <a:noFill/>
        </p:spPr>
        <p:txBody>
          <a:bodyPr wrap="square">
            <a:spAutoFit/>
          </a:bodyPr>
          <a:lstStyle/>
          <a:p>
            <a:pPr algn="l">
              <a:spcAft>
                <a:spcPts val="400"/>
              </a:spcAft>
              <a:defRPr sz="900" b="0">
                <a:solidFill>
                  <a:srgbClr val="E8EBEF"/>
                </a:solidFill>
                <a:latin typeface="Segoe UI"/>
              </a:defRPr>
            </a:pPr>
            <a:r>
              <a:t>  •  Test email with embedded XPIA payload</a:t>
            </a:r>
          </a:p>
          <a:p>
            <a:pPr>
              <a:spcAft>
                <a:spcPts val="400"/>
              </a:spcAft>
              <a:defRPr sz="900">
                <a:solidFill>
                  <a:srgbClr val="E8EBEF"/>
                </a:solidFill>
                <a:latin typeface="Segoe UI"/>
              </a:defRPr>
            </a:pPr>
            <a:r>
              <a:t>  •  Agent 365 processes → Prompt Shields fires</a:t>
            </a:r>
          </a:p>
          <a:p>
            <a:pPr>
              <a:spcAft>
                <a:spcPts val="400"/>
              </a:spcAft>
              <a:defRPr sz="900">
                <a:solidFill>
                  <a:srgbClr val="E8EBEF"/>
                </a:solidFill>
                <a:latin typeface="Segoe UI"/>
              </a:defRPr>
            </a:pPr>
            <a:r>
              <a:t>  •  Show Copilot audit log for blocked event</a:t>
            </a:r>
          </a:p>
          <a:p>
            <a:pPr>
              <a:spcAft>
                <a:spcPts val="400"/>
              </a:spcAft>
              <a:defRPr sz="900">
                <a:solidFill>
                  <a:srgbClr val="E8EBEF"/>
                </a:solidFill>
                <a:latin typeface="Segoe UI"/>
              </a:defRPr>
            </a:pPr>
            <a:r>
              <a:t>  •  Azure AI Content Safety API analysis</a:t>
            </a:r>
          </a:p>
        </p:txBody>
      </p:sp>
      <p:sp>
        <p:nvSpPr>
          <p:cNvPr id="14" name="Rounded Rectangle 13"/>
          <p:cNvSpPr/>
          <p:nvPr/>
        </p:nvSpPr>
        <p:spPr>
          <a:xfrm>
            <a:off x="2560320" y="1371600"/>
            <a:ext cx="2240280" cy="47548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0" y="1371600"/>
            <a:ext cx="2240280" cy="50800"/>
          </a:xfrm>
          <a:prstGeom prst="rect">
            <a:avLst/>
          </a:prstGeom>
          <a:solidFill>
            <a:srgbClr val="00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508760"/>
            <a:ext cx="2057400" cy="640080"/>
          </a:xfrm>
          <a:prstGeom prst="rect">
            <a:avLst/>
          </a:prstGeom>
          <a:noFill/>
        </p:spPr>
        <p:txBody>
          <a:bodyPr wrap="square">
            <a:spAutoFit/>
          </a:bodyPr>
          <a:lstStyle/>
          <a:p>
            <a:pPr algn="ctr">
              <a:defRPr sz="1300" b="1">
                <a:solidFill>
                  <a:srgbClr val="006E3A"/>
                </a:solidFill>
                <a:latin typeface="Segoe UI"/>
              </a:defRPr>
            </a:pPr>
            <a:r>
              <a:t>Station 2</a:t>
            </a:r>
            <a:br/>
            <a:r>
              <a:t>VALIDATE</a:t>
            </a:r>
          </a:p>
        </p:txBody>
      </p:sp>
      <p:sp>
        <p:nvSpPr>
          <p:cNvPr id="17" name="TextBox 16"/>
          <p:cNvSpPr txBox="1"/>
          <p:nvPr/>
        </p:nvSpPr>
        <p:spPr>
          <a:xfrm>
            <a:off x="2651760" y="2148840"/>
            <a:ext cx="2057400" cy="274320"/>
          </a:xfrm>
          <a:prstGeom prst="rect">
            <a:avLst/>
          </a:prstGeom>
          <a:noFill/>
        </p:spPr>
        <p:txBody>
          <a:bodyPr wrap="square">
            <a:spAutoFit/>
          </a:bodyPr>
          <a:lstStyle/>
          <a:p>
            <a:pPr algn="ctr">
              <a:defRPr sz="1000" b="0">
                <a:solidFill>
                  <a:srgbClr val="9BA0A8"/>
                </a:solidFill>
                <a:latin typeface="Segoe UI"/>
              </a:defRPr>
            </a:pPr>
            <a:r>
              <a:t>20 min</a:t>
            </a:r>
          </a:p>
        </p:txBody>
      </p:sp>
      <p:sp>
        <p:nvSpPr>
          <p:cNvPr id="18" name="TextBox 17"/>
          <p:cNvSpPr txBox="1"/>
          <p:nvPr/>
        </p:nvSpPr>
        <p:spPr>
          <a:xfrm>
            <a:off x="2651760" y="2423160"/>
            <a:ext cx="2057400" cy="457200"/>
          </a:xfrm>
          <a:prstGeom prst="rect">
            <a:avLst/>
          </a:prstGeom>
          <a:noFill/>
        </p:spPr>
        <p:txBody>
          <a:bodyPr wrap="square">
            <a:spAutoFit/>
          </a:bodyPr>
          <a:lstStyle/>
          <a:p>
            <a:pPr algn="ctr">
              <a:defRPr sz="1100" b="1">
                <a:solidFill>
                  <a:srgbClr val="FFFFFF"/>
                </a:solidFill>
                <a:latin typeface="Segoe UI"/>
              </a:defRPr>
            </a:pPr>
            <a:r>
              <a:t>Proving</a:t>
            </a:r>
            <a:br/>
            <a:r>
              <a:t>Effectiveness</a:t>
            </a:r>
          </a:p>
        </p:txBody>
      </p:sp>
      <p:sp>
        <p:nvSpPr>
          <p:cNvPr id="19" name="TextBox 18"/>
          <p:cNvSpPr txBox="1"/>
          <p:nvPr/>
        </p:nvSpPr>
        <p:spPr>
          <a:xfrm>
            <a:off x="2651760" y="3017520"/>
            <a:ext cx="2057400" cy="2926080"/>
          </a:xfrm>
          <a:prstGeom prst="rect">
            <a:avLst/>
          </a:prstGeom>
          <a:noFill/>
        </p:spPr>
        <p:txBody>
          <a:bodyPr wrap="square">
            <a:spAutoFit/>
          </a:bodyPr>
          <a:lstStyle/>
          <a:p>
            <a:pPr algn="l">
              <a:spcAft>
                <a:spcPts val="400"/>
              </a:spcAft>
              <a:defRPr sz="900" b="0">
                <a:solidFill>
                  <a:srgbClr val="E8EBEF"/>
                </a:solidFill>
                <a:latin typeface="Segoe UI"/>
              </a:defRPr>
            </a:pPr>
            <a:r>
              <a:t>  •  Prompt Shield architecture walkthrough</a:t>
            </a:r>
          </a:p>
          <a:p>
            <a:pPr>
              <a:spcAft>
                <a:spcPts val="400"/>
              </a:spcAft>
              <a:defRPr sz="900">
                <a:solidFill>
                  <a:srgbClr val="E8EBEF"/>
                </a:solidFill>
                <a:latin typeface="Segoe UI"/>
              </a:defRPr>
            </a:pPr>
            <a:r>
              <a:t>  •  Multiple XPIA variants through Content Safety API</a:t>
            </a:r>
          </a:p>
          <a:p>
            <a:pPr>
              <a:spcAft>
                <a:spcPts val="400"/>
              </a:spcAft>
              <a:defRPr sz="900">
                <a:solidFill>
                  <a:srgbClr val="E8EBEF"/>
                </a:solidFill>
                <a:latin typeface="Segoe UI"/>
              </a:defRPr>
            </a:pPr>
            <a:r>
              <a:t>  •  DSPM for AI dashboard — activity analytics</a:t>
            </a:r>
          </a:p>
          <a:p>
            <a:pPr>
              <a:spcAft>
                <a:spcPts val="400"/>
              </a:spcAft>
              <a:defRPr sz="900">
                <a:solidFill>
                  <a:srgbClr val="E8EBEF"/>
                </a:solidFill>
                <a:latin typeface="Segoe UI"/>
              </a:defRPr>
            </a:pPr>
            <a:r>
              <a:t>  •  DLP policy firing on sensitive AI prompt</a:t>
            </a:r>
          </a:p>
        </p:txBody>
      </p:sp>
      <p:sp>
        <p:nvSpPr>
          <p:cNvPr id="20" name="Rounded Rectangle 19"/>
          <p:cNvSpPr/>
          <p:nvPr/>
        </p:nvSpPr>
        <p:spPr>
          <a:xfrm>
            <a:off x="4937760" y="1371600"/>
            <a:ext cx="2240280" cy="47548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0" y="1371600"/>
            <a:ext cx="2240280" cy="508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1508760"/>
            <a:ext cx="2057400" cy="640080"/>
          </a:xfrm>
          <a:prstGeom prst="rect">
            <a:avLst/>
          </a:prstGeom>
          <a:noFill/>
        </p:spPr>
        <p:txBody>
          <a:bodyPr wrap="square">
            <a:spAutoFit/>
          </a:bodyPr>
          <a:lstStyle/>
          <a:p>
            <a:pPr algn="ctr">
              <a:defRPr sz="1300" b="1">
                <a:solidFill>
                  <a:srgbClr val="E06C00"/>
                </a:solidFill>
                <a:latin typeface="Segoe UI"/>
              </a:defRPr>
            </a:pPr>
            <a:r>
              <a:t>Station 3</a:t>
            </a:r>
            <a:br/>
            <a:r>
              <a:t>RESPOND</a:t>
            </a:r>
          </a:p>
        </p:txBody>
      </p:sp>
      <p:sp>
        <p:nvSpPr>
          <p:cNvPr id="23" name="TextBox 22"/>
          <p:cNvSpPr txBox="1"/>
          <p:nvPr/>
        </p:nvSpPr>
        <p:spPr>
          <a:xfrm>
            <a:off x="5029200" y="2148840"/>
            <a:ext cx="2057400" cy="274320"/>
          </a:xfrm>
          <a:prstGeom prst="rect">
            <a:avLst/>
          </a:prstGeom>
          <a:noFill/>
        </p:spPr>
        <p:txBody>
          <a:bodyPr wrap="square">
            <a:spAutoFit/>
          </a:bodyPr>
          <a:lstStyle/>
          <a:p>
            <a:pPr algn="ctr">
              <a:defRPr sz="1000" b="0">
                <a:solidFill>
                  <a:srgbClr val="9BA0A8"/>
                </a:solidFill>
                <a:latin typeface="Segoe UI"/>
              </a:defRPr>
            </a:pPr>
            <a:r>
              <a:t>25 min</a:t>
            </a:r>
          </a:p>
        </p:txBody>
      </p:sp>
      <p:sp>
        <p:nvSpPr>
          <p:cNvPr id="24" name="TextBox 23"/>
          <p:cNvSpPr txBox="1"/>
          <p:nvPr/>
        </p:nvSpPr>
        <p:spPr>
          <a:xfrm>
            <a:off x="5029200" y="2423160"/>
            <a:ext cx="2057400" cy="457200"/>
          </a:xfrm>
          <a:prstGeom prst="rect">
            <a:avLst/>
          </a:prstGeom>
          <a:noFill/>
        </p:spPr>
        <p:txBody>
          <a:bodyPr wrap="square">
            <a:spAutoFit/>
          </a:bodyPr>
          <a:lstStyle/>
          <a:p>
            <a:pPr algn="ctr">
              <a:defRPr sz="1100" b="1">
                <a:solidFill>
                  <a:srgbClr val="FFFFFF"/>
                </a:solidFill>
                <a:latin typeface="Segoe UI"/>
              </a:defRPr>
            </a:pPr>
            <a:r>
              <a:t>Investigation &amp;</a:t>
            </a:r>
            <a:br/>
            <a:r>
              <a:t>Attribution</a:t>
            </a:r>
          </a:p>
        </p:txBody>
      </p:sp>
      <p:sp>
        <p:nvSpPr>
          <p:cNvPr id="25" name="TextBox 24"/>
          <p:cNvSpPr txBox="1"/>
          <p:nvPr/>
        </p:nvSpPr>
        <p:spPr>
          <a:xfrm>
            <a:off x="5029200" y="3017520"/>
            <a:ext cx="2057400" cy="2926080"/>
          </a:xfrm>
          <a:prstGeom prst="rect">
            <a:avLst/>
          </a:prstGeom>
          <a:noFill/>
        </p:spPr>
        <p:txBody>
          <a:bodyPr wrap="square">
            <a:spAutoFit/>
          </a:bodyPr>
          <a:lstStyle/>
          <a:p>
            <a:pPr algn="l">
              <a:spcAft>
                <a:spcPts val="400"/>
              </a:spcAft>
              <a:defRPr sz="900" b="0">
                <a:solidFill>
                  <a:srgbClr val="E8EBEF"/>
                </a:solidFill>
                <a:latin typeface="Segoe UI"/>
              </a:defRPr>
            </a:pPr>
            <a:r>
              <a:t>  •  Sentinel custom KQL for campaign detection</a:t>
            </a:r>
          </a:p>
          <a:p>
            <a:pPr>
              <a:spcAft>
                <a:spcPts val="400"/>
              </a:spcAft>
              <a:defRPr sz="900">
                <a:solidFill>
                  <a:srgbClr val="E8EBEF"/>
                </a:solidFill>
                <a:latin typeface="Segoe UI"/>
              </a:defRPr>
            </a:pPr>
            <a:r>
              <a:t>  •  Automated investigation playbook</a:t>
            </a:r>
          </a:p>
          <a:p>
            <a:pPr>
              <a:spcAft>
                <a:spcPts val="400"/>
              </a:spcAft>
              <a:defRPr sz="900">
                <a:solidFill>
                  <a:srgbClr val="E8EBEF"/>
                </a:solidFill>
                <a:latin typeface="Segoe UI"/>
              </a:defRPr>
            </a:pPr>
            <a:r>
              <a:t>  •  Copilot for Security NL investigation</a:t>
            </a:r>
          </a:p>
          <a:p>
            <a:pPr>
              <a:spcAft>
                <a:spcPts val="400"/>
              </a:spcAft>
              <a:defRPr sz="900">
                <a:solidFill>
                  <a:srgbClr val="E8EBEF"/>
                </a:solidFill>
                <a:latin typeface="Segoe UI"/>
              </a:defRPr>
            </a:pPr>
            <a:r>
              <a:t>  •  End-to-end attribution chain demo</a:t>
            </a:r>
          </a:p>
        </p:txBody>
      </p:sp>
      <p:sp>
        <p:nvSpPr>
          <p:cNvPr id="26" name="Rounded Rectangle 25"/>
          <p:cNvSpPr/>
          <p:nvPr/>
        </p:nvSpPr>
        <p:spPr>
          <a:xfrm>
            <a:off x="7315200" y="1371600"/>
            <a:ext cx="2240280" cy="47548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1371600"/>
            <a:ext cx="2240280" cy="50800"/>
          </a:xfrm>
          <a:prstGeom prst="rect">
            <a:avLst/>
          </a:prstGeom>
          <a:solidFill>
            <a:srgbClr val="6B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1508760"/>
            <a:ext cx="2057400" cy="640080"/>
          </a:xfrm>
          <a:prstGeom prst="rect">
            <a:avLst/>
          </a:prstGeom>
          <a:noFill/>
        </p:spPr>
        <p:txBody>
          <a:bodyPr wrap="square">
            <a:spAutoFit/>
          </a:bodyPr>
          <a:lstStyle/>
          <a:p>
            <a:pPr algn="ctr">
              <a:defRPr sz="1300" b="1">
                <a:solidFill>
                  <a:srgbClr val="6B006B"/>
                </a:solidFill>
                <a:latin typeface="Segoe UI"/>
              </a:defRPr>
            </a:pPr>
            <a:r>
              <a:t>Station 4</a:t>
            </a:r>
            <a:br/>
            <a:r>
              <a:t>PREVENT</a:t>
            </a:r>
          </a:p>
        </p:txBody>
      </p:sp>
      <p:sp>
        <p:nvSpPr>
          <p:cNvPr id="29" name="TextBox 28"/>
          <p:cNvSpPr txBox="1"/>
          <p:nvPr/>
        </p:nvSpPr>
        <p:spPr>
          <a:xfrm>
            <a:off x="7406640" y="2148840"/>
            <a:ext cx="2057400" cy="274320"/>
          </a:xfrm>
          <a:prstGeom prst="rect">
            <a:avLst/>
          </a:prstGeom>
          <a:noFill/>
        </p:spPr>
        <p:txBody>
          <a:bodyPr wrap="square">
            <a:spAutoFit/>
          </a:bodyPr>
          <a:lstStyle/>
          <a:p>
            <a:pPr algn="ctr">
              <a:defRPr sz="1000" b="0">
                <a:solidFill>
                  <a:srgbClr val="9BA0A8"/>
                </a:solidFill>
                <a:latin typeface="Segoe UI"/>
              </a:defRPr>
            </a:pPr>
            <a:r>
              <a:t>15 min</a:t>
            </a:r>
          </a:p>
        </p:txBody>
      </p:sp>
      <p:sp>
        <p:nvSpPr>
          <p:cNvPr id="30" name="TextBox 29"/>
          <p:cNvSpPr txBox="1"/>
          <p:nvPr/>
        </p:nvSpPr>
        <p:spPr>
          <a:xfrm>
            <a:off x="7406640" y="2423160"/>
            <a:ext cx="2057400" cy="457200"/>
          </a:xfrm>
          <a:prstGeom prst="rect">
            <a:avLst/>
          </a:prstGeom>
          <a:noFill/>
        </p:spPr>
        <p:txBody>
          <a:bodyPr wrap="square">
            <a:spAutoFit/>
          </a:bodyPr>
          <a:lstStyle/>
          <a:p>
            <a:pPr algn="ctr">
              <a:defRPr sz="1100" b="1">
                <a:solidFill>
                  <a:srgbClr val="FFFFFF"/>
                </a:solidFill>
                <a:latin typeface="Segoe UI"/>
              </a:defRPr>
            </a:pPr>
            <a:r>
              <a:t>Policy</a:t>
            </a:r>
            <a:br/>
            <a:r>
              <a:t>Configuration</a:t>
            </a:r>
          </a:p>
        </p:txBody>
      </p:sp>
      <p:sp>
        <p:nvSpPr>
          <p:cNvPr id="31" name="TextBox 30"/>
          <p:cNvSpPr txBox="1"/>
          <p:nvPr/>
        </p:nvSpPr>
        <p:spPr>
          <a:xfrm>
            <a:off x="7406640" y="3017520"/>
            <a:ext cx="2057400" cy="2926080"/>
          </a:xfrm>
          <a:prstGeom prst="rect">
            <a:avLst/>
          </a:prstGeom>
          <a:noFill/>
        </p:spPr>
        <p:txBody>
          <a:bodyPr wrap="square">
            <a:spAutoFit/>
          </a:bodyPr>
          <a:lstStyle/>
          <a:p>
            <a:pPr algn="l">
              <a:spcAft>
                <a:spcPts val="400"/>
              </a:spcAft>
              <a:defRPr sz="900" b="0">
                <a:solidFill>
                  <a:srgbClr val="E8EBEF"/>
                </a:solidFill>
                <a:latin typeface="Segoe UI"/>
              </a:defRPr>
            </a:pPr>
            <a:r>
              <a:t>  •  Communication Compliance XPIA dictionary</a:t>
            </a:r>
          </a:p>
          <a:p>
            <a:pPr>
              <a:spcAft>
                <a:spcPts val="400"/>
              </a:spcAft>
              <a:defRPr sz="900">
                <a:solidFill>
                  <a:srgbClr val="E8EBEF"/>
                </a:solidFill>
                <a:latin typeface="Segoe UI"/>
              </a:defRPr>
            </a:pPr>
            <a:r>
              <a:t>  •  IRM policy for anomalous document sharing</a:t>
            </a:r>
          </a:p>
          <a:p>
            <a:pPr>
              <a:spcAft>
                <a:spcPts val="400"/>
              </a:spcAft>
              <a:defRPr sz="900">
                <a:solidFill>
                  <a:srgbClr val="E8EBEF"/>
                </a:solidFill>
                <a:latin typeface="Segoe UI"/>
              </a:defRPr>
            </a:pPr>
            <a:r>
              <a:t>  •  DLP policy for AI prompts</a:t>
            </a:r>
          </a:p>
          <a:p>
            <a:pPr>
              <a:spcAft>
                <a:spcPts val="400"/>
              </a:spcAft>
              <a:defRPr sz="900">
                <a:solidFill>
                  <a:srgbClr val="E8EBEF"/>
                </a:solidFill>
                <a:latin typeface="Segoe UI"/>
              </a:defRPr>
            </a:pPr>
            <a:r>
              <a:t>  •  Sentinel automation rule for campaigns</a:t>
            </a:r>
          </a:p>
        </p:txBody>
      </p:sp>
      <p:sp>
        <p:nvSpPr>
          <p:cNvPr id="32" name="Rounded Rectangle 31"/>
          <p:cNvSpPr/>
          <p:nvPr/>
        </p:nvSpPr>
        <p:spPr>
          <a:xfrm>
            <a:off x="9692640" y="1371600"/>
            <a:ext cx="2240280" cy="475488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92640" y="1371600"/>
            <a:ext cx="2240280" cy="50800"/>
          </a:xfrm>
          <a:prstGeom prst="rect">
            <a:avLst/>
          </a:prstGeom>
          <a:solidFill>
            <a:srgbClr val="9BA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80" y="1508760"/>
            <a:ext cx="2057400" cy="640080"/>
          </a:xfrm>
          <a:prstGeom prst="rect">
            <a:avLst/>
          </a:prstGeom>
          <a:noFill/>
        </p:spPr>
        <p:txBody>
          <a:bodyPr wrap="square">
            <a:spAutoFit/>
          </a:bodyPr>
          <a:lstStyle/>
          <a:p>
            <a:pPr algn="ctr">
              <a:defRPr sz="1300" b="1">
                <a:solidFill>
                  <a:srgbClr val="9BA0A8"/>
                </a:solidFill>
                <a:latin typeface="Segoe UI"/>
              </a:defRPr>
            </a:pPr>
            <a:r>
              <a:t>Station 5</a:t>
            </a:r>
            <a:br/>
            <a:r>
              <a:t>ROADMAP</a:t>
            </a:r>
          </a:p>
        </p:txBody>
      </p:sp>
      <p:sp>
        <p:nvSpPr>
          <p:cNvPr id="35" name="TextBox 34"/>
          <p:cNvSpPr txBox="1"/>
          <p:nvPr/>
        </p:nvSpPr>
        <p:spPr>
          <a:xfrm>
            <a:off x="9784080" y="2148840"/>
            <a:ext cx="2057400" cy="274320"/>
          </a:xfrm>
          <a:prstGeom prst="rect">
            <a:avLst/>
          </a:prstGeom>
          <a:noFill/>
        </p:spPr>
        <p:txBody>
          <a:bodyPr wrap="square">
            <a:spAutoFit/>
          </a:bodyPr>
          <a:lstStyle/>
          <a:p>
            <a:pPr algn="ctr">
              <a:defRPr sz="1000" b="0">
                <a:solidFill>
                  <a:srgbClr val="9BA0A8"/>
                </a:solidFill>
                <a:latin typeface="Segoe UI"/>
              </a:defRPr>
            </a:pPr>
            <a:r>
              <a:t>10 min</a:t>
            </a:r>
          </a:p>
        </p:txBody>
      </p:sp>
      <p:sp>
        <p:nvSpPr>
          <p:cNvPr id="36" name="TextBox 35"/>
          <p:cNvSpPr txBox="1"/>
          <p:nvPr/>
        </p:nvSpPr>
        <p:spPr>
          <a:xfrm>
            <a:off x="9784080" y="2423160"/>
            <a:ext cx="2057400" cy="457200"/>
          </a:xfrm>
          <a:prstGeom prst="rect">
            <a:avLst/>
          </a:prstGeom>
          <a:noFill/>
        </p:spPr>
        <p:txBody>
          <a:bodyPr wrap="square">
            <a:spAutoFit/>
          </a:bodyPr>
          <a:lstStyle/>
          <a:p>
            <a:pPr algn="ctr">
              <a:defRPr sz="1100" b="1">
                <a:solidFill>
                  <a:srgbClr val="FFFFFF"/>
                </a:solidFill>
                <a:latin typeface="Segoe UI"/>
              </a:defRPr>
            </a:pPr>
            <a:r>
              <a:t>What's</a:t>
            </a:r>
            <a:br/>
            <a:r>
              <a:t>Coming</a:t>
            </a:r>
          </a:p>
        </p:txBody>
      </p:sp>
      <p:sp>
        <p:nvSpPr>
          <p:cNvPr id="37" name="TextBox 36"/>
          <p:cNvSpPr txBox="1"/>
          <p:nvPr/>
        </p:nvSpPr>
        <p:spPr>
          <a:xfrm>
            <a:off x="9784080" y="3017520"/>
            <a:ext cx="2057400" cy="2926080"/>
          </a:xfrm>
          <a:prstGeom prst="rect">
            <a:avLst/>
          </a:prstGeom>
          <a:noFill/>
        </p:spPr>
        <p:txBody>
          <a:bodyPr wrap="square">
            <a:spAutoFit/>
          </a:bodyPr>
          <a:lstStyle/>
          <a:p>
            <a:pPr algn="l">
              <a:spcAft>
                <a:spcPts val="400"/>
              </a:spcAft>
              <a:defRPr sz="900" b="0">
                <a:solidFill>
                  <a:srgbClr val="E8EBEF"/>
                </a:solidFill>
                <a:latin typeface="Segoe UI"/>
              </a:defRPr>
            </a:pPr>
            <a:r>
              <a:t>  •  Unified DSPM with XPIA signals (H1 2026)</a:t>
            </a:r>
          </a:p>
          <a:p>
            <a:pPr>
              <a:spcAft>
                <a:spcPts val="400"/>
              </a:spcAft>
              <a:defRPr sz="900">
                <a:solidFill>
                  <a:srgbClr val="E8EBEF"/>
                </a:solidFill>
                <a:latin typeface="Segoe UI"/>
              </a:defRPr>
            </a:pPr>
            <a:r>
              <a:t>  •  IRM network detection (rolling out now)</a:t>
            </a:r>
          </a:p>
          <a:p>
            <a:pPr>
              <a:spcAft>
                <a:spcPts val="400"/>
              </a:spcAft>
              <a:defRPr sz="900">
                <a:solidFill>
                  <a:srgbClr val="E8EBEF"/>
                </a:solidFill>
                <a:latin typeface="Segoe UI"/>
              </a:defRPr>
            </a:pPr>
            <a:r>
              <a:t>  •  Enhanced Prompt Shield models</a:t>
            </a:r>
          </a:p>
          <a:p>
            <a:pPr>
              <a:spcAft>
                <a:spcPts val="400"/>
              </a:spcAft>
              <a:defRPr sz="900">
                <a:solidFill>
                  <a:srgbClr val="E8EBEF"/>
                </a:solidFill>
                <a:latin typeface="Segoe UI"/>
              </a:defRPr>
            </a:pPr>
            <a:r>
              <a:t>  •  Product feedback items submitted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Demo Station Outcomes</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What Each Station Demonstrates and Expected Results</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15</a:t>
            </a:r>
          </a:p>
        </p:txBody>
      </p:sp>
      <p:graphicFrame>
        <p:nvGraphicFramePr>
          <p:cNvPr id="8" name="Table 7"/>
          <p:cNvGraphicFramePr>
            <a:graphicFrameLocks noGrp="1"/>
          </p:cNvGraphicFramePr>
          <p:nvPr/>
        </p:nvGraphicFramePr>
        <p:xfrm>
          <a:off x="274320" y="1371600"/>
          <a:ext cx="11612880" cy="1920239"/>
        </p:xfrm>
        <a:graphic>
          <a:graphicData uri="http://schemas.openxmlformats.org/drawingml/2006/table">
            <a:tbl>
              <a:tblPr firstRow="1" bandRow="1">
                <a:tableStyleId>{5C22544A-7EE6-4342-B048-85BDC9FD1C3A}</a:tableStyleId>
              </a:tblPr>
              <a:tblGrid>
                <a:gridCol w="1371600"/>
                <a:gridCol w="3200400"/>
                <a:gridCol w="3200400"/>
                <a:gridCol w="3840480"/>
              </a:tblGrid>
              <a:tr h="320039">
                <a:tc>
                  <a:txBody>
                    <a:bodyPr/>
                    <a:lstStyle/>
                    <a:p>
                      <a:pPr algn="l">
                        <a:defRPr sz="1100" b="1">
                          <a:solidFill>
                            <a:srgbClr val="FFFFFF"/>
                          </a:solidFill>
                          <a:latin typeface="Segoe UI"/>
                        </a:defRPr>
                      </a:pPr>
                      <a:r>
                        <a:t>Station</a:t>
                      </a:r>
                    </a:p>
                  </a:txBody>
                  <a:tcPr anchor="ctr" marL="73152" marR="73152" marT="36576" marB="36576">
                    <a:solidFill>
                      <a:srgbClr val="005AA0"/>
                    </a:solidFill>
                  </a:tcPr>
                </a:tc>
                <a:tc>
                  <a:txBody>
                    <a:bodyPr/>
                    <a:lstStyle/>
                    <a:p>
                      <a:pPr algn="l">
                        <a:defRPr sz="1100" b="1">
                          <a:solidFill>
                            <a:srgbClr val="FFFFFF"/>
                          </a:solidFill>
                          <a:latin typeface="Segoe UI"/>
                        </a:defRPr>
                      </a:pPr>
                      <a:r>
                        <a:t>Key Demonstration</a:t>
                      </a:r>
                    </a:p>
                  </a:txBody>
                  <a:tcPr anchor="ctr" marL="73152" marR="73152" marT="36576" marB="36576">
                    <a:solidFill>
                      <a:srgbClr val="005AA0"/>
                    </a:solidFill>
                  </a:tcPr>
                </a:tc>
                <a:tc>
                  <a:txBody>
                    <a:bodyPr/>
                    <a:lstStyle/>
                    <a:p>
                      <a:pPr algn="l">
                        <a:defRPr sz="1100" b="1">
                          <a:solidFill>
                            <a:srgbClr val="FFFFFF"/>
                          </a:solidFill>
                          <a:latin typeface="Segoe UI"/>
                        </a:defRPr>
                      </a:pPr>
                      <a:r>
                        <a:t>Expected Outcome</a:t>
                      </a:r>
                    </a:p>
                  </a:txBody>
                  <a:tcPr anchor="ctr" marL="73152" marR="73152" marT="36576" marB="36576">
                    <a:solidFill>
                      <a:srgbClr val="005AA0"/>
                    </a:solidFill>
                  </a:tcPr>
                </a:tc>
                <a:tc>
                  <a:txBody>
                    <a:bodyPr/>
                    <a:lstStyle/>
                    <a:p>
                      <a:pPr algn="l">
                        <a:defRPr sz="1100" b="1">
                          <a:solidFill>
                            <a:srgbClr val="FFFFFF"/>
                          </a:solidFill>
                          <a:latin typeface="Segoe UI"/>
                        </a:defRPr>
                      </a:pPr>
                      <a:r>
                        <a:t>Success Criteria</a:t>
                      </a:r>
                    </a:p>
                  </a:txBody>
                  <a:tcPr anchor="ctr" marL="73152" marR="73152" marT="36576" marB="36576">
                    <a:solidFill>
                      <a:srgbClr val="005AA0"/>
                    </a:solidFill>
                  </a:tcPr>
                </a:tc>
              </a:tr>
              <a:tr h="320039">
                <a:tc>
                  <a:txBody>
                    <a:bodyPr/>
                    <a:lstStyle/>
                    <a:p>
                      <a:pPr>
                        <a:defRPr sz="1000">
                          <a:solidFill>
                            <a:srgbClr val="FFFFFF"/>
                          </a:solidFill>
                          <a:latin typeface="Segoe UI"/>
                        </a:defRPr>
                      </a:pPr>
                      <a:r>
                        <a:t>1. DETECT</a:t>
                      </a:r>
                    </a:p>
                  </a:txBody>
                  <a:tcPr anchor="ctr" marL="73152" marR="73152" marT="27432" marB="27432">
                    <a:solidFill>
                      <a:srgbClr val="0D2244"/>
                    </a:solidFill>
                  </a:tcPr>
                </a:tc>
                <a:tc>
                  <a:txBody>
                    <a:bodyPr/>
                    <a:lstStyle/>
                    <a:p>
                      <a:pPr>
                        <a:defRPr sz="1000">
                          <a:solidFill>
                            <a:srgbClr val="FFFFFF"/>
                          </a:solidFill>
                          <a:latin typeface="Segoe UI"/>
                        </a:defRPr>
                      </a:pPr>
                      <a:r>
                        <a:t>Live XPIA payload blocked by Prompt Shields</a:t>
                      </a:r>
                    </a:p>
                  </a:txBody>
                  <a:tcPr anchor="ctr" marL="73152" marR="73152" marT="27432" marB="27432">
                    <a:solidFill>
                      <a:srgbClr val="0D2244"/>
                    </a:solidFill>
                  </a:tcPr>
                </a:tc>
                <a:tc>
                  <a:txBody>
                    <a:bodyPr/>
                    <a:lstStyle/>
                    <a:p>
                      <a:pPr>
                        <a:defRPr sz="1000">
                          <a:solidFill>
                            <a:srgbClr val="FFFFFF"/>
                          </a:solidFill>
                          <a:latin typeface="Segoe UI"/>
                        </a:defRPr>
                      </a:pPr>
                      <a:r>
                        <a:t>Customer sees attack intercepted in real-time</a:t>
                      </a:r>
                    </a:p>
                  </a:txBody>
                  <a:tcPr anchor="ctr" marL="73152" marR="73152" marT="27432" marB="27432">
                    <a:solidFill>
                      <a:srgbClr val="0D2244"/>
                    </a:solidFill>
                  </a:tcPr>
                </a:tc>
                <a:tc>
                  <a:txBody>
                    <a:bodyPr/>
                    <a:lstStyle/>
                    <a:p>
                      <a:pPr>
                        <a:defRPr sz="1000">
                          <a:solidFill>
                            <a:srgbClr val="FFFFFF"/>
                          </a:solidFill>
                          <a:latin typeface="Segoe UI"/>
                        </a:defRPr>
                      </a:pPr>
                      <a:r>
                        <a:t>Agent refuses injected instruction; audit log entry created</a:t>
                      </a:r>
                    </a:p>
                  </a:txBody>
                  <a:tcPr anchor="ctr" marL="73152" marR="73152" marT="27432" marB="27432">
                    <a:solidFill>
                      <a:srgbClr val="0D2244"/>
                    </a:solidFill>
                  </a:tcPr>
                </a:tc>
              </a:tr>
              <a:tr h="320039">
                <a:tc>
                  <a:txBody>
                    <a:bodyPr/>
                    <a:lstStyle/>
                    <a:p>
                      <a:pPr>
                        <a:defRPr sz="1000">
                          <a:solidFill>
                            <a:srgbClr val="FFFFFF"/>
                          </a:solidFill>
                          <a:latin typeface="Segoe UI"/>
                        </a:defRPr>
                      </a:pPr>
                      <a:r>
                        <a:t>2. VALIDATE</a:t>
                      </a:r>
                    </a:p>
                  </a:txBody>
                  <a:tcPr anchor="ctr" marL="73152" marR="73152" marT="27432" marB="27432">
                    <a:solidFill>
                      <a:srgbClr val="123058"/>
                    </a:solidFill>
                  </a:tcPr>
                </a:tc>
                <a:tc>
                  <a:txBody>
                    <a:bodyPr/>
                    <a:lstStyle/>
                    <a:p>
                      <a:pPr>
                        <a:defRPr sz="1000">
                          <a:solidFill>
                            <a:srgbClr val="FFFFFF"/>
                          </a:solidFill>
                          <a:latin typeface="Segoe UI"/>
                        </a:defRPr>
                      </a:pPr>
                      <a:r>
                        <a:t>Content Safety API testing with multiple variants</a:t>
                      </a:r>
                    </a:p>
                  </a:txBody>
                  <a:tcPr anchor="ctr" marL="73152" marR="73152" marT="27432" marB="27432">
                    <a:solidFill>
                      <a:srgbClr val="123058"/>
                    </a:solidFill>
                  </a:tcPr>
                </a:tc>
                <a:tc>
                  <a:txBody>
                    <a:bodyPr/>
                    <a:lstStyle/>
                    <a:p>
                      <a:pPr>
                        <a:defRPr sz="1000">
                          <a:solidFill>
                            <a:srgbClr val="FFFFFF"/>
                          </a:solidFill>
                          <a:latin typeface="Segoe UI"/>
                        </a:defRPr>
                      </a:pPr>
                      <a:r>
                        <a:t>Customer runs their own attack tests</a:t>
                      </a:r>
                    </a:p>
                  </a:txBody>
                  <a:tcPr anchor="ctr" marL="73152" marR="73152" marT="27432" marB="27432">
                    <a:solidFill>
                      <a:srgbClr val="123058"/>
                    </a:solidFill>
                  </a:tcPr>
                </a:tc>
                <a:tc>
                  <a:txBody>
                    <a:bodyPr/>
                    <a:lstStyle/>
                    <a:p>
                      <a:pPr>
                        <a:defRPr sz="1000">
                          <a:solidFill>
                            <a:srgbClr val="FFFFFF"/>
                          </a:solidFill>
                          <a:latin typeface="Segoe UI"/>
                        </a:defRPr>
                      </a:pPr>
                      <a:r>
                        <a:t>Detection rates visible across attack types; red team framework understood</a:t>
                      </a:r>
                    </a:p>
                  </a:txBody>
                  <a:tcPr anchor="ctr" marL="73152" marR="73152" marT="27432" marB="27432">
                    <a:solidFill>
                      <a:srgbClr val="123058"/>
                    </a:solidFill>
                  </a:tcPr>
                </a:tc>
              </a:tr>
              <a:tr h="320039">
                <a:tc>
                  <a:txBody>
                    <a:bodyPr/>
                    <a:lstStyle/>
                    <a:p>
                      <a:pPr>
                        <a:defRPr sz="1000">
                          <a:solidFill>
                            <a:srgbClr val="FFFFFF"/>
                          </a:solidFill>
                          <a:latin typeface="Segoe UI"/>
                        </a:defRPr>
                      </a:pPr>
                      <a:r>
                        <a:t>3. RESPOND</a:t>
                      </a:r>
                    </a:p>
                  </a:txBody>
                  <a:tcPr anchor="ctr" marL="73152" marR="73152" marT="27432" marB="27432">
                    <a:solidFill>
                      <a:srgbClr val="0D2244"/>
                    </a:solidFill>
                  </a:tcPr>
                </a:tc>
                <a:tc>
                  <a:txBody>
                    <a:bodyPr/>
                    <a:lstStyle/>
                    <a:p>
                      <a:pPr>
                        <a:defRPr sz="1000">
                          <a:solidFill>
                            <a:srgbClr val="FFFFFF"/>
                          </a:solidFill>
                          <a:latin typeface="Segoe UI"/>
                        </a:defRPr>
                      </a:pPr>
                      <a:r>
                        <a:t>Custom KQL campaign hunting + attribution chain</a:t>
                      </a:r>
                    </a:p>
                  </a:txBody>
                  <a:tcPr anchor="ctr" marL="73152" marR="73152" marT="27432" marB="27432">
                    <a:solidFill>
                      <a:srgbClr val="0D2244"/>
                    </a:solidFill>
                  </a:tcPr>
                </a:tc>
                <a:tc>
                  <a:txBody>
                    <a:bodyPr/>
                    <a:lstStyle/>
                    <a:p>
                      <a:pPr>
                        <a:defRPr sz="1000">
                          <a:solidFill>
                            <a:srgbClr val="FFFFFF"/>
                          </a:solidFill>
                          <a:latin typeface="Segoe UI"/>
                        </a:defRPr>
                      </a:pPr>
                      <a:r>
                        <a:t>End-to-end: blocked prompt → email source → sender</a:t>
                      </a:r>
                    </a:p>
                  </a:txBody>
                  <a:tcPr anchor="ctr" marL="73152" marR="73152" marT="27432" marB="27432">
                    <a:solidFill>
                      <a:srgbClr val="0D2244"/>
                    </a:solidFill>
                  </a:tcPr>
                </a:tc>
                <a:tc>
                  <a:txBody>
                    <a:bodyPr/>
                    <a:lstStyle/>
                    <a:p>
                      <a:pPr>
                        <a:defRPr sz="1000">
                          <a:solidFill>
                            <a:srgbClr val="FFFFFF"/>
                          </a:solidFill>
                          <a:latin typeface="Segoe UI"/>
                        </a:defRPr>
                      </a:pPr>
                      <a:r>
                        <a:t>Campaign query identifies coordinated attacks; attribution chain demonstrated</a:t>
                      </a:r>
                    </a:p>
                  </a:txBody>
                  <a:tcPr anchor="ctr" marL="73152" marR="73152" marT="27432" marB="27432">
                    <a:solidFill>
                      <a:srgbClr val="0D2244"/>
                    </a:solidFill>
                  </a:tcPr>
                </a:tc>
              </a:tr>
              <a:tr h="320039">
                <a:tc>
                  <a:txBody>
                    <a:bodyPr/>
                    <a:lstStyle/>
                    <a:p>
                      <a:pPr>
                        <a:defRPr sz="1000">
                          <a:solidFill>
                            <a:srgbClr val="FFFFFF"/>
                          </a:solidFill>
                          <a:latin typeface="Segoe UI"/>
                        </a:defRPr>
                      </a:pPr>
                      <a:r>
                        <a:t>4. PREVENT</a:t>
                      </a:r>
                    </a:p>
                  </a:txBody>
                  <a:tcPr anchor="ctr" marL="73152" marR="73152" marT="27432" marB="27432">
                    <a:solidFill>
                      <a:srgbClr val="123058"/>
                    </a:solidFill>
                  </a:tcPr>
                </a:tc>
                <a:tc>
                  <a:txBody>
                    <a:bodyPr/>
                    <a:lstStyle/>
                    <a:p>
                      <a:pPr>
                        <a:defRPr sz="1000">
                          <a:solidFill>
                            <a:srgbClr val="FFFFFF"/>
                          </a:solidFill>
                          <a:latin typeface="Segoe UI"/>
                        </a:defRPr>
                      </a:pPr>
                      <a:r>
                        <a:t>Live policy deployment (Comm Compliance, IRM, DLP)</a:t>
                      </a:r>
                    </a:p>
                  </a:txBody>
                  <a:tcPr anchor="ctr" marL="73152" marR="73152" marT="27432" marB="27432">
                    <a:solidFill>
                      <a:srgbClr val="123058"/>
                    </a:solidFill>
                  </a:tcPr>
                </a:tc>
                <a:tc>
                  <a:txBody>
                    <a:bodyPr/>
                    <a:lstStyle/>
                    <a:p>
                      <a:pPr>
                        <a:defRPr sz="1000">
                          <a:solidFill>
                            <a:srgbClr val="FFFFFF"/>
                          </a:solidFill>
                          <a:latin typeface="Segoe UI"/>
                        </a:defRPr>
                      </a:pPr>
                      <a:r>
                        <a:t>Active protection deployed before session ends</a:t>
                      </a:r>
                    </a:p>
                  </a:txBody>
                  <a:tcPr anchor="ctr" marL="73152" marR="73152" marT="27432" marB="27432">
                    <a:solidFill>
                      <a:srgbClr val="123058"/>
                    </a:solidFill>
                  </a:tcPr>
                </a:tc>
                <a:tc>
                  <a:txBody>
                    <a:bodyPr/>
                    <a:lstStyle/>
                    <a:p>
                      <a:pPr>
                        <a:defRPr sz="1000">
                          <a:solidFill>
                            <a:srgbClr val="FFFFFF"/>
                          </a:solidFill>
                          <a:latin typeface="Segoe UI"/>
                        </a:defRPr>
                      </a:pPr>
                      <a:r>
                        <a:t>Policies go live; monitoring active; customer walks out with protection</a:t>
                      </a:r>
                    </a:p>
                  </a:txBody>
                  <a:tcPr anchor="ctr" marL="73152" marR="73152" marT="27432" marB="27432">
                    <a:solidFill>
                      <a:srgbClr val="123058"/>
                    </a:solidFill>
                  </a:tcPr>
                </a:tc>
              </a:tr>
              <a:tr h="320044">
                <a:tc>
                  <a:txBody>
                    <a:bodyPr/>
                    <a:lstStyle/>
                    <a:p>
                      <a:pPr>
                        <a:defRPr sz="1000">
                          <a:solidFill>
                            <a:srgbClr val="FFFFFF"/>
                          </a:solidFill>
                          <a:latin typeface="Segoe UI"/>
                        </a:defRPr>
                      </a:pPr>
                      <a:r>
                        <a:t>5. ROADMAP</a:t>
                      </a:r>
                    </a:p>
                  </a:txBody>
                  <a:tcPr anchor="ctr" marL="73152" marR="73152" marT="27432" marB="27432">
                    <a:solidFill>
                      <a:srgbClr val="0D2244"/>
                    </a:solidFill>
                  </a:tcPr>
                </a:tc>
                <a:tc>
                  <a:txBody>
                    <a:bodyPr/>
                    <a:lstStyle/>
                    <a:p>
                      <a:pPr>
                        <a:defRPr sz="1000">
                          <a:solidFill>
                            <a:srgbClr val="FFFFFF"/>
                          </a:solidFill>
                          <a:latin typeface="Segoe UI"/>
                        </a:defRPr>
                      </a:pPr>
                      <a:r>
                        <a:t>Product investments + feedback items filed</a:t>
                      </a:r>
                    </a:p>
                  </a:txBody>
                  <a:tcPr anchor="ctr" marL="73152" marR="73152" marT="27432" marB="27432">
                    <a:solidFill>
                      <a:srgbClr val="0D2244"/>
                    </a:solidFill>
                  </a:tcPr>
                </a:tc>
                <a:tc>
                  <a:txBody>
                    <a:bodyPr/>
                    <a:lstStyle/>
                    <a:p>
                      <a:pPr>
                        <a:defRPr sz="1000">
                          <a:solidFill>
                            <a:srgbClr val="FFFFFF"/>
                          </a:solidFill>
                          <a:latin typeface="Segoe UI"/>
                        </a:defRPr>
                      </a:pPr>
                      <a:r>
                        <a:t>Customer confidence in Microsoft's commitment</a:t>
                      </a:r>
                    </a:p>
                  </a:txBody>
                  <a:tcPr anchor="ctr" marL="73152" marR="73152" marT="27432" marB="27432">
                    <a:solidFill>
                      <a:srgbClr val="0D2244"/>
                    </a:solidFill>
                  </a:tcPr>
                </a:tc>
                <a:tc>
                  <a:txBody>
                    <a:bodyPr/>
                    <a:lstStyle/>
                    <a:p>
                      <a:pPr>
                        <a:defRPr sz="1000">
                          <a:solidFill>
                            <a:srgbClr val="FFFFFF"/>
                          </a:solidFill>
                          <a:latin typeface="Segoe UI"/>
                        </a:defRPr>
                      </a:pPr>
                      <a:r>
                        <a:t>6 feedback items formally filed; roadmap milestones shared</a:t>
                      </a:r>
                    </a:p>
                  </a:txBody>
                  <a:tcPr anchor="ctr" marL="73152" marR="73152" marT="27432" marB="27432">
                    <a:solidFill>
                      <a:srgbClr val="0D2244"/>
                    </a:solidFill>
                  </a:tcPr>
                </a:tc>
              </a:tr>
            </a:tbl>
          </a:graphicData>
        </a:graphic>
      </p:graphicFrame>
      <p:sp>
        <p:nvSpPr>
          <p:cNvPr id="9" name="Rounded Rectangle 8"/>
          <p:cNvSpPr/>
          <p:nvPr/>
        </p:nvSpPr>
        <p:spPr>
          <a:xfrm>
            <a:off x="365760" y="4206240"/>
            <a:ext cx="11430000" cy="201168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4206240"/>
            <a:ext cx="11430000"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343400"/>
            <a:ext cx="10972800" cy="320040"/>
          </a:xfrm>
          <a:prstGeom prst="rect">
            <a:avLst/>
          </a:prstGeom>
          <a:noFill/>
        </p:spPr>
        <p:txBody>
          <a:bodyPr wrap="square">
            <a:spAutoFit/>
          </a:bodyPr>
          <a:lstStyle/>
          <a:p>
            <a:pPr algn="l">
              <a:defRPr sz="1400" b="1">
                <a:solidFill>
                  <a:srgbClr val="0078D4"/>
                </a:solidFill>
                <a:latin typeface="Segoe UI"/>
              </a:defRPr>
            </a:pPr>
            <a:r>
              <a:t>Demo Prerequisites</a:t>
            </a:r>
          </a:p>
        </p:txBody>
      </p:sp>
      <p:sp>
        <p:nvSpPr>
          <p:cNvPr id="12" name="TextBox 11"/>
          <p:cNvSpPr txBox="1"/>
          <p:nvPr/>
        </p:nvSpPr>
        <p:spPr>
          <a:xfrm>
            <a:off x="548640" y="4709160"/>
            <a:ext cx="5029200" cy="1371600"/>
          </a:xfrm>
          <a:prstGeom prst="rect">
            <a:avLst/>
          </a:prstGeom>
          <a:noFill/>
        </p:spPr>
        <p:txBody>
          <a:bodyPr wrap="square">
            <a:spAutoFit/>
          </a:bodyPr>
          <a:lstStyle/>
          <a:p>
            <a:pPr algn="l">
              <a:spcAft>
                <a:spcPts val="600"/>
              </a:spcAft>
              <a:defRPr sz="1100" b="0">
                <a:solidFill>
                  <a:srgbClr val="E8EBEF"/>
                </a:solidFill>
                <a:latin typeface="Segoe UI"/>
              </a:defRPr>
            </a:pPr>
            <a:r>
              <a:t>  •  Microsoft 365 E5 or Agent 365 license</a:t>
            </a:r>
          </a:p>
          <a:p>
            <a:pPr>
              <a:spcAft>
                <a:spcPts val="600"/>
              </a:spcAft>
              <a:defRPr sz="1100">
                <a:solidFill>
                  <a:srgbClr val="E8EBEF"/>
                </a:solidFill>
                <a:latin typeface="Segoe UI"/>
              </a:defRPr>
            </a:pPr>
            <a:r>
              <a:t>  •  Defender for Office 365 Plan 2</a:t>
            </a:r>
          </a:p>
          <a:p>
            <a:pPr>
              <a:spcAft>
                <a:spcPts val="600"/>
              </a:spcAft>
              <a:defRPr sz="1100">
                <a:solidFill>
                  <a:srgbClr val="E8EBEF"/>
                </a:solidFill>
                <a:latin typeface="Segoe UI"/>
              </a:defRPr>
            </a:pPr>
            <a:r>
              <a:t>  •  Purview DSPM for AI enabled</a:t>
            </a:r>
          </a:p>
          <a:p>
            <a:pPr>
              <a:spcAft>
                <a:spcPts val="600"/>
              </a:spcAft>
              <a:defRPr sz="1100">
                <a:solidFill>
                  <a:srgbClr val="E8EBEF"/>
                </a:solidFill>
                <a:latin typeface="Segoe UI"/>
              </a:defRPr>
            </a:pPr>
            <a:r>
              <a:t>  •  Azure AI Content Safety resource provisioned</a:t>
            </a:r>
          </a:p>
        </p:txBody>
      </p:sp>
      <p:sp>
        <p:nvSpPr>
          <p:cNvPr id="13" name="TextBox 12"/>
          <p:cNvSpPr txBox="1"/>
          <p:nvPr/>
        </p:nvSpPr>
        <p:spPr>
          <a:xfrm>
            <a:off x="5943600" y="4709160"/>
            <a:ext cx="5486400" cy="1371600"/>
          </a:xfrm>
          <a:prstGeom prst="rect">
            <a:avLst/>
          </a:prstGeom>
          <a:noFill/>
        </p:spPr>
        <p:txBody>
          <a:bodyPr wrap="square">
            <a:spAutoFit/>
          </a:bodyPr>
          <a:lstStyle/>
          <a:p>
            <a:pPr algn="l">
              <a:spcAft>
                <a:spcPts val="600"/>
              </a:spcAft>
              <a:defRPr sz="1100" b="0">
                <a:solidFill>
                  <a:srgbClr val="E8EBEF"/>
                </a:solidFill>
                <a:latin typeface="Segoe UI"/>
              </a:defRPr>
            </a:pPr>
            <a:r>
              <a:t>  •  Exchange mail flow rules configured</a:t>
            </a:r>
          </a:p>
          <a:p>
            <a:pPr>
              <a:spcAft>
                <a:spcPts val="600"/>
              </a:spcAft>
              <a:defRPr sz="1100">
                <a:solidFill>
                  <a:srgbClr val="E8EBEF"/>
                </a:solidFill>
                <a:latin typeface="Segoe UI"/>
              </a:defRPr>
            </a:pPr>
            <a:r>
              <a:t>  •  Custom XPIA Sensitive Information Type created</a:t>
            </a:r>
          </a:p>
          <a:p>
            <a:pPr>
              <a:spcAft>
                <a:spcPts val="600"/>
              </a:spcAft>
              <a:defRPr sz="1100">
                <a:solidFill>
                  <a:srgbClr val="E8EBEF"/>
                </a:solidFill>
                <a:latin typeface="Segoe UI"/>
              </a:defRPr>
            </a:pPr>
            <a:r>
              <a:t>  •  Test user accounts for attacker/victim simulation</a:t>
            </a:r>
          </a:p>
          <a:p>
            <a:pPr>
              <a:spcAft>
                <a:spcPts val="600"/>
              </a:spcAft>
              <a:defRPr sz="1100">
                <a:solidFill>
                  <a:srgbClr val="E8EBEF"/>
                </a:solidFill>
                <a:latin typeface="Segoe UI"/>
              </a:defRPr>
            </a:pPr>
            <a:r>
              <a:t>  •  Pre-built KQL queries validated in test tenant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Recommended Next Steps</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Immediate Actions, Near-Term Enablement, Product Feedback</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16</a:t>
            </a:r>
          </a:p>
        </p:txBody>
      </p:sp>
      <p:sp>
        <p:nvSpPr>
          <p:cNvPr id="8" name="Rounded Rectangle 7"/>
          <p:cNvSpPr/>
          <p:nvPr/>
        </p:nvSpPr>
        <p:spPr>
          <a:xfrm>
            <a:off x="274320" y="1371600"/>
            <a:ext cx="3657600" cy="40233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371600"/>
            <a:ext cx="365760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508760"/>
            <a:ext cx="3383280" cy="548640"/>
          </a:xfrm>
          <a:prstGeom prst="rect">
            <a:avLst/>
          </a:prstGeom>
          <a:noFill/>
        </p:spPr>
        <p:txBody>
          <a:bodyPr wrap="square">
            <a:spAutoFit/>
          </a:bodyPr>
          <a:lstStyle/>
          <a:p>
            <a:pPr algn="ctr">
              <a:defRPr sz="1400" b="1">
                <a:solidFill>
                  <a:srgbClr val="0078D4"/>
                </a:solidFill>
                <a:latin typeface="Segoe UI"/>
              </a:defRPr>
            </a:pPr>
            <a:r>
              <a:t>Immediate</a:t>
            </a:r>
            <a:br/>
            <a:r>
              <a:t>(This Week)</a:t>
            </a:r>
          </a:p>
        </p:txBody>
      </p:sp>
      <p:sp>
        <p:nvSpPr>
          <p:cNvPr id="11" name="TextBox 10"/>
          <p:cNvSpPr txBox="1"/>
          <p:nvPr/>
        </p:nvSpPr>
        <p:spPr>
          <a:xfrm>
            <a:off x="411480" y="2148840"/>
            <a:ext cx="3383280" cy="3108960"/>
          </a:xfrm>
          <a:prstGeom prst="rect">
            <a:avLst/>
          </a:prstGeom>
          <a:noFill/>
        </p:spPr>
        <p:txBody>
          <a:bodyPr wrap="square">
            <a:spAutoFit/>
          </a:bodyPr>
          <a:lstStyle/>
          <a:p>
            <a:pPr algn="l">
              <a:spcAft>
                <a:spcPts val="500"/>
              </a:spcAft>
              <a:defRPr sz="1100" b="0">
                <a:solidFill>
                  <a:srgbClr val="E8EBEF"/>
                </a:solidFill>
                <a:latin typeface="Segoe UI"/>
              </a:defRPr>
            </a:pPr>
            <a:r>
              <a:t>  •  Schedule 90-min demo session</a:t>
            </a:r>
          </a:p>
          <a:p>
            <a:pPr>
              <a:spcAft>
                <a:spcPts val="500"/>
              </a:spcAft>
              <a:defRPr sz="1100">
                <a:solidFill>
                  <a:srgbClr val="E8EBEF"/>
                </a:solidFill>
                <a:latin typeface="Segoe UI"/>
              </a:defRPr>
            </a:pPr>
            <a:r>
              <a:t>  •  Prepare XPIA test payloads for demo</a:t>
            </a:r>
          </a:p>
          <a:p>
            <a:pPr>
              <a:spcAft>
                <a:spcPts val="500"/>
              </a:spcAft>
              <a:defRPr sz="1100">
                <a:solidFill>
                  <a:srgbClr val="E8EBEF"/>
                </a:solidFill>
                <a:latin typeface="Segoe UI"/>
              </a:defRPr>
            </a:pPr>
            <a:r>
              <a:t>  •  Pre-build Sentinel KQL queries</a:t>
            </a:r>
          </a:p>
          <a:p>
            <a:pPr>
              <a:spcAft>
                <a:spcPts val="500"/>
              </a:spcAft>
              <a:defRPr sz="1100">
                <a:solidFill>
                  <a:srgbClr val="E8EBEF"/>
                </a:solidFill>
                <a:latin typeface="Segoe UI"/>
              </a:defRPr>
            </a:pPr>
            <a:r>
              <a:t>  •  Pre-configure Comm Compliance policy</a:t>
            </a:r>
          </a:p>
          <a:p>
            <a:pPr>
              <a:spcAft>
                <a:spcPts val="500"/>
              </a:spcAft>
              <a:defRPr sz="1100">
                <a:solidFill>
                  <a:srgbClr val="E8EBEF"/>
                </a:solidFill>
                <a:latin typeface="Segoe UI"/>
              </a:defRPr>
            </a:pPr>
            <a:r>
              <a:t>  •  Share discussion framework document</a:t>
            </a:r>
          </a:p>
        </p:txBody>
      </p:sp>
      <p:sp>
        <p:nvSpPr>
          <p:cNvPr id="12" name="Rounded Rectangle 11"/>
          <p:cNvSpPr/>
          <p:nvPr/>
        </p:nvSpPr>
        <p:spPr>
          <a:xfrm>
            <a:off x="4206240" y="1371600"/>
            <a:ext cx="3657600" cy="40233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371600"/>
            <a:ext cx="3657600" cy="508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508760"/>
            <a:ext cx="3383280" cy="548640"/>
          </a:xfrm>
          <a:prstGeom prst="rect">
            <a:avLst/>
          </a:prstGeom>
          <a:noFill/>
        </p:spPr>
        <p:txBody>
          <a:bodyPr wrap="square">
            <a:spAutoFit/>
          </a:bodyPr>
          <a:lstStyle/>
          <a:p>
            <a:pPr algn="ctr">
              <a:defRPr sz="1400" b="1">
                <a:solidFill>
                  <a:srgbClr val="007A33"/>
                </a:solidFill>
                <a:latin typeface="Segoe UI"/>
              </a:defRPr>
            </a:pPr>
            <a:r>
              <a:t>Customer Should</a:t>
            </a:r>
            <a:br/>
            <a:r>
              <a:t>Enable Now</a:t>
            </a:r>
          </a:p>
        </p:txBody>
      </p:sp>
      <p:sp>
        <p:nvSpPr>
          <p:cNvPr id="15" name="TextBox 14"/>
          <p:cNvSpPr txBox="1"/>
          <p:nvPr/>
        </p:nvSpPr>
        <p:spPr>
          <a:xfrm>
            <a:off x="4343400" y="2148840"/>
            <a:ext cx="3383280" cy="3108960"/>
          </a:xfrm>
          <a:prstGeom prst="rect">
            <a:avLst/>
          </a:prstGeom>
          <a:noFill/>
        </p:spPr>
        <p:txBody>
          <a:bodyPr wrap="square">
            <a:spAutoFit/>
          </a:bodyPr>
          <a:lstStyle/>
          <a:p>
            <a:pPr algn="l">
              <a:spcAft>
                <a:spcPts val="500"/>
              </a:spcAft>
              <a:defRPr sz="1100" b="0">
                <a:solidFill>
                  <a:srgbClr val="E8EBEF"/>
                </a:solidFill>
                <a:latin typeface="Segoe UI"/>
              </a:defRPr>
            </a:pPr>
            <a:r>
              <a:t>  •  Enable Copilot/Agent audit logging</a:t>
            </a:r>
          </a:p>
          <a:p>
            <a:pPr>
              <a:spcAft>
                <a:spcPts val="500"/>
              </a:spcAft>
              <a:defRPr sz="1100">
                <a:solidFill>
                  <a:srgbClr val="E8EBEF"/>
                </a:solidFill>
                <a:latin typeface="Segoe UI"/>
              </a:defRPr>
            </a:pPr>
            <a:r>
              <a:t>  •  Activate Purview DSPM for AI</a:t>
            </a:r>
          </a:p>
          <a:p>
            <a:pPr>
              <a:spcAft>
                <a:spcPts val="500"/>
              </a:spcAft>
              <a:defRPr sz="1100">
                <a:solidFill>
                  <a:srgbClr val="E8EBEF"/>
                </a:solidFill>
                <a:latin typeface="Segoe UI"/>
              </a:defRPr>
            </a:pPr>
            <a:r>
              <a:t>  •  Configure Comm Compliance with XPIA keywords</a:t>
            </a:r>
          </a:p>
          <a:p>
            <a:pPr>
              <a:spcAft>
                <a:spcPts val="500"/>
              </a:spcAft>
              <a:defRPr sz="1100">
                <a:solidFill>
                  <a:srgbClr val="E8EBEF"/>
                </a:solidFill>
                <a:latin typeface="Segoe UI"/>
              </a:defRPr>
            </a:pPr>
            <a:r>
              <a:t>  •  Enable IRM with data theft/leaks template</a:t>
            </a:r>
          </a:p>
          <a:p>
            <a:pPr>
              <a:spcAft>
                <a:spcPts val="500"/>
              </a:spcAft>
              <a:defRPr sz="1100">
                <a:solidFill>
                  <a:srgbClr val="E8EBEF"/>
                </a:solidFill>
                <a:latin typeface="Segoe UI"/>
              </a:defRPr>
            </a:pPr>
            <a:r>
              <a:t>  •  Deploy Sentinel with email connector</a:t>
            </a:r>
          </a:p>
          <a:p>
            <a:pPr>
              <a:spcAft>
                <a:spcPts val="500"/>
              </a:spcAft>
              <a:defRPr sz="1100">
                <a:solidFill>
                  <a:srgbClr val="E8EBEF"/>
                </a:solidFill>
                <a:latin typeface="Segoe UI"/>
              </a:defRPr>
            </a:pPr>
            <a:r>
              <a:t>  •  Ensure Defender O365 P2 Advanced Hunting</a:t>
            </a:r>
          </a:p>
        </p:txBody>
      </p:sp>
      <p:sp>
        <p:nvSpPr>
          <p:cNvPr id="16" name="Rounded Rectangle 15"/>
          <p:cNvSpPr/>
          <p:nvPr/>
        </p:nvSpPr>
        <p:spPr>
          <a:xfrm>
            <a:off x="8138160" y="1371600"/>
            <a:ext cx="3657600" cy="4023360"/>
          </a:xfrm>
          <a:prstGeom prst="round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371600"/>
            <a:ext cx="3657600" cy="50800"/>
          </a:xfrm>
          <a:prstGeom prst="rect">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08760"/>
            <a:ext cx="3383280" cy="548640"/>
          </a:xfrm>
          <a:prstGeom prst="rect">
            <a:avLst/>
          </a:prstGeom>
          <a:noFill/>
        </p:spPr>
        <p:txBody>
          <a:bodyPr wrap="square">
            <a:spAutoFit/>
          </a:bodyPr>
          <a:lstStyle/>
          <a:p>
            <a:pPr algn="ctr">
              <a:defRPr sz="1400" b="1">
                <a:solidFill>
                  <a:srgbClr val="E06C00"/>
                </a:solidFill>
                <a:latin typeface="Segoe UI"/>
              </a:defRPr>
            </a:pPr>
            <a:r>
              <a:t>Product Feedback</a:t>
            </a:r>
            <a:br/>
            <a:r>
              <a:t>Engagement</a:t>
            </a:r>
          </a:p>
        </p:txBody>
      </p:sp>
      <p:sp>
        <p:nvSpPr>
          <p:cNvPr id="19" name="TextBox 18"/>
          <p:cNvSpPr txBox="1"/>
          <p:nvPr/>
        </p:nvSpPr>
        <p:spPr>
          <a:xfrm>
            <a:off x="8275320" y="2148840"/>
            <a:ext cx="3383280" cy="3108960"/>
          </a:xfrm>
          <a:prstGeom prst="rect">
            <a:avLst/>
          </a:prstGeom>
          <a:noFill/>
        </p:spPr>
        <p:txBody>
          <a:bodyPr wrap="square">
            <a:spAutoFit/>
          </a:bodyPr>
          <a:lstStyle/>
          <a:p>
            <a:pPr algn="l">
              <a:spcAft>
                <a:spcPts val="500"/>
              </a:spcAft>
              <a:defRPr sz="1100" b="0">
                <a:solidFill>
                  <a:srgbClr val="E8EBEF"/>
                </a:solidFill>
                <a:latin typeface="Segoe UI"/>
              </a:defRPr>
            </a:pPr>
            <a:r>
              <a:t>  •  File: XPIA detection in Defender for O365</a:t>
            </a:r>
          </a:p>
          <a:p>
            <a:pPr>
              <a:spcAft>
                <a:spcPts val="500"/>
              </a:spcAft>
              <a:defRPr sz="1100">
                <a:solidFill>
                  <a:srgbClr val="E8EBEF"/>
                </a:solidFill>
                <a:latin typeface="Segoe UI"/>
              </a:defRPr>
            </a:pPr>
            <a:r>
              <a:t>  •  File: Prompt Shield blocks as XDR incidents</a:t>
            </a:r>
          </a:p>
          <a:p>
            <a:pPr>
              <a:spcAft>
                <a:spcPts val="500"/>
              </a:spcAft>
              <a:defRPr sz="1100">
                <a:solidFill>
                  <a:srgbClr val="E8EBEF"/>
                </a:solidFill>
                <a:latin typeface="Segoe UI"/>
              </a:defRPr>
            </a:pPr>
            <a:r>
              <a:t>  •  File: XPIA signals in DSPM dashboard</a:t>
            </a:r>
          </a:p>
          <a:p>
            <a:pPr>
              <a:spcAft>
                <a:spcPts val="500"/>
              </a:spcAft>
              <a:defRPr sz="1100">
                <a:solidFill>
                  <a:srgbClr val="E8EBEF"/>
                </a:solidFill>
                <a:latin typeface="Segoe UI"/>
              </a:defRPr>
            </a:pPr>
            <a:r>
              <a:t>  •  Request early access to unified DSPM preview</a:t>
            </a:r>
          </a:p>
          <a:p>
            <a:pPr>
              <a:spcAft>
                <a:spcPts val="500"/>
              </a:spcAft>
              <a:defRPr sz="1100">
                <a:solidFill>
                  <a:srgbClr val="E8EBEF"/>
                </a:solidFill>
                <a:latin typeface="Segoe UI"/>
              </a:defRPr>
            </a:pPr>
            <a:r>
              <a:t>  •  Engage MSTIC for XPIA hunting guidance</a:t>
            </a:r>
          </a:p>
          <a:p>
            <a:pPr>
              <a:spcAft>
                <a:spcPts val="500"/>
              </a:spcAft>
              <a:defRPr sz="1100">
                <a:solidFill>
                  <a:srgbClr val="E8EBEF"/>
                </a:solidFill>
                <a:latin typeface="Segoe UI"/>
              </a:defRPr>
            </a:pPr>
            <a:r>
              <a:t>  •  Explore Content Safety API for email pre-scan</a:t>
            </a:r>
          </a:p>
        </p:txBody>
      </p:sp>
      <p:sp>
        <p:nvSpPr>
          <p:cNvPr id="20" name="Rounded Rectangle 19"/>
          <p:cNvSpPr/>
          <p:nvPr/>
        </p:nvSpPr>
        <p:spPr>
          <a:xfrm>
            <a:off x="274320" y="5577840"/>
            <a:ext cx="11612880" cy="73152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7200" y="5669280"/>
            <a:ext cx="182880" cy="18288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23560"/>
            <a:ext cx="1828800" cy="228600"/>
          </a:xfrm>
          <a:prstGeom prst="rect">
            <a:avLst/>
          </a:prstGeom>
          <a:noFill/>
        </p:spPr>
        <p:txBody>
          <a:bodyPr wrap="square">
            <a:spAutoFit/>
          </a:bodyPr>
          <a:lstStyle/>
          <a:p>
            <a:pPr algn="l">
              <a:defRPr sz="900" b="1">
                <a:solidFill>
                  <a:srgbClr val="0078D4"/>
                </a:solidFill>
                <a:latin typeface="Segoe UI"/>
              </a:defRPr>
            </a:pPr>
            <a:r>
              <a:t>Week 1-2</a:t>
            </a:r>
          </a:p>
        </p:txBody>
      </p:sp>
      <p:sp>
        <p:nvSpPr>
          <p:cNvPr id="23" name="TextBox 22"/>
          <p:cNvSpPr txBox="1"/>
          <p:nvPr/>
        </p:nvSpPr>
        <p:spPr>
          <a:xfrm>
            <a:off x="731520" y="5852160"/>
            <a:ext cx="1828800" cy="228600"/>
          </a:xfrm>
          <a:prstGeom prst="rect">
            <a:avLst/>
          </a:prstGeom>
          <a:noFill/>
        </p:spPr>
        <p:txBody>
          <a:bodyPr wrap="square">
            <a:spAutoFit/>
          </a:bodyPr>
          <a:lstStyle/>
          <a:p>
            <a:pPr algn="l">
              <a:defRPr sz="900" b="0">
                <a:solidFill>
                  <a:srgbClr val="E8EBEF"/>
                </a:solidFill>
                <a:latin typeface="Segoe UI"/>
              </a:defRPr>
            </a:pPr>
            <a:r>
              <a:t>Demo + Policy Activation</a:t>
            </a:r>
          </a:p>
        </p:txBody>
      </p:sp>
      <p:sp>
        <p:nvSpPr>
          <p:cNvPr id="24" name="Oval 23"/>
          <p:cNvSpPr/>
          <p:nvPr/>
        </p:nvSpPr>
        <p:spPr>
          <a:xfrm>
            <a:off x="2743200" y="5669280"/>
            <a:ext cx="182880" cy="182880"/>
          </a:xfrm>
          <a:prstGeom prst="ellipse">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5623560"/>
            <a:ext cx="1828800" cy="228600"/>
          </a:xfrm>
          <a:prstGeom prst="rect">
            <a:avLst/>
          </a:prstGeom>
          <a:noFill/>
        </p:spPr>
        <p:txBody>
          <a:bodyPr wrap="square">
            <a:spAutoFit/>
          </a:bodyPr>
          <a:lstStyle/>
          <a:p>
            <a:pPr algn="l">
              <a:defRPr sz="900" b="1">
                <a:solidFill>
                  <a:srgbClr val="007A33"/>
                </a:solidFill>
                <a:latin typeface="Segoe UI"/>
              </a:defRPr>
            </a:pPr>
            <a:r>
              <a:t>Week 2-3</a:t>
            </a:r>
          </a:p>
        </p:txBody>
      </p:sp>
      <p:sp>
        <p:nvSpPr>
          <p:cNvPr id="26" name="TextBox 25"/>
          <p:cNvSpPr txBox="1"/>
          <p:nvPr/>
        </p:nvSpPr>
        <p:spPr>
          <a:xfrm>
            <a:off x="3017520" y="5852160"/>
            <a:ext cx="1828800" cy="228600"/>
          </a:xfrm>
          <a:prstGeom prst="rect">
            <a:avLst/>
          </a:prstGeom>
          <a:noFill/>
        </p:spPr>
        <p:txBody>
          <a:bodyPr wrap="square">
            <a:spAutoFit/>
          </a:bodyPr>
          <a:lstStyle/>
          <a:p>
            <a:pPr algn="l">
              <a:defRPr sz="900" b="0">
                <a:solidFill>
                  <a:srgbClr val="E8EBEF"/>
                </a:solidFill>
                <a:latin typeface="Segoe UI"/>
              </a:defRPr>
            </a:pPr>
            <a:r>
              <a:t>Custom KQL Deployment</a:t>
            </a:r>
          </a:p>
        </p:txBody>
      </p:sp>
      <p:sp>
        <p:nvSpPr>
          <p:cNvPr id="27" name="Oval 26"/>
          <p:cNvSpPr/>
          <p:nvPr/>
        </p:nvSpPr>
        <p:spPr>
          <a:xfrm>
            <a:off x="5029200" y="5669280"/>
            <a:ext cx="182880" cy="182880"/>
          </a:xfrm>
          <a:prstGeom prst="ellipse">
            <a:avLst/>
          </a:prstGeom>
          <a:solidFill>
            <a:srgbClr val="E0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5623560"/>
            <a:ext cx="1828800" cy="228600"/>
          </a:xfrm>
          <a:prstGeom prst="rect">
            <a:avLst/>
          </a:prstGeom>
          <a:noFill/>
        </p:spPr>
        <p:txBody>
          <a:bodyPr wrap="square">
            <a:spAutoFit/>
          </a:bodyPr>
          <a:lstStyle/>
          <a:p>
            <a:pPr algn="l">
              <a:defRPr sz="900" b="1">
                <a:solidFill>
                  <a:srgbClr val="E06C00"/>
                </a:solidFill>
                <a:latin typeface="Segoe UI"/>
              </a:defRPr>
            </a:pPr>
            <a:r>
              <a:t>Week 3</a:t>
            </a:r>
          </a:p>
        </p:txBody>
      </p:sp>
      <p:sp>
        <p:nvSpPr>
          <p:cNvPr id="29" name="TextBox 28"/>
          <p:cNvSpPr txBox="1"/>
          <p:nvPr/>
        </p:nvSpPr>
        <p:spPr>
          <a:xfrm>
            <a:off x="5303520" y="5852160"/>
            <a:ext cx="1828800" cy="228600"/>
          </a:xfrm>
          <a:prstGeom prst="rect">
            <a:avLst/>
          </a:prstGeom>
          <a:noFill/>
        </p:spPr>
        <p:txBody>
          <a:bodyPr wrap="square">
            <a:spAutoFit/>
          </a:bodyPr>
          <a:lstStyle/>
          <a:p>
            <a:pPr algn="l">
              <a:defRPr sz="900" b="0">
                <a:solidFill>
                  <a:srgbClr val="E8EBEF"/>
                </a:solidFill>
                <a:latin typeface="Segoe UI"/>
              </a:defRPr>
            </a:pPr>
            <a:r>
              <a:t>Product Feedback Filed</a:t>
            </a:r>
          </a:p>
        </p:txBody>
      </p:sp>
      <p:sp>
        <p:nvSpPr>
          <p:cNvPr id="30" name="Oval 29"/>
          <p:cNvSpPr/>
          <p:nvPr/>
        </p:nvSpPr>
        <p:spPr>
          <a:xfrm>
            <a:off x="7315200" y="5669280"/>
            <a:ext cx="182880" cy="182880"/>
          </a:xfrm>
          <a:prstGeom prst="ellipse">
            <a:avLst/>
          </a:prstGeom>
          <a:solidFill>
            <a:srgbClr val="1A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0" y="5623560"/>
            <a:ext cx="1828800" cy="228600"/>
          </a:xfrm>
          <a:prstGeom prst="rect">
            <a:avLst/>
          </a:prstGeom>
          <a:noFill/>
        </p:spPr>
        <p:txBody>
          <a:bodyPr wrap="square">
            <a:spAutoFit/>
          </a:bodyPr>
          <a:lstStyle/>
          <a:p>
            <a:pPr algn="l">
              <a:defRPr sz="900" b="1">
                <a:solidFill>
                  <a:srgbClr val="1A478A"/>
                </a:solidFill>
                <a:latin typeface="Segoe UI"/>
              </a:defRPr>
            </a:pPr>
            <a:r>
              <a:t>Week 6</a:t>
            </a:r>
          </a:p>
        </p:txBody>
      </p:sp>
      <p:sp>
        <p:nvSpPr>
          <p:cNvPr id="32" name="TextBox 31"/>
          <p:cNvSpPr txBox="1"/>
          <p:nvPr/>
        </p:nvSpPr>
        <p:spPr>
          <a:xfrm>
            <a:off x="7589520" y="5852160"/>
            <a:ext cx="1828800" cy="228600"/>
          </a:xfrm>
          <a:prstGeom prst="rect">
            <a:avLst/>
          </a:prstGeom>
          <a:noFill/>
        </p:spPr>
        <p:txBody>
          <a:bodyPr wrap="square">
            <a:spAutoFit/>
          </a:bodyPr>
          <a:lstStyle/>
          <a:p>
            <a:pPr algn="l">
              <a:defRPr sz="900" b="0">
                <a:solidFill>
                  <a:srgbClr val="E8EBEF"/>
                </a:solidFill>
                <a:latin typeface="Segoe UI"/>
              </a:defRPr>
            </a:pPr>
            <a:r>
              <a:t>30-Day Check-in</a:t>
            </a:r>
          </a:p>
        </p:txBody>
      </p:sp>
      <p:sp>
        <p:nvSpPr>
          <p:cNvPr id="33" name="Oval 32"/>
          <p:cNvSpPr/>
          <p:nvPr/>
        </p:nvSpPr>
        <p:spPr>
          <a:xfrm>
            <a:off x="9601200" y="5669280"/>
            <a:ext cx="182880" cy="182880"/>
          </a:xfrm>
          <a:prstGeom prst="ellipse">
            <a:avLst/>
          </a:prstGeom>
          <a:solidFill>
            <a:srgbClr val="9BA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0" y="5623560"/>
            <a:ext cx="1828800" cy="228600"/>
          </a:xfrm>
          <a:prstGeom prst="rect">
            <a:avLst/>
          </a:prstGeom>
          <a:noFill/>
        </p:spPr>
        <p:txBody>
          <a:bodyPr wrap="square">
            <a:spAutoFit/>
          </a:bodyPr>
          <a:lstStyle/>
          <a:p>
            <a:pPr algn="l">
              <a:defRPr sz="900" b="1">
                <a:solidFill>
                  <a:srgbClr val="9BA0A8"/>
                </a:solidFill>
                <a:latin typeface="Segoe UI"/>
              </a:defRPr>
            </a:pPr>
            <a:r>
              <a:t>Ongoing</a:t>
            </a:r>
          </a:p>
        </p:txBody>
      </p:sp>
      <p:sp>
        <p:nvSpPr>
          <p:cNvPr id="35" name="TextBox 34"/>
          <p:cNvSpPr txBox="1"/>
          <p:nvPr/>
        </p:nvSpPr>
        <p:spPr>
          <a:xfrm>
            <a:off x="9875520" y="5852160"/>
            <a:ext cx="1828800" cy="228600"/>
          </a:xfrm>
          <a:prstGeom prst="rect">
            <a:avLst/>
          </a:prstGeom>
          <a:noFill/>
        </p:spPr>
        <p:txBody>
          <a:bodyPr wrap="square">
            <a:spAutoFit/>
          </a:bodyPr>
          <a:lstStyle/>
          <a:p>
            <a:pPr algn="l">
              <a:defRPr sz="900" b="0">
                <a:solidFill>
                  <a:srgbClr val="E8EBEF"/>
                </a:solidFill>
                <a:latin typeface="Segoe UI"/>
              </a:defRPr>
            </a:pPr>
            <a:r>
              <a:t>Quarterly Reviews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Appendix A: KQL Queries for XPIA Hunting</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Example Queries from Technical Analysis — Deploy in Sentinel / Defender XDR</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17</a:t>
            </a:r>
          </a:p>
        </p:txBody>
      </p:sp>
      <p:sp>
        <p:nvSpPr>
          <p:cNvPr id="8" name="Rounded Rectangle 7"/>
          <p:cNvSpPr/>
          <p:nvPr/>
        </p:nvSpPr>
        <p:spPr>
          <a:xfrm>
            <a:off x="274320" y="1371600"/>
            <a:ext cx="11612880" cy="21031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5486400" cy="274320"/>
          </a:xfrm>
          <a:prstGeom prst="rect">
            <a:avLst/>
          </a:prstGeom>
          <a:noFill/>
        </p:spPr>
        <p:txBody>
          <a:bodyPr wrap="square">
            <a:spAutoFit/>
          </a:bodyPr>
          <a:lstStyle/>
          <a:p>
            <a:pPr algn="l">
              <a:defRPr sz="1200" b="1">
                <a:solidFill>
                  <a:srgbClr val="0078D4"/>
                </a:solidFill>
                <a:latin typeface="Segoe UI"/>
              </a:defRPr>
            </a:pPr>
            <a:r>
              <a:t>Query 1: XPIA Campaign Detection — Email Pattern Correlation</a:t>
            </a:r>
          </a:p>
        </p:txBody>
      </p:sp>
      <p:sp>
        <p:nvSpPr>
          <p:cNvPr id="10" name="TextBox 9"/>
          <p:cNvSpPr txBox="1"/>
          <p:nvPr/>
        </p:nvSpPr>
        <p:spPr>
          <a:xfrm>
            <a:off x="457200" y="1737360"/>
            <a:ext cx="11247120" cy="1645920"/>
          </a:xfrm>
          <a:prstGeom prst="rect">
            <a:avLst/>
          </a:prstGeom>
          <a:noFill/>
        </p:spPr>
        <p:txBody>
          <a:bodyPr wrap="square">
            <a:spAutoFit/>
          </a:bodyPr>
          <a:lstStyle/>
          <a:p>
            <a:pPr algn="l">
              <a:defRPr sz="900" b="0">
                <a:solidFill>
                  <a:srgbClr val="4EA8F0"/>
                </a:solidFill>
                <a:latin typeface="Cascadia Mono"/>
              </a:defRPr>
            </a:pPr>
            <a:r>
              <a:t>let xpia_patterns = dynamic(["ignore previous instructions", "you are now",</a:t>
            </a:r>
            <a:br/>
            <a:r>
              <a:t>    "new instructions:", "override system prompt", "forget everything above"]);</a:t>
            </a:r>
            <a:br/>
            <a:r>
              <a:t>let recipient_threshold = 10;</a:t>
            </a:r>
            <a:br/>
            <a:r>
              <a:t>EmailEvents</a:t>
            </a:r>
            <a:br/>
            <a:r>
              <a:t>| where Timestamp &gt; ago(24h) | where DeliveryAction == "Delivered"</a:t>
            </a:r>
            <a:br/>
            <a:r>
              <a:t>| extend SenderDomain = tostring(split(SenderFromAddress, "@")[1])</a:t>
            </a:r>
            <a:br/>
            <a:r>
              <a:t>| join kind=inner (</a:t>
            </a:r>
            <a:br/>
            <a:r>
              <a:t>    EmailEvents | summarize RecipientCount = dcount(RecipientEmailAddress)</a:t>
            </a:r>
            <a:br/>
            <a:r>
              <a:t>    by SenderDomain = tostring(split(SenderFromAddress, "@")[1])</a:t>
            </a:r>
            <a:br/>
            <a:r>
              <a:t>    | where RecipientCount &gt;= recipient_threshold</a:t>
            </a:r>
            <a:br/>
            <a:r>
              <a:t>) on SenderDomain</a:t>
            </a:r>
            <a:br/>
            <a:r>
              <a:t>| project Timestamp, SenderFromAddress, SenderDomain, RecipientEmailAddress, RecipientCount</a:t>
            </a:r>
          </a:p>
        </p:txBody>
      </p:sp>
      <p:sp>
        <p:nvSpPr>
          <p:cNvPr id="11" name="Rounded Rectangle 10"/>
          <p:cNvSpPr/>
          <p:nvPr/>
        </p:nvSpPr>
        <p:spPr>
          <a:xfrm>
            <a:off x="274320" y="3657600"/>
            <a:ext cx="11612880" cy="21031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03320"/>
            <a:ext cx="5486400" cy="274320"/>
          </a:xfrm>
          <a:prstGeom prst="rect">
            <a:avLst/>
          </a:prstGeom>
          <a:noFill/>
        </p:spPr>
        <p:txBody>
          <a:bodyPr wrap="square">
            <a:spAutoFit/>
          </a:bodyPr>
          <a:lstStyle/>
          <a:p>
            <a:pPr algn="l">
              <a:defRPr sz="1200" b="1">
                <a:solidFill>
                  <a:srgbClr val="0078D4"/>
                </a:solidFill>
                <a:latin typeface="Segoe UI"/>
              </a:defRPr>
            </a:pPr>
            <a:r>
              <a:t>Query 2: Cross-Reference Email Senders with AI Security Alerts</a:t>
            </a:r>
          </a:p>
        </p:txBody>
      </p:sp>
      <p:sp>
        <p:nvSpPr>
          <p:cNvPr id="13" name="TextBox 12"/>
          <p:cNvSpPr txBox="1"/>
          <p:nvPr/>
        </p:nvSpPr>
        <p:spPr>
          <a:xfrm>
            <a:off x="457200" y="4023360"/>
            <a:ext cx="11247120" cy="1645920"/>
          </a:xfrm>
          <a:prstGeom prst="rect">
            <a:avLst/>
          </a:prstGeom>
          <a:noFill/>
        </p:spPr>
        <p:txBody>
          <a:bodyPr wrap="square">
            <a:spAutoFit/>
          </a:bodyPr>
          <a:lstStyle/>
          <a:p>
            <a:pPr algn="l">
              <a:defRPr sz="900" b="0">
                <a:solidFill>
                  <a:srgbClr val="4EA8F0"/>
                </a:solidFill>
                <a:latin typeface="Cascadia Mono"/>
              </a:defRPr>
            </a:pPr>
            <a:r>
              <a:t>let SuspiciousSender = "attacker@attacker-domain.com";</a:t>
            </a:r>
            <a:br/>
            <a:r>
              <a:t>let TimeWindow = 7d;</a:t>
            </a:r>
            <a:br/>
            <a:r>
              <a:t>let AffectedUsers = EmailEvents</a:t>
            </a:r>
            <a:br/>
            <a:r>
              <a:t>    | where Timestamp &gt; ago(TimeWindow)</a:t>
            </a:r>
            <a:br/>
            <a:r>
              <a:t>    | where SenderFromAddress == SuspiciousSender</a:t>
            </a:r>
            <a:br/>
            <a:r>
              <a:t>    | distinct RecipientEmailAddress;</a:t>
            </a:r>
            <a:br/>
            <a:r>
              <a:t>SecurityAlert</a:t>
            </a:r>
            <a:br/>
            <a:r>
              <a:t>| where TimeGenerated &gt; ago(TimeWindow)</a:t>
            </a:r>
            <a:br/>
            <a:r>
              <a:t>| where ProductName has "Copilot"</a:t>
            </a:r>
            <a:br/>
            <a:r>
              <a:t>| where Entities has_any(AffectedUsers)</a:t>
            </a:r>
            <a:br/>
            <a:r>
              <a:t>| project TimeGenerated, AlertName, AlertSeverity, Description, Entities</a:t>
            </a:r>
          </a:p>
        </p:txBody>
      </p:sp>
      <p:sp>
        <p:nvSpPr>
          <p:cNvPr id="14" name="Rounded Rectangle 13"/>
          <p:cNvSpPr/>
          <p:nvPr/>
        </p:nvSpPr>
        <p:spPr>
          <a:xfrm>
            <a:off x="274320" y="5943600"/>
            <a:ext cx="11612880" cy="411480"/>
          </a:xfrm>
          <a:prstGeom prst="roundRect">
            <a:avLst/>
          </a:prstGeom>
          <a:solidFill>
            <a:srgbClr val="0A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961888"/>
            <a:ext cx="11247120" cy="365760"/>
          </a:xfrm>
          <a:prstGeom prst="rect">
            <a:avLst/>
          </a:prstGeom>
          <a:noFill/>
        </p:spPr>
        <p:txBody>
          <a:bodyPr wrap="square">
            <a:spAutoFit/>
          </a:bodyPr>
          <a:lstStyle/>
          <a:p>
            <a:pPr algn="l">
              <a:defRPr sz="800" b="0">
                <a:solidFill>
                  <a:srgbClr val="4EA8F0"/>
                </a:solidFill>
                <a:latin typeface="Cascadia Mono"/>
              </a:defRPr>
            </a:pPr>
            <a:r>
              <a:t>XPIA Regex Patterns: (?i)(ignore\s+previous\s+instructions|you\s+are\s+now|system\s*prompt\s*:|disregard\s+above|new\s+instructions\s*:)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XPIA Email Detection Flow — Proposed Multi-Layer Architecture</a:t>
            </a:r>
          </a:p>
        </p:txBody>
      </p:sp>
      <p:sp>
        <p:nvSpPr>
          <p:cNvPr id="6" name="Rounded Rectangle 5"/>
          <p:cNvSpPr/>
          <p:nvPr/>
        </p:nvSpPr>
        <p:spPr>
          <a:xfrm>
            <a:off x="457200" y="1097280"/>
            <a:ext cx="2286000" cy="7772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Inbound Email</a:t>
            </a:r>
          </a:p>
        </p:txBody>
      </p:sp>
      <p:sp>
        <p:nvSpPr>
          <p:cNvPr id="7" name="Rounded Rectangle 6"/>
          <p:cNvSpPr/>
          <p:nvPr/>
        </p:nvSpPr>
        <p:spPr>
          <a:xfrm>
            <a:off x="3474720" y="1097280"/>
            <a:ext cx="2286000" cy="7772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Exchange Mail Flow Rule</a:t>
            </a:r>
          </a:p>
          <a:p>
            <a:pPr algn="ctr">
              <a:spcBef>
                <a:spcPts val="0"/>
              </a:spcBef>
              <a:spcAft>
                <a:spcPts val="0"/>
              </a:spcAft>
            </a:pPr>
            <a:r>
              <a:rPr sz="900" b="0">
                <a:solidFill>
                  <a:srgbClr val="FFFFFF"/>
                </a:solidFill>
              </a:rPr>
              <a:t>(XPIA patterns)</a:t>
            </a:r>
          </a:p>
          <a:p>
            <a:pPr algn="ctr">
              <a:spcBef>
                <a:spcPts val="0"/>
              </a:spcBef>
              <a:spcAft>
                <a:spcPts val="0"/>
              </a:spcAft>
            </a:pPr>
            <a:r>
              <a:rPr sz="900" b="0">
                <a:solidFill>
                  <a:srgbClr val="FFFFFF"/>
                </a:solidFill>
              </a:rPr>
              <a:t>Adds X-Header</a:t>
            </a:r>
          </a:p>
        </p:txBody>
      </p:sp>
      <p:sp>
        <p:nvSpPr>
          <p:cNvPr id="8" name="Rounded Rectangle 7"/>
          <p:cNvSpPr/>
          <p:nvPr/>
        </p:nvSpPr>
        <p:spPr>
          <a:xfrm>
            <a:off x="6492240" y="1097280"/>
            <a:ext cx="2286000" cy="7772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DLP Policy</a:t>
            </a:r>
          </a:p>
          <a:p>
            <a:pPr algn="ctr">
              <a:spcBef>
                <a:spcPts val="0"/>
              </a:spcBef>
              <a:spcAft>
                <a:spcPts val="0"/>
              </a:spcAft>
            </a:pPr>
            <a:r>
              <a:rPr sz="900" b="0">
                <a:solidFill>
                  <a:srgbClr val="FFFFFF"/>
                </a:solidFill>
              </a:rPr>
              <a:t>(Custom SIT with</a:t>
            </a:r>
          </a:p>
          <a:p>
            <a:pPr algn="ctr">
              <a:spcBef>
                <a:spcPts val="0"/>
              </a:spcBef>
              <a:spcAft>
                <a:spcPts val="0"/>
              </a:spcAft>
            </a:pPr>
            <a:r>
              <a:rPr sz="900" b="0">
                <a:solidFill>
                  <a:srgbClr val="FFFFFF"/>
                </a:solidFill>
              </a:rPr>
              <a:t>XPIA regex patterns)</a:t>
            </a:r>
          </a:p>
        </p:txBody>
      </p:sp>
      <p:sp>
        <p:nvSpPr>
          <p:cNvPr id="9" name="Rounded Rectangle 8"/>
          <p:cNvSpPr/>
          <p:nvPr/>
        </p:nvSpPr>
        <p:spPr>
          <a:xfrm>
            <a:off x="3474720" y="2468880"/>
            <a:ext cx="2286000" cy="7772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Email Delivered</a:t>
            </a:r>
          </a:p>
          <a:p>
            <a:pPr algn="ctr">
              <a:spcBef>
                <a:spcPts val="0"/>
              </a:spcBef>
              <a:spcAft>
                <a:spcPts val="0"/>
              </a:spcAft>
            </a:pPr>
            <a:r>
              <a:rPr sz="900" b="0">
                <a:solidFill>
                  <a:srgbClr val="FFFFFF"/>
                </a:solidFill>
              </a:rPr>
              <a:t>with X-Header</a:t>
            </a:r>
          </a:p>
        </p:txBody>
      </p:sp>
      <p:sp>
        <p:nvSpPr>
          <p:cNvPr id="10" name="Rounded Rectangle 9"/>
          <p:cNvSpPr/>
          <p:nvPr/>
        </p:nvSpPr>
        <p:spPr>
          <a:xfrm>
            <a:off x="6492240" y="2468880"/>
            <a:ext cx="2286000" cy="7772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DLP Match Logged</a:t>
            </a:r>
          </a:p>
          <a:p>
            <a:pPr algn="ctr">
              <a:spcBef>
                <a:spcPts val="0"/>
              </a:spcBef>
              <a:spcAft>
                <a:spcPts val="0"/>
              </a:spcAft>
            </a:pPr>
            <a:r>
              <a:rPr sz="900" b="0">
                <a:solidFill>
                  <a:srgbClr val="FFFFFF"/>
                </a:solidFill>
              </a:rPr>
              <a:t>to Purview</a:t>
            </a:r>
          </a:p>
          <a:p>
            <a:pPr algn="ctr">
              <a:spcBef>
                <a:spcPts val="0"/>
              </a:spcBef>
              <a:spcAft>
                <a:spcPts val="0"/>
              </a:spcAft>
            </a:pPr>
            <a:r>
              <a:rPr sz="900" b="0">
                <a:solidFill>
                  <a:srgbClr val="FFFFFF"/>
                </a:solidFill>
              </a:rPr>
              <a:t>Activity Explorer</a:t>
            </a:r>
          </a:p>
        </p:txBody>
      </p:sp>
      <p:sp>
        <p:nvSpPr>
          <p:cNvPr id="11" name="Rounded Rectangle 10"/>
          <p:cNvSpPr/>
          <p:nvPr/>
        </p:nvSpPr>
        <p:spPr>
          <a:xfrm>
            <a:off x="3474720" y="3840480"/>
            <a:ext cx="2286000" cy="77724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User Asks Agent 365</a:t>
            </a:r>
          </a:p>
          <a:p>
            <a:pPr algn="ctr">
              <a:spcBef>
                <a:spcPts val="0"/>
              </a:spcBef>
              <a:spcAft>
                <a:spcPts val="0"/>
              </a:spcAft>
            </a:pPr>
            <a:r>
              <a:rPr sz="900" b="0">
                <a:solidFill>
                  <a:srgbClr val="FFFFFF"/>
                </a:solidFill>
              </a:rPr>
              <a:t>About Email</a:t>
            </a:r>
          </a:p>
        </p:txBody>
      </p:sp>
      <p:sp>
        <p:nvSpPr>
          <p:cNvPr id="12" name="Rounded Rectangle 11"/>
          <p:cNvSpPr/>
          <p:nvPr/>
        </p:nvSpPr>
        <p:spPr>
          <a:xfrm>
            <a:off x="3474720" y="4937760"/>
            <a:ext cx="2286000" cy="777240"/>
          </a:xfrm>
          <a:prstGeom prst="round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Prompt Shields</a:t>
            </a:r>
          </a:p>
          <a:p>
            <a:pPr algn="ctr">
              <a:spcBef>
                <a:spcPts val="0"/>
              </a:spcBef>
              <a:spcAft>
                <a:spcPts val="0"/>
              </a:spcAft>
            </a:pPr>
            <a:r>
              <a:rPr sz="900" b="0">
                <a:solidFill>
                  <a:srgbClr val="FFFFFF"/>
                </a:solidFill>
              </a:rPr>
              <a:t>Fires on Email Content</a:t>
            </a:r>
          </a:p>
        </p:txBody>
      </p:sp>
      <p:sp>
        <p:nvSpPr>
          <p:cNvPr id="13" name="Rounded Rectangle 12"/>
          <p:cNvSpPr/>
          <p:nvPr/>
        </p:nvSpPr>
        <p:spPr>
          <a:xfrm>
            <a:off x="6492240" y="4937760"/>
            <a:ext cx="2286000" cy="77724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XPIA Detected</a:t>
            </a:r>
          </a:p>
          <a:p>
            <a:pPr algn="ctr">
              <a:spcBef>
                <a:spcPts val="0"/>
              </a:spcBef>
              <a:spcAft>
                <a:spcPts val="0"/>
              </a:spcAft>
            </a:pPr>
            <a:r>
              <a:rPr sz="900" b="0">
                <a:solidFill>
                  <a:srgbClr val="FFFFFF"/>
                </a:solidFill>
              </a:rPr>
              <a:t>Alert to XDR</a:t>
            </a:r>
          </a:p>
        </p:txBody>
      </p:sp>
      <p:sp>
        <p:nvSpPr>
          <p:cNvPr id="14" name="Rounded Rectangle 13"/>
          <p:cNvSpPr/>
          <p:nvPr/>
        </p:nvSpPr>
        <p:spPr>
          <a:xfrm>
            <a:off x="365760" y="6035040"/>
            <a:ext cx="11430000" cy="502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900" b="0">
                <a:solidFill>
                  <a:srgbClr val="FFFFFF"/>
                </a:solidFill>
              </a:rPr>
              <a:t>CORRELATION QUERY: Join DLP match + XDR alert + sender domain</a:t>
            </a:r>
          </a:p>
          <a:p>
            <a:pPr algn="ctr">
              <a:spcBef>
                <a:spcPts val="0"/>
              </a:spcBef>
              <a:spcAft>
                <a:spcPts val="0"/>
              </a:spcAft>
            </a:pPr>
            <a:r>
              <a:rPr sz="900" b="0">
                <a:solidFill>
                  <a:srgbClr val="FFFFFF"/>
                </a:solidFill>
              </a:rPr>
              <a:t>to identify coordinated XPIA campaign across multiple users</a:t>
            </a:r>
          </a:p>
        </p:txBody>
      </p:sp>
      <p:cxnSp>
        <p:nvCxnSpPr>
          <p:cNvPr id="15" name="Connector 14"/>
          <p:cNvCxnSpPr/>
          <p:nvPr/>
        </p:nvCxnSpPr>
        <p:spPr>
          <a:xfrm>
            <a:off x="2743200" y="1485900"/>
            <a:ext cx="731520"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760720" y="1485900"/>
            <a:ext cx="731520"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17720" y="1874520"/>
            <a:ext cx="0" cy="59436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35240" y="1874520"/>
            <a:ext cx="0" cy="59436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7720" y="3246120"/>
            <a:ext cx="0" cy="59436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7720" y="4617720"/>
            <a:ext cx="0" cy="32004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60720" y="5326380"/>
            <a:ext cx="731520"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E3E"/>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9144000" cy="548640"/>
          </a:xfrm>
          <a:prstGeom prst="rect">
            <a:avLst/>
          </a:prstGeom>
          <a:noFill/>
        </p:spPr>
        <p:txBody>
          <a:bodyPr wrap="square">
            <a:spAutoFit/>
          </a:bodyPr>
          <a:lstStyle/>
          <a:p>
            <a:pPr algn="l">
              <a:defRPr sz="2400" b="1">
                <a:solidFill>
                  <a:srgbClr val="FFFFFF"/>
                </a:solidFill>
                <a:latin typeface="Segoe UI"/>
              </a:defRPr>
            </a:pPr>
            <a:r>
              <a:t>Appendix C: Regulatory Alignment</a:t>
            </a:r>
          </a:p>
        </p:txBody>
      </p:sp>
      <p:sp>
        <p:nvSpPr>
          <p:cNvPr id="5" name="TextBox 4"/>
          <p:cNvSpPr txBox="1"/>
          <p:nvPr/>
        </p:nvSpPr>
        <p:spPr>
          <a:xfrm>
            <a:off x="548640" y="640080"/>
            <a:ext cx="9144000" cy="365760"/>
          </a:xfrm>
          <a:prstGeom prst="rect">
            <a:avLst/>
          </a:prstGeom>
          <a:noFill/>
        </p:spPr>
        <p:txBody>
          <a:bodyPr wrap="square">
            <a:spAutoFit/>
          </a:bodyPr>
          <a:lstStyle/>
          <a:p>
            <a:pPr algn="l">
              <a:defRPr sz="1200" b="0">
                <a:solidFill>
                  <a:srgbClr val="4EA8F0"/>
                </a:solidFill>
                <a:latin typeface="Segoe UI"/>
              </a:defRPr>
            </a:pPr>
            <a:r>
              <a:t>How Agent 365 XPIA Controls Map to FSI Regulatory Requirements</a:t>
            </a:r>
          </a:p>
        </p:txBody>
      </p:sp>
      <p:sp>
        <p:nvSpPr>
          <p:cNvPr id="6" name="TextBox 5"/>
          <p:cNvSpPr txBox="1"/>
          <p:nvPr/>
        </p:nvSpPr>
        <p:spPr>
          <a:xfrm>
            <a:off x="365760" y="6446520"/>
            <a:ext cx="4572000" cy="320040"/>
          </a:xfrm>
          <a:prstGeom prst="rect">
            <a:avLst/>
          </a:prstGeom>
          <a:noFill/>
        </p:spPr>
        <p:txBody>
          <a:bodyPr wrap="square">
            <a:spAutoFit/>
          </a:bodyPr>
          <a:lstStyle/>
          <a:p>
            <a:pPr algn="l">
              <a:defRPr sz="800" b="0">
                <a:solidFill>
                  <a:srgbClr val="9BA0A8"/>
                </a:solidFill>
                <a:latin typeface="Segoe UI"/>
              </a:defRPr>
            </a:pPr>
            <a:r>
              <a:t>Confidential — Customer Discussion  |  Microsoft &amp; the customer FSI Engagement</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900" b="0">
                <a:solidFill>
                  <a:srgbClr val="9BA0A8"/>
                </a:solidFill>
                <a:latin typeface="Segoe UI"/>
              </a:defRPr>
            </a:pPr>
            <a:r>
              <a:t>19</a:t>
            </a:r>
          </a:p>
        </p:txBody>
      </p:sp>
      <p:graphicFrame>
        <p:nvGraphicFramePr>
          <p:cNvPr id="8" name="Table 7"/>
          <p:cNvGraphicFramePr>
            <a:graphicFrameLocks noGrp="1"/>
          </p:cNvGraphicFramePr>
          <p:nvPr/>
        </p:nvGraphicFramePr>
        <p:xfrm>
          <a:off x="274320" y="1371600"/>
          <a:ext cx="10424160" cy="1920239"/>
        </p:xfrm>
        <a:graphic>
          <a:graphicData uri="http://schemas.openxmlformats.org/drawingml/2006/table">
            <a:tbl>
              <a:tblPr firstRow="1" bandRow="1">
                <a:tableStyleId>{5C22544A-7EE6-4342-B048-85BDC9FD1C3A}</a:tableStyleId>
              </a:tblPr>
              <a:tblGrid>
                <a:gridCol w="2011680"/>
                <a:gridCol w="2926080"/>
                <a:gridCol w="3474720"/>
                <a:gridCol w="2011680"/>
              </a:tblGrid>
              <a:tr h="320039">
                <a:tc>
                  <a:txBody>
                    <a:bodyPr/>
                    <a:lstStyle/>
                    <a:p>
                      <a:pPr algn="l">
                        <a:defRPr sz="1100" b="1">
                          <a:solidFill>
                            <a:srgbClr val="FFFFFF"/>
                          </a:solidFill>
                          <a:latin typeface="Segoe UI"/>
                        </a:defRPr>
                      </a:pPr>
                      <a:r>
                        <a:t>Regulation / Standard</a:t>
                      </a:r>
                    </a:p>
                  </a:txBody>
                  <a:tcPr anchor="ctr" marL="73152" marR="73152" marT="36576" marB="36576">
                    <a:solidFill>
                      <a:srgbClr val="005AA0"/>
                    </a:solidFill>
                  </a:tcPr>
                </a:tc>
                <a:tc>
                  <a:txBody>
                    <a:bodyPr/>
                    <a:lstStyle/>
                    <a:p>
                      <a:pPr algn="l">
                        <a:defRPr sz="1100" b="1">
                          <a:solidFill>
                            <a:srgbClr val="FFFFFF"/>
                          </a:solidFill>
                          <a:latin typeface="Segoe UI"/>
                        </a:defRPr>
                      </a:pPr>
                      <a:r>
                        <a:t>Requirement</a:t>
                      </a:r>
                    </a:p>
                  </a:txBody>
                  <a:tcPr anchor="ctr" marL="73152" marR="73152" marT="36576" marB="36576">
                    <a:solidFill>
                      <a:srgbClr val="005AA0"/>
                    </a:solidFill>
                  </a:tcPr>
                </a:tc>
                <a:tc>
                  <a:txBody>
                    <a:bodyPr/>
                    <a:lstStyle/>
                    <a:p>
                      <a:pPr algn="l">
                        <a:defRPr sz="1100" b="1">
                          <a:solidFill>
                            <a:srgbClr val="FFFFFF"/>
                          </a:solidFill>
                          <a:latin typeface="Segoe UI"/>
                        </a:defRPr>
                      </a:pPr>
                      <a:r>
                        <a:t>Agent 365 Alignment</a:t>
                      </a:r>
                    </a:p>
                  </a:txBody>
                  <a:tcPr anchor="ctr" marL="73152" marR="73152" marT="36576" marB="36576">
                    <a:solidFill>
                      <a:srgbClr val="005AA0"/>
                    </a:solidFill>
                  </a:tcPr>
                </a:tc>
                <a:tc>
                  <a:txBody>
                    <a:bodyPr/>
                    <a:lstStyle/>
                    <a:p>
                      <a:pPr algn="l">
                        <a:defRPr sz="1100" b="1">
                          <a:solidFill>
                            <a:srgbClr val="FFFFFF"/>
                          </a:solidFill>
                          <a:latin typeface="Segoe UI"/>
                        </a:defRPr>
                      </a:pPr>
                      <a:r>
                        <a:t>Evidence</a:t>
                      </a:r>
                    </a:p>
                  </a:txBody>
                  <a:tcPr anchor="ctr" marL="73152" marR="73152" marT="36576" marB="36576">
                    <a:solidFill>
                      <a:srgbClr val="005AA0"/>
                    </a:solidFill>
                  </a:tcPr>
                </a:tc>
              </a:tr>
              <a:tr h="320039">
                <a:tc>
                  <a:txBody>
                    <a:bodyPr/>
                    <a:lstStyle/>
                    <a:p>
                      <a:pPr>
                        <a:defRPr sz="1000">
                          <a:solidFill>
                            <a:srgbClr val="FFFFFF"/>
                          </a:solidFill>
                          <a:latin typeface="Segoe UI"/>
                        </a:defRPr>
                      </a:pPr>
                      <a:r>
                        <a:t>OCC Bulletin —</a:t>
                      </a:r>
                      <a:br/>
                      <a:r>
                        <a:t>AI Risk Management</a:t>
                      </a:r>
                    </a:p>
                  </a:txBody>
                  <a:tcPr anchor="ctr" marL="73152" marR="73152" marT="27432" marB="27432">
                    <a:solidFill>
                      <a:srgbClr val="0D2244"/>
                    </a:solidFill>
                  </a:tcPr>
                </a:tc>
                <a:tc>
                  <a:txBody>
                    <a:bodyPr/>
                    <a:lstStyle/>
                    <a:p>
                      <a:pPr>
                        <a:defRPr sz="1000">
                          <a:solidFill>
                            <a:srgbClr val="FFFFFF"/>
                          </a:solidFill>
                          <a:latin typeface="Segoe UI"/>
                        </a:defRPr>
                      </a:pPr>
                      <a:r>
                        <a:t>AI systems must have explainable governance controls</a:t>
                      </a:r>
                    </a:p>
                  </a:txBody>
                  <a:tcPr anchor="ctr" marL="73152" marR="73152" marT="27432" marB="27432">
                    <a:solidFill>
                      <a:srgbClr val="0D2244"/>
                    </a:solidFill>
                  </a:tcPr>
                </a:tc>
                <a:tc>
                  <a:txBody>
                    <a:bodyPr/>
                    <a:lstStyle/>
                    <a:p>
                      <a:pPr>
                        <a:defRPr sz="1000">
                          <a:solidFill>
                            <a:srgbClr val="FFFFFF"/>
                          </a:solidFill>
                          <a:latin typeface="Segoe UI"/>
                        </a:defRPr>
                      </a:pPr>
                      <a:r>
                        <a:t>Governance policies define agent permissions;</a:t>
                      </a:r>
                      <a:br/>
                      <a:r>
                        <a:t>all decisions logged</a:t>
                      </a:r>
                    </a:p>
                  </a:txBody>
                  <a:tcPr anchor="ctr" marL="73152" marR="73152" marT="27432" marB="27432">
                    <a:solidFill>
                      <a:srgbClr val="0D2244"/>
                    </a:solidFill>
                  </a:tcPr>
                </a:tc>
                <a:tc>
                  <a:txBody>
                    <a:bodyPr/>
                    <a:lstStyle/>
                    <a:p>
                      <a:pPr>
                        <a:defRPr sz="1000">
                          <a:solidFill>
                            <a:srgbClr val="FFFFFF"/>
                          </a:solidFill>
                          <a:latin typeface="Segoe UI"/>
                        </a:defRPr>
                      </a:pPr>
                      <a:r>
                        <a:t>Policy config + audit trail</a:t>
                      </a:r>
                    </a:p>
                  </a:txBody>
                  <a:tcPr anchor="ctr" marL="73152" marR="73152" marT="27432" marB="27432">
                    <a:solidFill>
                      <a:srgbClr val="0D2244"/>
                    </a:solidFill>
                  </a:tcPr>
                </a:tc>
              </a:tr>
              <a:tr h="320039">
                <a:tc>
                  <a:txBody>
                    <a:bodyPr/>
                    <a:lstStyle/>
                    <a:p>
                      <a:pPr>
                        <a:defRPr sz="1000">
                          <a:solidFill>
                            <a:srgbClr val="FFFFFF"/>
                          </a:solidFill>
                          <a:latin typeface="Segoe UI"/>
                        </a:defRPr>
                      </a:pPr>
                      <a:r>
                        <a:t>FCA AI Bill of Rights</a:t>
                      </a:r>
                    </a:p>
                  </a:txBody>
                  <a:tcPr anchor="ctr" marL="73152" marR="73152" marT="27432" marB="27432">
                    <a:solidFill>
                      <a:srgbClr val="123058"/>
                    </a:solidFill>
                  </a:tcPr>
                </a:tc>
                <a:tc>
                  <a:txBody>
                    <a:bodyPr/>
                    <a:lstStyle/>
                    <a:p>
                      <a:pPr>
                        <a:defRPr sz="1000">
                          <a:solidFill>
                            <a:srgbClr val="FFFFFF"/>
                          </a:solidFill>
                          <a:latin typeface="Segoe UI"/>
                        </a:defRPr>
                      </a:pPr>
                      <a:r>
                        <a:t>AI systems must be explainable and auditable</a:t>
                      </a:r>
                      <a:br/>
                      <a:r>
                        <a:t>in regulated financial processes</a:t>
                      </a:r>
                    </a:p>
                  </a:txBody>
                  <a:tcPr anchor="ctr" marL="73152" marR="73152" marT="27432" marB="27432">
                    <a:solidFill>
                      <a:srgbClr val="123058"/>
                    </a:solidFill>
                  </a:tcPr>
                </a:tc>
                <a:tc>
                  <a:txBody>
                    <a:bodyPr/>
                    <a:lstStyle/>
                    <a:p>
                      <a:pPr>
                        <a:defRPr sz="1000">
                          <a:solidFill>
                            <a:srgbClr val="FFFFFF"/>
                          </a:solidFill>
                          <a:latin typeface="Segoe UI"/>
                        </a:defRPr>
                      </a:pPr>
                      <a:r>
                        <a:t>Immutable audit ledger records every</a:t>
                      </a:r>
                      <a:br/>
                      <a:r>
                        <a:t>agent decision, input, output, flag</a:t>
                      </a:r>
                    </a:p>
                  </a:txBody>
                  <a:tcPr anchor="ctr" marL="73152" marR="73152" marT="27432" marB="27432">
                    <a:solidFill>
                      <a:srgbClr val="123058"/>
                    </a:solidFill>
                  </a:tcPr>
                </a:tc>
                <a:tc>
                  <a:txBody>
                    <a:bodyPr/>
                    <a:lstStyle/>
                    <a:p>
                      <a:pPr>
                        <a:defRPr sz="1000">
                          <a:solidFill>
                            <a:srgbClr val="FFFFFF"/>
                          </a:solidFill>
                          <a:latin typeface="Segoe UI"/>
                        </a:defRPr>
                      </a:pPr>
                      <a:r>
                        <a:t>Purview Activity Explorer</a:t>
                      </a:r>
                      <a:br/>
                      <a:r>
                        <a:t>+ DSPM for AI</a:t>
                      </a:r>
                    </a:p>
                  </a:txBody>
                  <a:tcPr anchor="ctr" marL="73152" marR="73152" marT="27432" marB="27432">
                    <a:solidFill>
                      <a:srgbClr val="123058"/>
                    </a:solidFill>
                  </a:tcPr>
                </a:tc>
              </a:tr>
              <a:tr h="320039">
                <a:tc>
                  <a:txBody>
                    <a:bodyPr/>
                    <a:lstStyle/>
                    <a:p>
                      <a:pPr>
                        <a:defRPr sz="1000">
                          <a:solidFill>
                            <a:srgbClr val="FFFFFF"/>
                          </a:solidFill>
                          <a:latin typeface="Segoe UI"/>
                        </a:defRPr>
                      </a:pPr>
                      <a:r>
                        <a:t>SOX 404 — Internal</a:t>
                      </a:r>
                      <a:br/>
                      <a:r>
                        <a:t>Control Effectiveness</a:t>
                      </a:r>
                    </a:p>
                  </a:txBody>
                  <a:tcPr anchor="ctr" marL="73152" marR="73152" marT="27432" marB="27432">
                    <a:solidFill>
                      <a:srgbClr val="0D2244"/>
                    </a:solidFill>
                  </a:tcPr>
                </a:tc>
                <a:tc>
                  <a:txBody>
                    <a:bodyPr/>
                    <a:lstStyle/>
                    <a:p>
                      <a:pPr>
                        <a:defRPr sz="1000">
                          <a:solidFill>
                            <a:srgbClr val="FFFFFF"/>
                          </a:solidFill>
                          <a:latin typeface="Segoe UI"/>
                        </a:defRPr>
                      </a:pPr>
                      <a:r>
                        <a:t>Internal controls must be effective for AI</a:t>
                      </a:r>
                      <a:br/>
                      <a:r>
                        <a:t>workflows touching financial reporting</a:t>
                      </a:r>
                    </a:p>
                  </a:txBody>
                  <a:tcPr anchor="ctr" marL="73152" marR="73152" marT="27432" marB="27432">
                    <a:solidFill>
                      <a:srgbClr val="0D2244"/>
                    </a:solidFill>
                  </a:tcPr>
                </a:tc>
                <a:tc>
                  <a:txBody>
                    <a:bodyPr/>
                    <a:lstStyle/>
                    <a:p>
                      <a:pPr>
                        <a:defRPr sz="1000">
                          <a:solidFill>
                            <a:srgbClr val="FFFFFF"/>
                          </a:solidFill>
                          <a:latin typeface="Segoe UI"/>
                        </a:defRPr>
                      </a:pPr>
                      <a:r>
                        <a:t>XPIA detection = control;</a:t>
                      </a:r>
                      <a:br/>
                      <a:r>
                        <a:t>audit trail = evidence of effectiveness</a:t>
                      </a:r>
                    </a:p>
                  </a:txBody>
                  <a:tcPr anchor="ctr" marL="73152" marR="73152" marT="27432" marB="27432">
                    <a:solidFill>
                      <a:srgbClr val="0D2244"/>
                    </a:solidFill>
                  </a:tcPr>
                </a:tc>
                <a:tc>
                  <a:txBody>
                    <a:bodyPr/>
                    <a:lstStyle/>
                    <a:p>
                      <a:pPr>
                        <a:defRPr sz="1000">
                          <a:solidFill>
                            <a:srgbClr val="FFFFFF"/>
                          </a:solidFill>
                          <a:latin typeface="Segoe UI"/>
                        </a:defRPr>
                      </a:pPr>
                      <a:r>
                        <a:t>Detection logs +</a:t>
                      </a:r>
                      <a:br/>
                      <a:r>
                        <a:t>compliance ledger</a:t>
                      </a:r>
                    </a:p>
                  </a:txBody>
                  <a:tcPr anchor="ctr" marL="73152" marR="73152" marT="27432" marB="27432">
                    <a:solidFill>
                      <a:srgbClr val="0D2244"/>
                    </a:solidFill>
                  </a:tcPr>
                </a:tc>
              </a:tr>
              <a:tr h="320039">
                <a:tc>
                  <a:txBody>
                    <a:bodyPr/>
                    <a:lstStyle/>
                    <a:p>
                      <a:pPr>
                        <a:defRPr sz="1000">
                          <a:solidFill>
                            <a:srgbClr val="FFFFFF"/>
                          </a:solidFill>
                          <a:latin typeface="Segoe UI"/>
                        </a:defRPr>
                      </a:pPr>
                      <a:r>
                        <a:t>NIST AI RMF —</a:t>
                      </a:r>
                      <a:br/>
                      <a:r>
                        <a:t>Governance Tier</a:t>
                      </a:r>
                    </a:p>
                  </a:txBody>
                  <a:tcPr anchor="ctr" marL="73152" marR="73152" marT="27432" marB="27432">
                    <a:solidFill>
                      <a:srgbClr val="123058"/>
                    </a:solidFill>
                  </a:tcPr>
                </a:tc>
                <a:tc>
                  <a:txBody>
                    <a:bodyPr/>
                    <a:lstStyle/>
                    <a:p>
                      <a:pPr>
                        <a:defRPr sz="1000">
                          <a:solidFill>
                            <a:srgbClr val="FFFFFF"/>
                          </a:solidFill>
                          <a:latin typeface="Segoe UI"/>
                        </a:defRPr>
                      </a:pPr>
                      <a:r>
                        <a:t>Risk management framework for AI systems</a:t>
                      </a:r>
                      <a:br/>
                      <a:r>
                        <a:t>including adversarial testing</a:t>
                      </a:r>
                    </a:p>
                  </a:txBody>
                  <a:tcPr anchor="ctr" marL="73152" marR="73152" marT="27432" marB="27432">
                    <a:solidFill>
                      <a:srgbClr val="123058"/>
                    </a:solidFill>
                  </a:tcPr>
                </a:tc>
                <a:tc>
                  <a:txBody>
                    <a:bodyPr/>
                    <a:lstStyle/>
                    <a:p>
                      <a:pPr>
                        <a:defRPr sz="1000">
                          <a:solidFill>
                            <a:srgbClr val="FFFFFF"/>
                          </a:solidFill>
                          <a:latin typeface="Segoe UI"/>
                        </a:defRPr>
                      </a:pPr>
                      <a:r>
                        <a:t>PyRIT framework for red-team testing;</a:t>
                      </a:r>
                      <a:br/>
                      <a:r>
                        <a:t>continuous Prompt Shield updates</a:t>
                      </a:r>
                    </a:p>
                  </a:txBody>
                  <a:tcPr anchor="ctr" marL="73152" marR="73152" marT="27432" marB="27432">
                    <a:solidFill>
                      <a:srgbClr val="123058"/>
                    </a:solidFill>
                  </a:tcPr>
                </a:tc>
                <a:tc>
                  <a:txBody>
                    <a:bodyPr/>
                    <a:lstStyle/>
                    <a:p>
                      <a:pPr>
                        <a:defRPr sz="1000">
                          <a:solidFill>
                            <a:srgbClr val="FFFFFF"/>
                          </a:solidFill>
                          <a:latin typeface="Segoe UI"/>
                        </a:defRPr>
                      </a:pPr>
                      <a:r>
                        <a:t>Test results +</a:t>
                      </a:r>
                      <a:br/>
                      <a:r>
                        <a:t>metrics dashboard</a:t>
                      </a:r>
                    </a:p>
                  </a:txBody>
                  <a:tcPr anchor="ctr" marL="73152" marR="73152" marT="27432" marB="27432">
                    <a:solidFill>
                      <a:srgbClr val="123058"/>
                    </a:solidFill>
                  </a:tcPr>
                </a:tc>
              </a:tr>
              <a:tr h="320044">
                <a:tc>
                  <a:txBody>
                    <a:bodyPr/>
                    <a:lstStyle/>
                    <a:p>
                      <a:pPr>
                        <a:defRPr sz="1000">
                          <a:solidFill>
                            <a:srgbClr val="FFFFFF"/>
                          </a:solidFill>
                          <a:latin typeface="Segoe UI"/>
                        </a:defRPr>
                      </a:pPr>
                      <a:r>
                        <a:t>COSO Control</a:t>
                      </a:r>
                      <a:br/>
                      <a:r>
                        <a:t>Framework</a:t>
                      </a:r>
                    </a:p>
                  </a:txBody>
                  <a:tcPr anchor="ctr" marL="73152" marR="73152" marT="27432" marB="27432">
                    <a:solidFill>
                      <a:srgbClr val="0D2244"/>
                    </a:solidFill>
                  </a:tcPr>
                </a:tc>
                <a:tc>
                  <a:txBody>
                    <a:bodyPr/>
                    <a:lstStyle/>
                    <a:p>
                      <a:pPr>
                        <a:defRPr sz="1000">
                          <a:solidFill>
                            <a:srgbClr val="FFFFFF"/>
                          </a:solidFill>
                          <a:latin typeface="Segoe UI"/>
                        </a:defRPr>
                      </a:pPr>
                      <a:r>
                        <a:t>Evidence of control over automated</a:t>
                      </a:r>
                      <a:br/>
                      <a:r>
                        <a:t>processes and insider threats</a:t>
                      </a:r>
                    </a:p>
                  </a:txBody>
                  <a:tcPr anchor="ctr" marL="73152" marR="73152" marT="27432" marB="27432">
                    <a:solidFill>
                      <a:srgbClr val="0D2244"/>
                    </a:solidFill>
                  </a:tcPr>
                </a:tc>
                <a:tc>
                  <a:txBody>
                    <a:bodyPr/>
                    <a:lstStyle/>
                    <a:p>
                      <a:pPr>
                        <a:defRPr sz="1000">
                          <a:solidFill>
                            <a:srgbClr val="FFFFFF"/>
                          </a:solidFill>
                          <a:latin typeface="Segoe UI"/>
                        </a:defRPr>
                      </a:pPr>
                      <a:r>
                        <a:t>IRM + DLP + XPIA detection = insider</a:t>
                      </a:r>
                      <a:br/>
                      <a:r>
                        <a:t>threat control framework</a:t>
                      </a:r>
                    </a:p>
                  </a:txBody>
                  <a:tcPr anchor="ctr" marL="73152" marR="73152" marT="27432" marB="27432">
                    <a:solidFill>
                      <a:srgbClr val="0D2244"/>
                    </a:solidFill>
                  </a:tcPr>
                </a:tc>
                <a:tc>
                  <a:txBody>
                    <a:bodyPr/>
                    <a:lstStyle/>
                    <a:p>
                      <a:pPr>
                        <a:defRPr sz="1000">
                          <a:solidFill>
                            <a:srgbClr val="FFFFFF"/>
                          </a:solidFill>
                          <a:latin typeface="Segoe UI"/>
                        </a:defRPr>
                      </a:pPr>
                      <a:r>
                        <a:t>IRM cases +</a:t>
                      </a:r>
                      <a:br/>
                      <a:r>
                        <a:t>DLP alerts</a:t>
                      </a:r>
                    </a:p>
                  </a:txBody>
                  <a:tcPr anchor="ctr" marL="73152" marR="73152" marT="27432" marB="27432">
                    <a:solidFill>
                      <a:srgbClr val="0D2244"/>
                    </a:solidFill>
                  </a:tcPr>
                </a:tc>
              </a:tr>
            </a:tbl>
          </a:graphicData>
        </a:graphic>
      </p:graphicFrame>
      <p:sp>
        <p:nvSpPr>
          <p:cNvPr id="9" name="TextBox 8"/>
          <p:cNvSpPr txBox="1"/>
          <p:nvPr/>
        </p:nvSpPr>
        <p:spPr>
          <a:xfrm>
            <a:off x="274320" y="4846320"/>
            <a:ext cx="10972800" cy="365760"/>
          </a:xfrm>
          <a:prstGeom prst="rect">
            <a:avLst/>
          </a:prstGeom>
          <a:noFill/>
        </p:spPr>
        <p:txBody>
          <a:bodyPr wrap="square">
            <a:spAutoFit/>
          </a:bodyPr>
          <a:lstStyle/>
          <a:p>
            <a:pPr algn="l">
              <a:defRPr sz="1400" b="1">
                <a:solidFill>
                  <a:srgbClr val="FFFFFF"/>
                </a:solidFill>
                <a:latin typeface="Segoe UI"/>
              </a:defRPr>
            </a:pPr>
            <a:r>
              <a:t>Glossary</a:t>
            </a:r>
          </a:p>
        </p:txBody>
      </p:sp>
      <p:sp>
        <p:nvSpPr>
          <p:cNvPr id="10" name="TextBox 9"/>
          <p:cNvSpPr txBox="1"/>
          <p:nvPr/>
        </p:nvSpPr>
        <p:spPr>
          <a:xfrm>
            <a:off x="365760" y="521208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XPIA: </a:t>
            </a:r>
            <a:r>
              <a:rPr sz="900">
                <a:solidFill>
                  <a:srgbClr val="E8EBEF"/>
                </a:solidFill>
                <a:latin typeface="Segoe UI"/>
              </a:rPr>
              <a:t>Cross/Indirect Prompt Injection Attack — malicious instructions embedded in content processed by AI agents</a:t>
            </a:r>
          </a:p>
        </p:txBody>
      </p:sp>
      <p:sp>
        <p:nvSpPr>
          <p:cNvPr id="11" name="TextBox 10"/>
          <p:cNvSpPr txBox="1"/>
          <p:nvPr/>
        </p:nvSpPr>
        <p:spPr>
          <a:xfrm>
            <a:off x="6309360" y="521208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Agent: </a:t>
            </a:r>
            <a:r>
              <a:rPr sz="900">
                <a:solidFill>
                  <a:srgbClr val="E8EBEF"/>
                </a:solidFill>
                <a:latin typeface="Segoe UI"/>
              </a:rPr>
              <a:t>Autonomous AI system that takes actions on behalf of a user (e.g., customer HR agent)</a:t>
            </a:r>
          </a:p>
        </p:txBody>
      </p:sp>
      <p:sp>
        <p:nvSpPr>
          <p:cNvPr id="12" name="TextBox 11"/>
          <p:cNvSpPr txBox="1"/>
          <p:nvPr/>
        </p:nvSpPr>
        <p:spPr>
          <a:xfrm>
            <a:off x="365760" y="557784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LLM: </a:t>
            </a:r>
            <a:r>
              <a:rPr sz="900">
                <a:solidFill>
                  <a:srgbClr val="E8EBEF"/>
                </a:solidFill>
                <a:latin typeface="Segoe UI"/>
              </a:rPr>
              <a:t>Large Language Model underlying the agent (e.g., GPT, Claude)</a:t>
            </a:r>
          </a:p>
        </p:txBody>
      </p:sp>
      <p:sp>
        <p:nvSpPr>
          <p:cNvPr id="13" name="TextBox 12"/>
          <p:cNvSpPr txBox="1"/>
          <p:nvPr/>
        </p:nvSpPr>
        <p:spPr>
          <a:xfrm>
            <a:off x="6309360" y="557784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Prompt Shields: </a:t>
            </a:r>
            <a:r>
              <a:rPr sz="900">
                <a:solidFill>
                  <a:srgbClr val="E8EBEF"/>
                </a:solidFill>
                <a:latin typeface="Segoe UI"/>
              </a:rPr>
              <a:t>Microsoft's real-time AI classifier that scans inputs/outputs for injection patterns</a:t>
            </a:r>
          </a:p>
        </p:txBody>
      </p:sp>
      <p:sp>
        <p:nvSpPr>
          <p:cNvPr id="14" name="TextBox 13"/>
          <p:cNvSpPr txBox="1"/>
          <p:nvPr/>
        </p:nvSpPr>
        <p:spPr>
          <a:xfrm>
            <a:off x="365760" y="594360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Spotlighting: </a:t>
            </a:r>
            <a:r>
              <a:rPr sz="900">
                <a:solidFill>
                  <a:srgbClr val="E8EBEF"/>
                </a:solidFill>
                <a:latin typeface="Segoe UI"/>
              </a:rPr>
              <a:t>Content isolation technique (delimiting, datamarking, encoding) to separate data from instructions</a:t>
            </a:r>
          </a:p>
        </p:txBody>
      </p:sp>
      <p:sp>
        <p:nvSpPr>
          <p:cNvPr id="15" name="TextBox 14"/>
          <p:cNvSpPr txBox="1"/>
          <p:nvPr/>
        </p:nvSpPr>
        <p:spPr>
          <a:xfrm>
            <a:off x="6309360" y="5943600"/>
            <a:ext cx="5669280" cy="365760"/>
          </a:xfrm>
          <a:prstGeom prst="rect">
            <a:avLst/>
          </a:prstGeom>
          <a:noFill/>
        </p:spPr>
        <p:txBody>
          <a:bodyPr wrap="square">
            <a:spAutoFit/>
          </a:bodyPr>
          <a:lstStyle/>
          <a:p>
            <a:pPr algn="l">
              <a:defRPr sz="1000" b="0">
                <a:solidFill>
                  <a:srgbClr val="E8EBEF"/>
                </a:solidFill>
                <a:latin typeface="Segoe UI"/>
              </a:defRPr>
            </a:pPr>
            <a:r>
              <a:rPr b="1" sz="1000">
                <a:solidFill>
                  <a:srgbClr val="0078D4"/>
                </a:solidFill>
                <a:latin typeface="Segoe UI"/>
              </a:rPr>
              <a:t>DSPM: </a:t>
            </a:r>
            <a:r>
              <a:rPr sz="900">
                <a:solidFill>
                  <a:srgbClr val="E8EBEF"/>
                </a:solidFill>
                <a:latin typeface="Segoe UI"/>
              </a:rPr>
              <a:t>Data Security Posture Management — governance and audit layer for AI interactions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